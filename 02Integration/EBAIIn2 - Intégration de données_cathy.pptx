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EBAIIn2 - Intégration de données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Cathy Philippe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 package gliomaData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Téléchargez le package gliomaData : http://biodev.cea.fr/sgcca</a:t>
            </a:r>
          </a:p>
          <a:p>
            <a:pPr lvl="0"/>
            <a:r>
              <a:rPr/>
              <a:t>Installer le package avec la commande :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$ R CMD INSTALL gliomaData_0.4.tar.gz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(gliomaData)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data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"ge_cgh_locIGR"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ge &lt;- ge_cgh_locIGR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multiblocks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GE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(ge)</a:t>
            </a:r>
          </a:p>
          <a:p>
            <a:pPr lvl="0" indent="0">
              <a:buNone/>
            </a:pPr>
            <a:r>
              <a:rPr>
                <a:latin typeface="Courier"/>
              </a:rPr>
              <a:t>[1]    53 15702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cgh &lt;- ge_cgh_locIGR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multiblocks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CGH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(cgh)</a:t>
            </a:r>
          </a:p>
          <a:p>
            <a:pPr lvl="0" indent="0">
              <a:buNone/>
            </a:pPr>
            <a:r>
              <a:rPr>
                <a:latin typeface="Courier"/>
              </a:rPr>
              <a:t>[1]   53 1229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Analyse en composantes principales de l’expression des gènes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La fonction prcomp de R-base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res.pca &lt;- </a:t>
            </a:r>
            <a:r>
              <a:rPr>
                <a:solidFill>
                  <a:srgbClr val="4758AB"/>
                </a:solidFill>
                <a:latin typeface="Courier"/>
              </a:rPr>
              <a:t>prcomp</a:t>
            </a:r>
            <a:r>
              <a:rPr>
                <a:solidFill>
                  <a:srgbClr val="003B4F"/>
                </a:solidFill>
                <a:latin typeface="Courier"/>
              </a:rPr>
              <a:t>(ge, </a:t>
            </a:r>
            <a:r>
              <a:rPr>
                <a:solidFill>
                  <a:srgbClr val="657422"/>
                </a:solidFill>
                <a:latin typeface="Courier"/>
              </a:rPr>
              <a:t>scale.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(res.pca)</a:t>
            </a:r>
          </a:p>
          <a:p>
            <a:pPr lvl="0" indent="0">
              <a:buNone/>
            </a:pPr>
            <a:r>
              <a:rPr>
                <a:latin typeface="Courier"/>
              </a:rPr>
              <a:t>[1] "sdev"     "rotation" "center"   "scale"    "x"       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sdev</a:t>
            </a:r>
          </a:p>
          <a:p>
            <a:pPr lvl="0" indent="0" marL="0">
              <a:buNone/>
            </a:pPr>
            <a:r>
              <a:rPr/>
              <a:t>les écarts types des composantes principales, c’est-à-dire les racines carrées des valeurs propres de la matrice de covariance/corrélation.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(res.pca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sdev)</a:t>
            </a:r>
          </a:p>
          <a:p>
            <a:pPr lvl="0" indent="0">
              <a:buNone/>
            </a:pPr>
            <a:r>
              <a:rPr>
                <a:latin typeface="Courier"/>
              </a:rPr>
              <a:t>[1] 38.07740 34.19387 29.27081 25.38139 22.64111 20.25702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rotation</a:t>
            </a:r>
          </a:p>
          <a:p>
            <a:pPr lvl="0" indent="0" marL="0">
              <a:buNone/>
            </a:pPr>
            <a:r>
              <a:rPr/>
              <a:t>La matrice des charges factorielles des variables (càd une matrice dont les colonnes contiennent les vecteurs propres).</a:t>
            </a:r>
          </a:p>
          <a:p>
            <a:pPr lvl="0" indent="0" marL="0">
              <a:buNone/>
            </a:pPr>
            <a:r>
              <a:rPr/>
              <a:t>Ce sont les corrélations entre les variables observées (originales) et les facteurs (ou composantes).</a:t>
            </a:r>
          </a:p>
          <a:p>
            <a:pPr lvl="0" indent="0" marL="0">
              <a:buNone/>
            </a:pPr>
            <a:r>
              <a:rPr/>
              <a:t>Elles indiquent à quel point chaque variable contribue à un facteur : + la charge est élevée, + la variable est fortement liée au facteur.</a:t>
            </a:r>
          </a:p>
          <a:p>
            <a:pPr lvl="0" indent="0" marL="0">
              <a:buNone/>
            </a:pPr>
            <a:r>
              <a:rPr/>
              <a:t>👉 En ACP, les charges sont les cosinus des angles entre les axes des variables et les composantes principales.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(res.pca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rotation)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            PC1          PC2           PC3          PC4           PC5
A_23_P212522 -0.012160235 -0.008619893  0.0006241499 -0.001370345  4.274409e-06
A_32_P30710  -0.001251253 -0.006089447  0.0069213794  0.001848697 -3.436176e-03
A_24_P470079 -0.003264395 -0.006669359  0.0034501429 -0.006671767  5.497904e-03
A_23_P65830   0.001820495  0.001325832  0.0030719736 -0.005142514 -5.222527e-03
A_23_P109143  0.007048612  0.004781884 -0.0124316938 -0.009063453  2.483269e-04
A_24_P932757 -0.008031082 -0.020481210  0.0166106863  0.015029387 -8.105594e-04
                       PC6           PC7           PC8           PC9
A_23_P212522  0.0062326792 -0.0124865873 -0.0047288695  0.0095672680
A_32_P30710   0.0002583856  0.0024541105  0.0040859856  0.0025144874
A_24_P470079 -0.0056457905 -0.0005013293 -0.0006713196 -0.0027364209
A_23_P65830   0.0052238460 -0.0001936418  0.0063465939  0.0033847126
A_23_P109143 -0.0026015325  0.0004716679  0.0098824774  0.0007116678
A_24_P932757  0.0012129700  0.0093703157  0.0009764959 -0.0139072445
                      PC10          PC11          PC12         PC13
A_23_P212522  0.0092248511 -7.227398e-03 -0.0076257868 -0.004928804
A_32_P30710   0.0015006735  3.801763e-05  0.0041776060  0.006721266
A_24_P470079 -0.0046916463  9.846797e-04  0.0042078910 -0.001060836
A_23_P65830   0.0007306805 -1.644394e-03  0.0040475089  0.010492337
A_23_P109143 -0.0046878753 -6.191989e-03 -0.0099253796 -0.005511380
A_24_P932757 -0.0055409392  8.232353e-03  0.0005684415 -0.008570986
                      PC14         PC15         PC16          PC17         PC18
A_23_P212522  6.074065e-05 -0.003633174  0.005656698 -0.0019401376 -0.007278156
A_32_P30710   5.524108e-03 -0.001925426 -0.004873837 -0.0036735476 -0.001075127
A_24_P470079  6.500123e-03 -0.006489514  0.001608821 -0.0012715317 -0.001213528
A_23_P65830   2.475401e-03  0.007222413  0.003177603  0.0029909292 -0.004216719
A_23_P109143  3.150060e-03  0.005149093  0.016033021  0.0005267546 -0.003647794
A_24_P932757 -2.413900e-03  0.002502899 -0.013138631  0.0203233202  0.010905709
                      PC19          PC20         PC21          PC22
A_23_P212522 -0.0045833164 -0.0014366905  0.017231508  0.0008784338
A_32_P30710   0.0011367413 -0.0010056198  0.001175475  0.0019252383
A_24_P470079 -0.0006625924 -0.0045984407  0.005399371  0.0097075866
A_23_P65830  -0.0057515142 -0.0003733501 -0.006791557 -0.0094411989
A_23_P109143  0.0007413642  0.0065476115  0.020359863  0.0053279842
A_24_P932757 -0.0072075522 -0.0065484758  0.002046330  0.0087763227
                      PC23         PC24          PC25         PC26
A_23_P212522  0.0002233584 -0.002954164 -0.0165509886  0.005628975
A_32_P30710  -0.0060443880 -0.001363731 -0.0002338502 -0.004448363
A_24_P470079  0.0131166235 -0.002671880  0.0023796321  0.006136490
A_23_P65830  -0.0036927804  0.001706706  0.0010605460 -0.008749593
A_23_P109143 -0.0006694981  0.002876245 -0.0051130551  0.010594493
A_24_P932757 -0.0056878516  0.006325286 -0.0037464652 -0.020666228
                      PC27          PC28        PC29         PC30          PC31
A_23_P212522  0.0212510407  0.0076836869 0.015119542  0.011492472 -6.324250e-03
A_32_P30710  -0.0074030267 -0.0010771305 0.004437106  0.010162378  5.334358e-03
A_24_P470079  0.0009442087 -0.0037145458 0.003427810  0.005232319 -3.866169e-05
A_23_P65830   0.0053244519  0.0006344789 0.005683271 -0.004758470 -3.887711e-03
A_23_P109143 -0.0046033587  0.0039333062 0.008585503 -0.001417893 -4.310245e-03
A_24_P932757 -0.0020351662  0.0088939472 0.001949920  0.001920204 -1.080052e-02
                      PC32          PC33          PC34          PC35
A_23_P212522  0.0058328382  0.0031121441  0.0129924879 -0.0013563548
A_32_P30710   0.0007809129  0.0036828356  0.0009351453  0.0009611616
A_24_P470079 -0.0057043913 -0.0058390860  0.0011190243 -0.0030706464
A_23_P65830  -0.0015398815  0.0041972044 -0.0042954940  0.0089903270
A_23_P109143  0.0028549763 -0.0007763133  0.0019131793  0.0064971403
A_24_P932757 -0.0094010486 -0.0084960685 -0.0067222155  0.0061108467
                      PC36          PC37          PC38          PC39
A_23_P212522  1.453751e-03  0.0105460406  0.0075313027  0.0053302408
A_32_P30710   2.639560e-04  0.0023144820 -0.0004592683  0.0010933670
A_24_P470079  9.676685e-05 -0.0059112753 -0.0040123675 -0.0024613270
A_23_P65830   5.725371e-03  0.0006157831 -0.0016715551  0.0059478721
A_23_P109143 -6.869689e-03 -0.0042107365  0.0106555131  0.0007562475
A_24_P932757  9.653765e-04 -0.0033720351  0.0099076081 -0.0116890203
                     PC40         PC41          PC42          PC43         PC44
A_23_P212522 -0.003020623  0.018476461  0.0004840937 -1.927180e-02  0.011292465
A_32_P30710  -0.004217168 -0.003551412  0.0055600602  9.219686e-05  0.003268225
A_24_P470079  0.004007319  0.004259994  0.0072080609  8.697258e-05 -0.002040912
A_23_P65830  -0.003546135 -0.007680559 -0.0041935224 -4.998289e-03  0.010116531
A_23_P109143  0.008800181  0.009397512 -0.0032528736 -3.665148e-03 -0.013627013
A_24_P932757  0.004376051 -0.008322184  0.0008622626  2.567201e-04 -0.005686081
                     PC45         PC46          PC47          PC48         PC49
A_23_P212522  0.003466617 -0.014183817 -5.643661e-03  0.0061560564 -0.002718383
A_32_P30710  -0.001153464  0.001717203  3.259414e-05  0.0009362043 -0.001108446
A_24_P470079  0.002129949  0.005423050  1.344340e-03  0.0081664310 -0.003535510
A_23_P65830  -0.001393176 -0.002209355 -1.009010e-03 -0.0070191723  0.002175512
A_23_P109143 -0.009230832  0.006104638  1.505804e-03 -0.0068358600  0.001609542
A_24_P932757 -0.012303917  0.003244714  4.516782e-03  0.0061116576  0.003827452
                      PC50          PC51         PC52        PC53
A_23_P212522 -1.104294e-02  0.0046869691  0.006038838 -0.20856519
A_32_P30710  -4.254538e-03 -0.0009565384  0.004779032 -0.07923912
A_24_P470079 -8.921722e-03 -0.0078811299  0.020305491  0.04504946
A_23_P65830   3.644917e-04 -0.0008742626  0.011503284  0.02948064
A_23_P109143 -3.912886e-03 -0.0052956556  0.003851484  0.02157673
A_24_P932757 -2.626192e-05  0.0021263247 -0.004547231  0.03569620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center</a:t>
            </a:r>
          </a:p>
          <a:p>
            <a:pPr lvl="0" indent="0" marL="0">
              <a:buNone/>
            </a:pPr>
            <a:r>
              <a:rPr/>
              <a:t>La moyenne de chaque variable.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(res.pca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center)</a:t>
            </a:r>
          </a:p>
          <a:p>
            <a:pPr lvl="0" indent="0">
              <a:buNone/>
            </a:pPr>
            <a:r>
              <a:rPr>
                <a:latin typeface="Courier"/>
              </a:rPr>
              <a:t>A_23_P212522  A_32_P30710 A_24_P470079  A_23_P65830 A_23_P109143 A_24_P932757 
  0.09414062   0.79474540   0.59566762  -0.72609461  -1.91230509   3.77429305 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scale</a:t>
            </a:r>
          </a:p>
          <a:p>
            <a:pPr lvl="0" indent="0" marL="0">
              <a:buNone/>
            </a:pPr>
            <a:r>
              <a:rPr/>
              <a:t>La variance de chaque variable.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(res.pca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scale)</a:t>
            </a:r>
          </a:p>
          <a:p>
            <a:pPr lvl="0" indent="0">
              <a:buNone/>
            </a:pPr>
            <a:r>
              <a:rPr>
                <a:latin typeface="Courier"/>
              </a:rPr>
              <a:t>[1] FALSE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x</a:t>
            </a:r>
          </a:p>
          <a:p>
            <a:pPr lvl="0" indent="0" marL="0">
              <a:buNone/>
            </a:pPr>
            <a:r>
              <a:rPr/>
              <a:t>la valeur des données rotatées : les données centrées (et éventuellement réduites) multipliées par la matrice de rotation.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(res.pca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x,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6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          PC1        PC2       PC3         PC4        PC5        PC6        PC7
P01  27.76234 -75.070096 15.601716 -12.4802994  22.301523  -1.480638   4.360086
P02 -22.36057   6.518867  1.658008 -57.2290494 -25.058922  -2.311333 -30.523645
P03  39.78780 -32.046108 38.421071  -3.5281183  -2.520405  26.536103  34.703937
P04  21.29036 -10.918556 28.352914  21.8013057  21.103978  -5.880404   2.790414
P05  44.30987   5.258756 21.833719   0.1615616 -16.731945 -32.149962  20.900340
P06 -69.26055 -33.939985 -8.995758   3.9299622   4.927449 -10.102584  21.852158
           PC8       PC9       PC10       PC11       PC12      PC13        PC14
P01  -9.393903  43.26881 -21.229600  24.539518  -6.058532 40.997726  -5.0441778
P02  20.885015 -11.36456  -1.464040   4.147095  25.665250 23.734556  20.4962863
P03 -17.263955  18.16281  -9.358950 -19.469750  -7.791948  9.424723  15.0310480
P04   2.541886 -14.81270  -8.602144  -9.911321   9.447600 10.005271 -15.8846834
P05 -11.917910   1.92338  11.807211   8.613584   7.372093  7.910270  -0.5294018
P06 -12.894390 -29.84692   6.242375 -38.724105 -12.041610 19.070056  -8.6740996
          PC15       PC16        PC17      PC18       PC19       PC20      PC21
P01 -13.311647  22.854812   0.1799697 -7.799883  43.106537   8.110722 12.126390
P02 -27.481912 -34.623144   3.0496452 -6.245401  13.535513   9.835904  6.957339
P03  -4.265227  -2.754922 -18.3871300  3.190408 -15.493955  11.706624  1.680948
P04  12.468903  12.200034  17.6648025  8.837212 -11.473638   7.411799  2.967409
P05  22.111793  -6.753704  21.5584838 -2.204116   5.115605  -4.872056  7.771854
P06 -19.419036  11.449003  -4.7705877  9.681152  -1.689946 -18.763624 12.067066
          PC22       PC23        PC24      PC25       PC26        PC27
P01 -1.5387291  -3.255867  -5.4444411 -5.306344 -13.796396  10.2762876
P02 13.7427745  -3.748738  20.5467565 31.268651   4.924451  -5.5299822
P03  1.9349223  -3.079357  -0.7758917  5.487228   1.199811  -2.2044691
P04  5.3881845   1.752169  19.5158353 10.293805 -18.585028  -0.1664762
P05  0.8590946 -16.845426  -6.9018116 -3.292704   5.270542  -9.9676171
P06  8.2058189   9.983173 -11.6722230  2.291299  -1.447672 -24.2789928
         PC28       PC29      PC30       PC31       PC32        PC33       PC34
P01  4.005557  2.8834101 -6.638846 -14.528647   4.858872   8.0194051   3.514910
P02  1.909716 13.8392978 -8.219374  11.379509 -10.506279  -2.3656773  -4.480085
P03 -1.892099 -0.8445373 -4.585050  -3.734951 -17.238213 -21.1378689 -17.531500
P04 -8.471938 -9.2359808 12.904157   8.483118   2.142332   0.8079683  -6.170960
P05  6.497752 -4.5851394  2.854874  10.111009 -31.560959   7.0601563  13.518110
P06 -3.114334 -3.7787241 -9.203673  -3.884755 -13.577679   7.6139406  -3.381075
         PC35      PC36       PC37        PC38       PC39       PC40      PC41
P01  4.606103  2.749241  -1.808904  -8.2367026  -1.365029  -3.131921  3.426429
P02 -5.790089  1.996422  -6.828115  -2.6337209   4.860227   2.370969  4.119938
P03  8.486880  5.428095  -2.101855  -0.2013222 -12.896057  11.183075 -7.905435
P04 -6.077890 -2.386825 -12.219482 -17.3376721   4.279584  -4.944795  1.200745
P05 11.056372 -8.482257  20.008737  -6.6111223  19.201813  -5.851110 -8.523235
P06  7.894851  6.514108 -12.469003   1.1870361  -1.083316 -10.148898  3.424718
          PC42        PC43      PC44        PC45       PC46      PC47
P01  0.6691749   2.7448517 0.6811543   2.0092146  0.5870819 -3.825970
P02 -1.9557573   2.6665162 0.2875328   0.3900017 -3.0145664 -3.452078
P03  2.0574795 -10.2732018 8.9065618 -20.9182471 -1.4402933  8.448059
P04 -5.0988875  -0.3989822 9.6313790   9.4482785 -1.6786660 23.495696
P05 11.7876229   2.2378014 0.4095551  -3.2022887 -7.7828315  3.567869
P06  5.1914466  -7.6001479 4.1846581  13.0622065 -1.1023578 -7.216748
          PC48       PC49      PC50       PC51        PC52         PC53
P01 -0.7682908  -1.909207  1.954887 -0.9495765  0.08317379 1.346145e-15
P02  0.6734218  -1.253205  3.935379  0.5325188  0.25955112 6.668277e-15
P03  7.7016026  -1.273770  2.825672 -3.0325058 -1.25845002 1.366615e-14
P04 -8.5499261 -16.764786  2.330621  5.5170481 -0.18342289 1.010650e-14
P05  2.7341952   2.450407  1.231974 -1.3066736 -0.35072978 7.202572e-15
P06 -5.4888134  12.471891 -2.429406  5.4217874 -0.73823034 4.468648e-15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Visualisation de l’ACP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(factoextra)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loc &lt;- </a:t>
            </a:r>
            <a:r>
              <a:rPr>
                <a:solidFill>
                  <a:srgbClr val="4758AB"/>
                </a:solidFill>
                <a:latin typeface="Courier"/>
              </a:rPr>
              <a:t>factor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"cort"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"dipg"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"midl"</a:t>
            </a:r>
            <a:r>
              <a:rPr>
                <a:solidFill>
                  <a:srgbClr val="003B4F"/>
                </a:solidFill>
                <a:latin typeface="Courier"/>
              </a:rPr>
              <a:t>)[ge_cgh_locIGR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ylabel])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 screeplot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fviz_screeplot</a:t>
            </a:r>
            <a:r>
              <a:rPr>
                <a:solidFill>
                  <a:srgbClr val="003B4F"/>
                </a:solidFill>
                <a:latin typeface="Courier"/>
              </a:rPr>
              <a:t>(res.pca)</a:t>
            </a:r>
          </a:p>
        </p:txBody>
      </p:sp>
      <p:pic>
        <p:nvPicPr>
          <p:cNvPr descr="EBAIIn2---Intégration-de-données_files/figure-pptx/unnamed-chunk-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Les observations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fviz_pca_ind</a:t>
            </a:r>
            <a:r>
              <a:rPr>
                <a:solidFill>
                  <a:srgbClr val="003B4F"/>
                </a:solidFill>
                <a:latin typeface="Courier"/>
              </a:rPr>
              <a:t>(res.pca, </a:t>
            </a:r>
            <a:r>
              <a:rPr>
                <a:solidFill>
                  <a:srgbClr val="657422"/>
                </a:solidFill>
                <a:latin typeface="Courier"/>
              </a:rPr>
              <a:t>geom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"point"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col.ind =</a:t>
            </a:r>
            <a:r>
              <a:rPr>
                <a:solidFill>
                  <a:srgbClr val="003B4F"/>
                </a:solidFill>
                <a:latin typeface="Courier"/>
              </a:rPr>
              <a:t> loc, </a:t>
            </a:r>
            <a:r>
              <a:rPr>
                <a:solidFill>
                  <a:srgbClr val="657422"/>
                </a:solidFill>
                <a:latin typeface="Courier"/>
              </a:rPr>
              <a:t>invisible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"quali"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EBAIIn2---Intégration-de-données_files/figure-pptx/unnamed-chunk-10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Le cercle des corrélations (variables)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res.pca.scale &lt;- </a:t>
            </a:r>
            <a:r>
              <a:rPr>
                <a:solidFill>
                  <a:srgbClr val="4758AB"/>
                </a:solidFill>
                <a:latin typeface="Courier"/>
              </a:rPr>
              <a:t>prcomp</a:t>
            </a:r>
            <a:r>
              <a:rPr>
                <a:solidFill>
                  <a:srgbClr val="003B4F"/>
                </a:solidFill>
                <a:latin typeface="Courier"/>
              </a:rPr>
              <a:t>(ge, </a:t>
            </a:r>
            <a:r>
              <a:rPr>
                <a:solidFill>
                  <a:srgbClr val="657422"/>
                </a:solidFill>
                <a:latin typeface="Courier"/>
              </a:rPr>
              <a:t>scale.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fviz_pca_var</a:t>
            </a:r>
            <a:r>
              <a:rPr>
                <a:solidFill>
                  <a:srgbClr val="003B4F"/>
                </a:solidFill>
                <a:latin typeface="Courier"/>
              </a:rPr>
              <a:t>(res.pca.scale, </a:t>
            </a:r>
            <a:r>
              <a:rPr>
                <a:solidFill>
                  <a:srgbClr val="657422"/>
                </a:solidFill>
                <a:latin typeface="Courier"/>
              </a:rPr>
              <a:t>select.var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contrib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repel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  <p:pic>
        <p:nvPicPr>
          <p:cNvPr descr="EBAIIn2---Intégration-de-données_files/figure-pptx/unnamed-chunk-1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Paramètre </a:t>
            </a:r>
            <a:r>
              <a:rPr>
                <a:latin typeface="Courier"/>
              </a:rPr>
              <a:t>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[1] "list"</a:t>
            </a:r>
          </a:p>
          <a:p>
            <a:pPr lvl="0" indent="0">
              <a:buNone/>
            </a:pPr>
            <a:r>
              <a:rPr>
                <a:latin typeface="Courier"/>
              </a:rPr>
              <a:t>[1] "GE"  "CGH" "y"  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Paramètre </a:t>
            </a:r>
            <a:r>
              <a:rPr>
                <a:latin typeface="Courier"/>
              </a:rPr>
              <a:t>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     [,1] [,2] [,3]
[1,]    0    1    1
[2,]    1    0    1
[3,]    1    1    0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Paramètre </a:t>
            </a:r>
            <a:r>
              <a:rPr>
                <a:latin typeface="Courier"/>
              </a:rPr>
              <a:t>response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RGCCA sur gliomaData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Fitted RGCCA model. 
The algorithm converged to a stationnary point:
    - After 6 iterations for component 1.
    - After 15 iterations for component 2.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Graphe des poids block 1</a:t>
            </a:r>
          </a:p>
        </p:txBody>
      </p:sp>
      <p:pic>
        <p:nvPicPr>
          <p:cNvPr descr="EBAIIn2---Intégration-de-données_files/figure-pptx/unnamed-chunk-1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Graphe des poids block 2</a:t>
            </a:r>
          </a:p>
        </p:txBody>
      </p:sp>
      <p:pic>
        <p:nvPicPr>
          <p:cNvPr descr="EBAIIn2---Intégration-de-données_files/figure-pptx/unnamed-chunk-1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Graphe des poids block 3</a:t>
            </a:r>
          </a:p>
        </p:txBody>
      </p:sp>
      <p:pic>
        <p:nvPicPr>
          <p:cNvPr descr="EBAIIn2---Intégration-de-données_files/figure-pptx/unnamed-chunk-18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Graphes des individus</a:t>
            </a:r>
          </a:p>
        </p:txBody>
      </p:sp>
      <p:pic>
        <p:nvPicPr>
          <p:cNvPr descr="EBAIIn2---Intégration-de-données_files/figure-pptx/unnamed-chunk-19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EBAIIn2 - Intégration de données</dc:title>
  <dc:creator>Cathy Philippe</dc:creator>
  <cp:keywords/>
  <dcterms:created xsi:type="dcterms:W3CDTF">2025-06-03T15:52:59Z</dcterms:created>
  <dcterms:modified xsi:type="dcterms:W3CDTF">2025-06-03T15:52:59Z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ditor">
    <vt:lpwstr>visual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heme">
    <vt:lpwstr>simple</vt:lpwstr>
  </property>
  <property fmtid="{D5CDD505-2E9C-101B-9397-08002B2CF9AE}" pid="11" name="toc-title">
    <vt:lpwstr>Table of contents</vt:lpwstr>
  </property>
</Properties>
</file>