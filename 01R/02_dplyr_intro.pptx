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BADC9-280A-D192-23CD-CDD8F2F92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62E64E-0D39-58BF-3483-48C990FB0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6F733B-7B04-E981-1EA0-628D4A4F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BE2E9F-90D0-DCC5-9B03-2275D1EB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AE878E-FF3A-EED2-1EAD-9CB960FA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26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E1E6E8-AECB-BD19-AB8C-0CCAB00E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3D866-F3EB-D49F-B35E-F3B188BF8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757B17-54C4-24BD-D649-2A0CF8997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DDF117-76BE-54CF-A2AE-DF97D937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D60F96-0049-D0A5-D122-9C6EAA7D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11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215A2-076A-E6EE-4925-861325C8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B325AF-AB81-F6A9-A9C5-64F0CC617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9C318D-0910-2766-27EE-1AE63028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D62E7C-8026-86EB-C74B-CB49416A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DCB18E-93FD-AD54-0FEE-6A02C94A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08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16EEF-A46E-A971-07F5-FDD606AA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3BCDE-B677-A7A7-CEA4-44CE01AFD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3C2EDE-9E75-30C1-3815-ED5F31E1E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091FA3-C834-9706-C524-2781F3F4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2165FF-09E0-C83C-9C4D-D48BF83C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C264AD-AC3A-9867-F464-4D304BEC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96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ACF8B4-C797-0817-0A39-9A5800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6A55CE-6024-B797-E6BC-9F55B51F2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1CCB1E-BBF2-9842-407A-D16C5C583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77EB7F-EA61-5716-0FB6-7D2A41E6B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8876D5E-A40B-8A6E-53A3-FC97543CE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94E9DBD-1CC6-9B75-7EAF-B16CCDED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010BEA1-189C-65E3-70D7-AAF4FAB8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EB252B8-89C1-392E-E0B0-6A66073D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80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E248D9-D322-D4B7-058B-107A1F8B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9A9F43-C4CF-0AA8-5E27-6D0B2EF6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D07F251-AFE8-CFBD-7EA4-94924F28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320FBA-FEE4-A674-7D64-A04DF34E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77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36A47E-C02B-5684-A3BC-BFC471B3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7757379-F863-EC09-C6D8-217DCA79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6927C6-434C-CC52-0C41-DAA96AAE6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78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3608C-5D04-8781-DF8C-8A9BB383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6036A6-8504-B01C-78AB-6565945AA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BB655C-EEAC-9D7A-CA86-4B25A06DC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B75747-C948-6B67-F1DB-8206BA3B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BEDE7D-EFC4-896D-F196-50E338D7A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8BB42E-4AE4-17C0-9D0E-1B5E68AD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43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942FCF-B794-8760-8070-28352AA8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8E8433-B161-9E77-0B74-E12FDE114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2FC89F-1B15-E897-20CE-80CFBE1E3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F2D3F4-2A80-35F9-7285-BB012FD5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45E820-EAF5-0325-075C-31313D23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68035B-E69D-AA09-CE34-1403C289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8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ACE15C-8047-AAA6-E3EF-0B7E057E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8AC6BB-BD06-53D9-E653-A0239A474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764D4D-C03B-045E-3965-97047554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0C5DDD-8083-7D11-E6B9-DFFB284F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DB699-5307-AD51-2889-522B991A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093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501255-DF09-2BEC-A488-7D2ED18E3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DA6B26-251D-2A6E-46A3-7C36842CB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21B8B8-85ED-C867-B534-1107160E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9673F3-372A-FB6C-C3DF-950799F9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954685-7541-8791-C75E-4F013460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38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2194580-112F-86D5-E2F3-F1B7D236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B0CA55-F75F-AC40-26A9-3088235FB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02BE49-E8C4-522C-ABCB-F8284BF8C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C3139-8B8E-A041-A6E2-4AFC575B6FE3}" type="datetimeFigureOut">
              <a:rPr lang="fr-FR" smtClean="0"/>
              <a:t>01/06/2025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CD25B1-4E16-968F-AB75-ADEEF00B0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E83A8-6EBF-6AC8-1EB6-2FB765120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62B1A-C925-734A-9558-6B61646ECF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93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9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CBE871-9DF5-E412-4E25-C71104B98C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Introduction to </a:t>
            </a:r>
            <a:r>
              <a:rPr lang="fr-FR" dirty="0" err="1"/>
              <a:t>dplyr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F526048-DC4F-9ADA-3B13-1ADDF558F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Vincent Guillemot</a:t>
            </a:r>
          </a:p>
        </p:txBody>
      </p:sp>
    </p:spTree>
    <p:extLst>
      <p:ext uri="{BB962C8B-B14F-4D97-AF65-F5344CB8AC3E}">
        <p14:creationId xmlns:p14="http://schemas.microsoft.com/office/powerpoint/2010/main" val="367961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84827B-1382-D6E6-049A-B3CB6867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Cheatsheet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8F212A-735C-718E-AB54-379C70CE1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data-</a:t>
            </a:r>
            <a:r>
              <a:rPr lang="fr-FR" dirty="0" err="1"/>
              <a:t>transformation.pdf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8AADC8B-1350-C36A-3C4C-4C30F8DFD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494" y="768350"/>
            <a:ext cx="12192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1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71D00D1D-1B8F-6B7A-04D7-893AB03B5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56" y="4654"/>
            <a:ext cx="8922488" cy="685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2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C05ABC8-82F4-D1CA-9D47-C3548C155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970" y="480"/>
            <a:ext cx="8848060" cy="68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46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46BFF-361E-C075-0B82-21199DA1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: </a:t>
            </a:r>
            <a:r>
              <a:rPr lang="fr-FR" dirty="0" err="1"/>
              <a:t>read</a:t>
            </a:r>
            <a:r>
              <a:rPr lang="fr-FR" dirty="0"/>
              <a:t> the covid data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3D1686-7FB0-D7AF-3E48-DF699201C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an R script named “data-</a:t>
            </a:r>
            <a:r>
              <a:rPr lang="en-US" noProof="0" dirty="0" err="1"/>
              <a:t>manipulation.R</a:t>
            </a:r>
            <a:r>
              <a:rPr lang="en-US" noProof="0" dirty="0"/>
              <a:t>” in your project</a:t>
            </a:r>
          </a:p>
          <a:p>
            <a:r>
              <a:rPr lang="en-US" noProof="0" dirty="0"/>
              <a:t>Load the </a:t>
            </a:r>
            <a:r>
              <a:rPr lang="en-US" dirty="0"/>
              <a:t>following libraries:</a:t>
            </a:r>
          </a:p>
          <a:p>
            <a:pPr lvl="1"/>
            <a:r>
              <a:rPr lang="en-US" dirty="0" err="1"/>
              <a:t>dp</a:t>
            </a:r>
            <a:r>
              <a:rPr lang="en-US" noProof="0" dirty="0" err="1"/>
              <a:t>lyr</a:t>
            </a:r>
            <a:r>
              <a:rPr lang="en-US" noProof="0" dirty="0"/>
              <a:t> (manipulate data)</a:t>
            </a:r>
          </a:p>
          <a:p>
            <a:pPr lvl="1"/>
            <a:r>
              <a:rPr lang="en-US" dirty="0" err="1"/>
              <a:t>readr</a:t>
            </a:r>
            <a:r>
              <a:rPr lang="en-US" dirty="0"/>
              <a:t> (import data)</a:t>
            </a:r>
          </a:p>
          <a:p>
            <a:r>
              <a:rPr lang="en-US" noProof="0" dirty="0"/>
              <a:t>Read the data with function </a:t>
            </a:r>
            <a:r>
              <a:rPr lang="en-US" noProof="0" dirty="0" err="1"/>
              <a:t>read_csv</a:t>
            </a:r>
            <a:r>
              <a:rPr lang="en-US" dirty="0"/>
              <a:t>, assign the result to an object called “covid”</a:t>
            </a:r>
          </a:p>
          <a:p>
            <a:r>
              <a:rPr lang="en-US" noProof="0" dirty="0"/>
              <a:t>What is the class of this “covid” object?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288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22C9D4-9B4E-A34B-70D5-BF9AE78C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 err="1"/>
              <a:t>What</a:t>
            </a:r>
            <a:r>
              <a:rPr lang="fr-FR" sz="3600" dirty="0"/>
              <a:t> </a:t>
            </a:r>
            <a:r>
              <a:rPr lang="fr-FR" sz="3600" dirty="0" err="1"/>
              <a:t>is</a:t>
            </a:r>
            <a:r>
              <a:rPr lang="fr-FR" sz="3600" dirty="0"/>
              <a:t> a </a:t>
            </a:r>
            <a:r>
              <a:rPr lang="fr-FR" sz="3600" dirty="0" err="1"/>
              <a:t>tibble</a:t>
            </a:r>
            <a:r>
              <a:rPr lang="fr-FR" sz="3600" dirty="0"/>
              <a:t>?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5E4E801C-5DC7-0B5B-FC46-90B7B3D0F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8906" y="987425"/>
            <a:ext cx="5000763" cy="4873625"/>
          </a:xfrm>
          <a:prstGeom prst="rect">
            <a:avLst/>
          </a:pr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41937E3-12D5-6F30-BC4F-9EB68E4CD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i="1" dirty="0"/>
              <a:t>“</a:t>
            </a:r>
            <a:r>
              <a:rPr lang="en-US" sz="1800" i="1" noProof="0" dirty="0"/>
              <a:t>stricter checking and better formatting than the traditional data frame.”</a:t>
            </a:r>
          </a:p>
          <a:p>
            <a:r>
              <a:rPr lang="en-US" sz="1800" dirty="0"/>
              <a:t>In practice: no very very big difference with our usual </a:t>
            </a:r>
            <a:r>
              <a:rPr lang="en-US" sz="1800" dirty="0" err="1"/>
              <a:t>dataframes</a:t>
            </a:r>
            <a:r>
              <a:rPr lang="en-US" sz="1800" dirty="0"/>
              <a:t>…</a:t>
            </a:r>
          </a:p>
          <a:p>
            <a:r>
              <a:rPr lang="en-US" sz="1800" b="1" dirty="0"/>
              <a:t>BUT… </a:t>
            </a:r>
            <a:r>
              <a:rPr lang="en-US" sz="1800" b="1" u="sng" dirty="0"/>
              <a:t>no row names</a:t>
            </a:r>
            <a:r>
              <a:rPr lang="en-US" sz="1800" b="1" dirty="0"/>
              <a:t>!</a:t>
            </a:r>
          </a:p>
          <a:p>
            <a:r>
              <a:rPr lang="en-US" sz="1800" dirty="0"/>
              <a:t>Going back and forth: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base::</a:t>
            </a:r>
            <a:r>
              <a:rPr lang="en-US" sz="1800" dirty="0" err="1"/>
              <a:t>as.data.frame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tibble</a:t>
            </a:r>
            <a:r>
              <a:rPr lang="en-US" sz="1800" dirty="0"/>
              <a:t>::</a:t>
            </a:r>
            <a:r>
              <a:rPr lang="en-US" sz="1800" dirty="0" err="1"/>
              <a:t>as_tibble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3732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8CEF4-7C1C-3F0A-C63D-71DB7833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These</a:t>
            </a:r>
            <a:r>
              <a:rPr lang="fr-FR" dirty="0"/>
              <a:t> are pipes!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41F216-8FEE-584D-CD90-9E5A4A7FB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print(covid, n = 2)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|&gt; : available in base R</a:t>
            </a:r>
          </a:p>
          <a:p>
            <a:pPr marL="0" indent="0">
              <a:buNone/>
            </a:pPr>
            <a:r>
              <a:rPr lang="en-US" noProof="0" dirty="0"/>
              <a:t>	</a:t>
            </a:r>
            <a:r>
              <a:rPr lang="en-US" b="1" noProof="0" dirty="0"/>
              <a:t>covid |&gt; print(n = 2)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%&gt;% : available through a package (</a:t>
            </a:r>
            <a:r>
              <a:rPr lang="en-US" noProof="0" dirty="0" err="1"/>
              <a:t>magrittr</a:t>
            </a:r>
            <a:r>
              <a:rPr lang="en-US" noProof="0" dirty="0"/>
              <a:t>)</a:t>
            </a:r>
          </a:p>
          <a:p>
            <a:pPr marL="0" indent="0">
              <a:buNone/>
            </a:pPr>
            <a:r>
              <a:rPr lang="en-US" noProof="0" dirty="0"/>
              <a:t>	</a:t>
            </a:r>
            <a:r>
              <a:rPr lang="en-US" b="1" noProof="0" dirty="0"/>
              <a:t>covid %&gt;% print(n = 2)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F436C37-E2B6-BBD9-A95A-D76AF2793A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C00000"/>
                </a:solidFill>
              </a:rPr>
              <a:t>ERROR</a:t>
            </a:r>
          </a:p>
          <a:p>
            <a:pPr marL="0" indent="0">
              <a:buNone/>
            </a:pPr>
            <a:r>
              <a:rPr lang="fr-FR" dirty="0" err="1"/>
              <a:t>Error</a:t>
            </a:r>
            <a:r>
              <a:rPr lang="fr-FR" dirty="0"/>
              <a:t> in covid %&gt;% </a:t>
            </a:r>
            <a:r>
              <a:rPr lang="fr-FR" dirty="0" err="1"/>
              <a:t>print</a:t>
            </a:r>
            <a:r>
              <a:rPr lang="fr-FR" dirty="0"/>
              <a:t>() : </a:t>
            </a:r>
            <a:r>
              <a:rPr lang="fr-FR" dirty="0" err="1"/>
              <a:t>could</a:t>
            </a:r>
            <a:r>
              <a:rPr lang="fr-FR" dirty="0"/>
              <a:t> not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"%&gt;% »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chemeClr val="accent6"/>
                </a:solidFill>
              </a:rPr>
              <a:t>SOLUTION</a:t>
            </a:r>
          </a:p>
          <a:p>
            <a:pPr marL="0" indent="0">
              <a:buNone/>
            </a:pPr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dplyr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566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6EEF3-7170-9F66-D803-AF00E68F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Two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useful</a:t>
            </a:r>
            <a:r>
              <a:rPr lang="fr-FR" dirty="0"/>
              <a:t> </a:t>
            </a:r>
            <a:r>
              <a:rPr lang="fr-FR" dirty="0" err="1"/>
              <a:t>dplyr</a:t>
            </a:r>
            <a:r>
              <a:rPr lang="fr-FR" dirty="0"/>
              <a:t> </a:t>
            </a:r>
            <a:r>
              <a:rPr lang="fr-FR" dirty="0" err="1"/>
              <a:t>verbs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F2D531-9579-C7FE-800D-9E6EDA1A5B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How to use a </a:t>
            </a:r>
            <a:r>
              <a:rPr lang="fr-FR" dirty="0" err="1"/>
              <a:t>verb</a:t>
            </a:r>
            <a:r>
              <a:rPr lang="fr-FR" dirty="0"/>
              <a:t>?</a:t>
            </a:r>
          </a:p>
          <a:p>
            <a:pPr marL="0" indent="0">
              <a:buNone/>
            </a:pPr>
            <a:r>
              <a:rPr lang="fr-FR" dirty="0"/>
              <a:t>covid |&gt;</a:t>
            </a:r>
          </a:p>
          <a:p>
            <a:pPr marL="0" indent="0">
              <a:buNone/>
            </a:pPr>
            <a:r>
              <a:rPr lang="fr-FR" dirty="0"/>
              <a:t>   verb1(arg = val) |&gt;</a:t>
            </a:r>
          </a:p>
          <a:p>
            <a:pPr marL="0" indent="0">
              <a:buNone/>
            </a:pPr>
            <a:r>
              <a:rPr lang="fr-FR" dirty="0"/>
              <a:t>   verb2(</a:t>
            </a:r>
            <a:r>
              <a:rPr lang="fr-FR" dirty="0" err="1"/>
              <a:t>other_arg</a:t>
            </a:r>
            <a:r>
              <a:rPr lang="fr-FR" dirty="0"/>
              <a:t> = </a:t>
            </a:r>
            <a:r>
              <a:rPr lang="fr-FR" dirty="0" err="1"/>
              <a:t>other_val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AB492A4-ADF4-5DA4-D4A8-DE22F5490F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Select columns with </a:t>
            </a:r>
            <a:r>
              <a:rPr lang="en-US" b="1" noProof="0" dirty="0"/>
              <a:t>select()</a:t>
            </a:r>
          </a:p>
          <a:p>
            <a:pPr marL="0" indent="0">
              <a:buNone/>
            </a:pPr>
            <a:r>
              <a:rPr lang="en-US" noProof="0" dirty="0"/>
              <a:t>       covid |&gt; select(IL1A) </a:t>
            </a:r>
          </a:p>
          <a:p>
            <a:r>
              <a:rPr lang="en-US" noProof="0" dirty="0"/>
              <a:t>Filter rows with </a:t>
            </a:r>
            <a:r>
              <a:rPr lang="en-US" b="1" noProof="0" dirty="0"/>
              <a:t>filter()</a:t>
            </a:r>
          </a:p>
          <a:p>
            <a:pPr marL="0" indent="0">
              <a:buNone/>
            </a:pPr>
            <a:r>
              <a:rPr lang="en-US" noProof="0" dirty="0"/>
              <a:t>       covid |&gt; filter(status == “HC”)</a:t>
            </a:r>
          </a:p>
          <a:p>
            <a:r>
              <a:rPr lang="en-US" b="1" dirty="0"/>
              <a:t>Both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noProof="0" dirty="0"/>
              <a:t>       covid |&gt; 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noProof="0" dirty="0"/>
              <a:t>filter(status == “HC”) |&gt; 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noProof="0" dirty="0"/>
              <a:t>select(IL1A)</a:t>
            </a:r>
          </a:p>
        </p:txBody>
      </p:sp>
    </p:spTree>
    <p:extLst>
      <p:ext uri="{BB962C8B-B14F-4D97-AF65-F5344CB8AC3E}">
        <p14:creationId xmlns:p14="http://schemas.microsoft.com/office/powerpoint/2010/main" val="29741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Grouping and summarizing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Grouping with </a:t>
            </a:r>
            <a:r>
              <a:rPr dirty="0" err="1">
                <a:latin typeface="Courier"/>
              </a:rPr>
              <a:t>group_by</a:t>
            </a:r>
            <a:endParaRPr dirty="0">
              <a:latin typeface="Courier"/>
            </a:endParaRPr>
          </a:p>
          <a:p>
            <a:pPr indent="0">
              <a:buNone/>
            </a:pPr>
            <a:r>
              <a:rPr b="1" dirty="0">
                <a:solidFill>
                  <a:srgbClr val="003B4F"/>
                </a:solidFill>
                <a:latin typeface="Courier"/>
              </a:rPr>
              <a:t>covid </a:t>
            </a:r>
            <a:r>
              <a:rPr b="1" dirty="0">
                <a:solidFill>
                  <a:srgbClr val="5E5E5E"/>
                </a:solidFill>
                <a:latin typeface="Courier"/>
              </a:rPr>
              <a:t>|&gt;</a:t>
            </a:r>
            <a:br>
              <a:rPr b="1" dirty="0"/>
            </a:br>
            <a:r>
              <a:rPr b="1"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 err="1">
                <a:solidFill>
                  <a:srgbClr val="4758AB"/>
                </a:solidFill>
                <a:latin typeface="Courier"/>
              </a:rPr>
              <a:t>group_by</a:t>
            </a:r>
            <a:r>
              <a:rPr b="1" dirty="0">
                <a:solidFill>
                  <a:srgbClr val="003B4F"/>
                </a:solidFill>
                <a:latin typeface="Courier"/>
              </a:rPr>
              <a:t>(id) </a:t>
            </a:r>
            <a:r>
              <a:rPr b="1" dirty="0">
                <a:solidFill>
                  <a:srgbClr val="5E5E5E"/>
                </a:solidFill>
                <a:latin typeface="Courier"/>
              </a:rPr>
              <a:t>|&gt;</a:t>
            </a:r>
            <a:br>
              <a:rPr b="1" dirty="0"/>
            </a:br>
            <a:r>
              <a:rPr b="1"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>
                <a:solidFill>
                  <a:srgbClr val="4758AB"/>
                </a:solidFill>
                <a:latin typeface="Courier"/>
              </a:rPr>
              <a:t>select</a:t>
            </a:r>
            <a:r>
              <a:rPr b="1" dirty="0">
                <a:solidFill>
                  <a:srgbClr val="003B4F"/>
                </a:solidFill>
                <a:latin typeface="Courier"/>
              </a:rPr>
              <a:t>(</a:t>
            </a:r>
            <a:endParaRPr lang="fr-FR" b="1" dirty="0">
              <a:solidFill>
                <a:srgbClr val="003B4F"/>
              </a:solidFill>
              <a:latin typeface="Courier"/>
            </a:endParaRPr>
          </a:p>
          <a:p>
            <a:pPr indent="0">
              <a:buNone/>
            </a:pPr>
            <a:r>
              <a:rPr lang="fr-FR" b="1" dirty="0">
                <a:solidFill>
                  <a:srgbClr val="003B4F"/>
                </a:solidFill>
                <a:latin typeface="Courier"/>
              </a:rPr>
              <a:t>	</a:t>
            </a:r>
            <a:r>
              <a:rPr b="1" dirty="0">
                <a:solidFill>
                  <a:srgbClr val="003B4F"/>
                </a:solidFill>
                <a:latin typeface="Courier"/>
              </a:rPr>
              <a:t>id, time, </a:t>
            </a:r>
            <a:endParaRPr lang="fr-FR" b="1" dirty="0">
              <a:solidFill>
                <a:srgbClr val="003B4F"/>
              </a:solidFill>
              <a:latin typeface="Courier"/>
            </a:endParaRPr>
          </a:p>
          <a:p>
            <a:pPr indent="0">
              <a:buNone/>
            </a:pPr>
            <a:r>
              <a:rPr lang="fr-FR" b="1" dirty="0">
                <a:solidFill>
                  <a:srgbClr val="003B4F"/>
                </a:solidFill>
                <a:latin typeface="Courier"/>
              </a:rPr>
              <a:t>	</a:t>
            </a:r>
            <a:r>
              <a:rPr b="1" dirty="0">
                <a:solidFill>
                  <a:srgbClr val="003B4F"/>
                </a:solidFill>
                <a:latin typeface="Courier"/>
              </a:rPr>
              <a:t>status, IFNG)</a:t>
            </a:r>
          </a:p>
          <a:p>
            <a:pPr indent="0">
              <a:buNone/>
            </a:pPr>
            <a:endParaRPr lang="fr-FR" dirty="0">
              <a:latin typeface="Courier"/>
            </a:endParaRPr>
          </a:p>
          <a:p>
            <a:pPr indent="0">
              <a:buNone/>
            </a:pPr>
            <a:r>
              <a:rPr dirty="0">
                <a:latin typeface="Courier"/>
              </a:rPr>
              <a:t># A </a:t>
            </a:r>
            <a:r>
              <a:rPr dirty="0" err="1">
                <a:latin typeface="Courier"/>
              </a:rPr>
              <a:t>tibble</a:t>
            </a:r>
            <a:r>
              <a:rPr dirty="0">
                <a:latin typeface="Courier"/>
              </a:rPr>
              <a:t>: 32 × 4
# Groups:   id [13]
   id     time status  IFNG
   &lt;chr&gt;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 &lt;chr&gt; 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
 1 HC59      0 HC      4.31
 2 HC60      0 HC      5.35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Summarizing with </a:t>
            </a:r>
            <a:r>
              <a:rPr dirty="0">
                <a:latin typeface="Courier"/>
              </a:rPr>
              <a:t>summarize</a:t>
            </a:r>
          </a:p>
          <a:p>
            <a:pPr indent="0">
              <a:buNone/>
            </a:pPr>
            <a:r>
              <a:rPr b="1" dirty="0">
                <a:solidFill>
                  <a:srgbClr val="003B4F"/>
                </a:solidFill>
                <a:latin typeface="Courier"/>
              </a:rPr>
              <a:t>covid </a:t>
            </a:r>
            <a:r>
              <a:rPr b="1" dirty="0">
                <a:solidFill>
                  <a:srgbClr val="5E5E5E"/>
                </a:solidFill>
                <a:latin typeface="Courier"/>
              </a:rPr>
              <a:t>|&gt;</a:t>
            </a:r>
            <a:br>
              <a:rPr b="1" dirty="0"/>
            </a:br>
            <a:r>
              <a:rPr b="1"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 err="1">
                <a:solidFill>
                  <a:srgbClr val="4758AB"/>
                </a:solidFill>
                <a:latin typeface="Courier"/>
              </a:rPr>
              <a:t>group_by</a:t>
            </a:r>
            <a:r>
              <a:rPr b="1" dirty="0">
                <a:solidFill>
                  <a:srgbClr val="003B4F"/>
                </a:solidFill>
                <a:latin typeface="Courier"/>
              </a:rPr>
              <a:t>(status) </a:t>
            </a:r>
            <a:r>
              <a:rPr b="1" dirty="0">
                <a:solidFill>
                  <a:srgbClr val="5E5E5E"/>
                </a:solidFill>
                <a:latin typeface="Courier"/>
              </a:rPr>
              <a:t>|&gt;</a:t>
            </a:r>
            <a:br>
              <a:rPr b="1" dirty="0"/>
            </a:br>
            <a:r>
              <a:rPr b="1" dirty="0">
                <a:solidFill>
                  <a:srgbClr val="003B4F"/>
                </a:solidFill>
                <a:latin typeface="Courier"/>
              </a:rPr>
              <a:t>  </a:t>
            </a:r>
            <a:r>
              <a:rPr b="1" dirty="0">
                <a:solidFill>
                  <a:srgbClr val="4758AB"/>
                </a:solidFill>
                <a:latin typeface="Courier"/>
              </a:rPr>
              <a:t>summarize</a:t>
            </a:r>
            <a:r>
              <a:rPr b="1" dirty="0">
                <a:solidFill>
                  <a:srgbClr val="003B4F"/>
                </a:solidFill>
                <a:latin typeface="Courier"/>
              </a:rPr>
              <a:t>(</a:t>
            </a:r>
            <a:endParaRPr lang="fr-FR" b="1" dirty="0">
              <a:solidFill>
                <a:srgbClr val="003B4F"/>
              </a:solidFill>
              <a:latin typeface="Courier"/>
            </a:endParaRPr>
          </a:p>
          <a:p>
            <a:pPr indent="0">
              <a:buNone/>
            </a:pPr>
            <a:r>
              <a:rPr lang="fr-FR" b="1" dirty="0">
                <a:solidFill>
                  <a:srgbClr val="003B4F"/>
                </a:solidFill>
                <a:latin typeface="Courier"/>
              </a:rPr>
              <a:t>	</a:t>
            </a:r>
            <a:r>
              <a:rPr b="1" dirty="0" err="1">
                <a:solidFill>
                  <a:srgbClr val="657422"/>
                </a:solidFill>
                <a:latin typeface="Courier"/>
              </a:rPr>
              <a:t>mean_IFNG</a:t>
            </a:r>
            <a:r>
              <a:rPr b="1" dirty="0">
                <a:solidFill>
                  <a:srgbClr val="657422"/>
                </a:solidFill>
                <a:latin typeface="Courier"/>
              </a:rPr>
              <a:t> =</a:t>
            </a:r>
            <a:r>
              <a:rPr b="1" dirty="0">
                <a:solidFill>
                  <a:srgbClr val="003B4F"/>
                </a:solidFill>
                <a:latin typeface="Courier"/>
              </a:rPr>
              <a:t> </a:t>
            </a:r>
            <a:r>
              <a:rPr b="1" dirty="0">
                <a:solidFill>
                  <a:srgbClr val="4758AB"/>
                </a:solidFill>
                <a:latin typeface="Courier"/>
              </a:rPr>
              <a:t>mean</a:t>
            </a:r>
            <a:r>
              <a:rPr b="1" dirty="0">
                <a:solidFill>
                  <a:srgbClr val="003B4F"/>
                </a:solidFill>
                <a:latin typeface="Courier"/>
              </a:rPr>
              <a:t>(IFNG))</a:t>
            </a:r>
          </a:p>
          <a:p>
            <a:pPr indent="0">
              <a:buNone/>
            </a:pPr>
            <a:endParaRPr lang="fr-FR" dirty="0">
              <a:latin typeface="Courier"/>
            </a:endParaRPr>
          </a:p>
          <a:p>
            <a:pPr indent="0">
              <a:buNone/>
            </a:pPr>
            <a:endParaRPr lang="fr-FR" dirty="0">
              <a:latin typeface="Courier"/>
            </a:endParaRPr>
          </a:p>
          <a:p>
            <a:pPr indent="0">
              <a:buNone/>
            </a:pPr>
            <a:r>
              <a:rPr dirty="0">
                <a:latin typeface="Courier"/>
              </a:rPr>
              <a:t># A </a:t>
            </a:r>
            <a:r>
              <a:rPr dirty="0" err="1">
                <a:latin typeface="Courier"/>
              </a:rPr>
              <a:t>tibble</a:t>
            </a:r>
            <a:r>
              <a:rPr dirty="0">
                <a:latin typeface="Courier"/>
              </a:rPr>
              <a:t>: 2 × 2
  status </a:t>
            </a:r>
            <a:r>
              <a:rPr dirty="0" err="1">
                <a:latin typeface="Courier"/>
              </a:rPr>
              <a:t>mean_IFNG</a:t>
            </a:r>
            <a:r>
              <a:rPr dirty="0">
                <a:latin typeface="Courier"/>
              </a:rPr>
              <a:t>
  &lt;chr&gt;      &lt;</a:t>
            </a:r>
            <a:r>
              <a:rPr dirty="0" err="1">
                <a:latin typeface="Courier"/>
              </a:rPr>
              <a:t>dbl</a:t>
            </a:r>
            <a:r>
              <a:rPr dirty="0">
                <a:latin typeface="Courier"/>
              </a:rPr>
              <a:t>&gt;
1 HC          4.99
2 </a:t>
            </a:r>
            <a:r>
              <a:rPr dirty="0" err="1">
                <a:latin typeface="Courier"/>
              </a:rPr>
              <a:t>nCOV</a:t>
            </a:r>
            <a:r>
              <a:rPr dirty="0">
                <a:latin typeface="Courier"/>
              </a:rPr>
              <a:t>        4.12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CD0C8C7-C5BF-53E7-9BA9-3E50F930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Exercise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2766EA-0230-3ABE-5998-8ABC1D88A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Compute</a:t>
            </a:r>
            <a:r>
              <a:rPr lang="fr-FR" dirty="0"/>
              <a:t> the </a:t>
            </a:r>
            <a:r>
              <a:rPr lang="fr-FR" dirty="0" err="1"/>
              <a:t>mean</a:t>
            </a:r>
            <a:r>
              <a:rPr lang="fr-FR" dirty="0"/>
              <a:t> expression of IL1R1 in </a:t>
            </a:r>
            <a:r>
              <a:rPr lang="fr-FR" dirty="0" err="1"/>
              <a:t>healthy</a:t>
            </a:r>
            <a:r>
              <a:rPr lang="fr-FR" dirty="0"/>
              <a:t> </a:t>
            </a:r>
            <a:r>
              <a:rPr lang="fr-FR" dirty="0" err="1"/>
              <a:t>controls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pipes and </a:t>
            </a:r>
            <a:r>
              <a:rPr lang="fr-FR" dirty="0" err="1"/>
              <a:t>dplyr</a:t>
            </a:r>
            <a:r>
              <a:rPr lang="fr-FR" dirty="0"/>
              <a:t> </a:t>
            </a:r>
            <a:r>
              <a:rPr lang="fr-FR" dirty="0" err="1"/>
              <a:t>verbs</a:t>
            </a:r>
            <a:r>
              <a:rPr lang="fr-FR" dirty="0"/>
              <a:t> (or base R if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prefer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i="1" dirty="0"/>
              <a:t>NB: There are </a:t>
            </a:r>
            <a:r>
              <a:rPr lang="fr-FR" i="1" dirty="0" err="1"/>
              <a:t>several</a:t>
            </a:r>
            <a:r>
              <a:rPr lang="fr-FR" i="1" dirty="0"/>
              <a:t> possible solutions. Try to </a:t>
            </a:r>
            <a:r>
              <a:rPr lang="fr-FR" i="1" dirty="0" err="1"/>
              <a:t>find</a:t>
            </a:r>
            <a:r>
              <a:rPr lang="fr-FR" i="1" dirty="0"/>
              <a:t> at least </a:t>
            </a:r>
            <a:r>
              <a:rPr lang="fr-FR" i="1" dirty="0" err="1"/>
              <a:t>two</a:t>
            </a:r>
            <a:r>
              <a:rPr lang="fr-FR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823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2706</TotalTime>
  <Words>444</Words>
  <Application>Microsoft Macintosh PowerPoint</Application>
  <PresentationFormat>Grand écran</PresentationFormat>
  <Paragraphs>63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</vt:lpstr>
      <vt:lpstr>Thème Office</vt:lpstr>
      <vt:lpstr>Introduction to dplyr</vt:lpstr>
      <vt:lpstr>Cheatsheet</vt:lpstr>
      <vt:lpstr>Présentation PowerPoint</vt:lpstr>
      <vt:lpstr>Présentation PowerPoint</vt:lpstr>
      <vt:lpstr>Exercise: read the covid data</vt:lpstr>
      <vt:lpstr>What is a tibble?</vt:lpstr>
      <vt:lpstr>These are pipes!</vt:lpstr>
      <vt:lpstr>Two very useful dplyr verbs</vt:lpstr>
      <vt:lpstr>Grouping and summarizing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3</cp:revision>
  <cp:lastPrinted>2025-06-01T19:05:43Z</cp:lastPrinted>
  <dcterms:created xsi:type="dcterms:W3CDTF">2025-05-27T06:51:50Z</dcterms:created>
  <dcterms:modified xsi:type="dcterms:W3CDTF">2025-06-01T19:25:27Z</dcterms:modified>
</cp:coreProperties>
</file>