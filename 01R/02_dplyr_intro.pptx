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2" r:id="rId6"/>
    <p:sldId id="261" r:id="rId7"/>
    <p:sldId id="260" r:id="rId8"/>
    <p:sldId id="263" r:id="rId9"/>
    <p:sldId id="266" r:id="rId10"/>
    <p:sldId id="264" r:id="rId11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14BADC9-280A-D192-23CD-CDD8F2F924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362E64E-0D39-58BF-3483-48C990FB0E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C6F733B-7B04-E981-1EA0-628D4A4F6B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CC3139-8B8E-A041-A6E2-4AFC575B6FE3}" type="datetimeFigureOut">
              <a:rPr lang="fr-FR" smtClean="0"/>
              <a:t>29/05/2025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CBE2E9F-90D0-DCC5-9B03-2275D1EB0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8AE878E-FF3A-EED2-1EAD-9CB960FA6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462B1A-C925-734A-9558-6B61646ECF0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992688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FE1E6E8-AECB-BD19-AB8C-0CCAB00E1E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2A3D866-F3EB-D49F-B35E-F3B188BF82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5757B17-54C4-24BD-D649-2A0CF8997B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CC3139-8B8E-A041-A6E2-4AFC575B6FE3}" type="datetimeFigureOut">
              <a:rPr lang="fr-FR" smtClean="0"/>
              <a:t>29/05/2025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CDDF117-76BE-54CF-A2AE-DF97D9371B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5D60F96-0049-D0A5-D122-9C6EAA7D71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462B1A-C925-734A-9558-6B61646ECF0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201168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52215A2-076A-E6EE-4925-861325C8C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9B325AF-AB81-F6A9-A9C5-64F0CC6172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19C318D-0910-2766-27EE-1AE630283E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CC3139-8B8E-A041-A6E2-4AFC575B6FE3}" type="datetimeFigureOut">
              <a:rPr lang="fr-FR" smtClean="0"/>
              <a:t>29/05/2025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5D62E7C-8026-86EB-C74B-CB49416A13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FDCB18E-93FD-AD54-0FEE-6A02C94A1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462B1A-C925-734A-9558-6B61646ECF0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51080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2B16EEF-A46E-A971-07F5-FDD606AAD2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913BCDE-B677-A7A7-CEA4-44CE01AFD3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763C2EDE-9E75-30C1-3815-ED5F31E1E3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26091FA3-C834-9706-C524-2781F3F4F3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CC3139-8B8E-A041-A6E2-4AFC575B6FE3}" type="datetimeFigureOut">
              <a:rPr lang="fr-FR" smtClean="0"/>
              <a:t>29/05/2025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22165FF-09E0-C83C-9C4D-D48BF83C24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8C264AD-AC3A-9867-F464-4D304BEC7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462B1A-C925-734A-9558-6B61646ECF0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549629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EACF8B4-C797-0817-0A39-9A5800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B6A55CE-6024-B797-E6BC-9F55B51F2A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7D1CCB1E-BBF2-9842-407A-D16C5C5837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BC77EB7F-EA61-5716-0FB6-7D2A41E6BA8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D8876D5E-A40B-8A6E-53A3-FC97543CE7A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294E9DBD-1CC6-9B75-7EAF-B16CCDED4A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CC3139-8B8E-A041-A6E2-4AFC575B6FE3}" type="datetimeFigureOut">
              <a:rPr lang="fr-FR" smtClean="0"/>
              <a:t>31/05/2025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D010BEA1-189C-65E3-70D7-AAF4FAB895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AEB252B8-89C1-392E-E0B0-6A66073D6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462B1A-C925-734A-9558-6B61646ECF0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718065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CE248D9-D322-D4B7-058B-107A1F8BB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7C9A9F43-C4CF-0AA8-5E27-6D0B2EF6E3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CC3139-8B8E-A041-A6E2-4AFC575B6FE3}" type="datetimeFigureOut">
              <a:rPr lang="fr-FR" smtClean="0"/>
              <a:t>31/05/2025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D07F251-AFE8-CFBD-7EA4-94924F28F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2320FBA-FEE4-A674-7D64-A04DF34E42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462B1A-C925-734A-9558-6B61646ECF0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957719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BB36A47E-C02B-5684-A3BC-BFC471B329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CC3139-8B8E-A041-A6E2-4AFC575B6FE3}" type="datetimeFigureOut">
              <a:rPr lang="fr-FR" smtClean="0"/>
              <a:t>29/05/2025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A7757379-F863-EC09-C6D8-217DCA7970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96927C6-434C-CC52-0C41-DAA96AAE6F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462B1A-C925-734A-9558-6B61646ECF0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757802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83608C-5D04-8781-DF8C-8A9BB3835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D6036A6-8504-B01C-78AB-6565945AAE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76BB655C-EEAC-9D7A-CA86-4B25A06DC3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AB75747-C948-6B67-F1DB-8206BA3BF3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CC3139-8B8E-A041-A6E2-4AFC575B6FE3}" type="datetimeFigureOut">
              <a:rPr lang="fr-FR" smtClean="0"/>
              <a:t>29/05/2025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7BEDE7D-EFC4-896D-F196-50E338D7AD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F8BB42E-4AE4-17C0-9D0E-1B5E68ADE8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462B1A-C925-734A-9558-6B61646ECF0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614352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D942FCF-B794-8760-8070-28352AA829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438E8433-B161-9E77-0B74-E12FDE114A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82FC89F-1B15-E897-20CE-80CFBE1E30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9F2D3F4-2A80-35F9-7285-BB012FD579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CC3139-8B8E-A041-A6E2-4AFC575B6FE3}" type="datetimeFigureOut">
              <a:rPr lang="fr-FR" smtClean="0"/>
              <a:t>31/05/2025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845E820-EAF5-0325-075C-31313D23DA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168035B-E69D-AA09-CE34-1403C2891F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462B1A-C925-734A-9558-6B61646ECF0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3852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8ACE15C-8047-AAA6-E3EF-0B7E057E4C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28AC6BB-BD06-53D9-E653-A0239A4741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6764D4D-C03B-045E-3965-970475543D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CC3139-8B8E-A041-A6E2-4AFC575B6FE3}" type="datetimeFigureOut">
              <a:rPr lang="fr-FR" smtClean="0"/>
              <a:t>31/05/2025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F0C5DDD-8083-7D11-E6B9-DFFB284FD9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37DB699-5307-AD51-2889-522B991A7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462B1A-C925-734A-9558-6B61646ECF0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609340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E4501255-DF09-2BEC-A488-7D2ED18E3A1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6DA6B26-251D-2A6E-46A3-7C36842CBB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721B8B8-85ED-C867-B534-1107160EE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CC3139-8B8E-A041-A6E2-4AFC575B6FE3}" type="datetimeFigureOut">
              <a:rPr lang="fr-FR" smtClean="0"/>
              <a:t>31/05/2025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B9673F3-372A-FB6C-C3DF-950799F94F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2954685-7541-8791-C75E-4F01346083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462B1A-C925-734A-9558-6B61646ECF0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033887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32194580-112F-86D5-E2F3-F1B7D236A8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5B0CA55-F75F-AC40-26A9-3088235FB2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E02BE49-E8C4-522C-ABCB-F8284BF8C7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CC3139-8B8E-A041-A6E2-4AFC575B6FE3}" type="datetimeFigureOut">
              <a:rPr lang="fr-FR" smtClean="0"/>
              <a:t>29/05/2025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7CD25B1-4E16-968F-AB75-ADEEF00B09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4AE83A8-6EBF-6AC8-1EB6-2FB765120A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5462B1A-C925-734A-9558-6B61646ECF0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039390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2">
                <a:lumMod val="5000"/>
                <a:lumOff val="95000"/>
              </a:schemeClr>
            </a:gs>
            <a:gs pos="74000">
              <a:schemeClr val="accent2">
                <a:lumMod val="45000"/>
                <a:lumOff val="55000"/>
              </a:schemeClr>
            </a:gs>
            <a:gs pos="83000">
              <a:schemeClr val="accent2">
                <a:lumMod val="45000"/>
                <a:lumOff val="55000"/>
              </a:schemeClr>
            </a:gs>
            <a:gs pos="100000">
              <a:schemeClr val="accent2">
                <a:lumMod val="30000"/>
                <a:lumOff val="70000"/>
              </a:schemeClr>
            </a:gs>
          </a:gsLst>
          <a:lin ang="96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5CBE871-9DF5-E412-4E25-C71104B98CB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Introduction to </a:t>
            </a:r>
            <a:r>
              <a:rPr lang="fr-FR" dirty="0" err="1"/>
              <a:t>dplyr</a:t>
            </a:r>
            <a:endParaRPr lang="fr-FR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3F526048-DC4F-9ADA-3B13-1ADDF558F76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/>
              <a:t>Vincent Guillemot</a:t>
            </a:r>
          </a:p>
        </p:txBody>
      </p:sp>
    </p:spTree>
    <p:extLst>
      <p:ext uri="{BB962C8B-B14F-4D97-AF65-F5344CB8AC3E}">
        <p14:creationId xmlns:p14="http://schemas.microsoft.com/office/powerpoint/2010/main" val="36796188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B84827B-1382-D6E6-049A-B3CB6867C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Cheatsheet</a:t>
            </a:r>
            <a:endParaRPr lang="fr-FR" dirty="0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38F212A-735C-718E-AB54-379C70CE17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data-</a:t>
            </a:r>
            <a:r>
              <a:rPr lang="fr-FR" dirty="0" err="1"/>
              <a:t>transformation.pdf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D8AADC8B-1350-C36A-3C4C-4C30F8DFD4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4494" y="768350"/>
            <a:ext cx="1219200" cy="1295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83161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>
            <a:extLst>
              <a:ext uri="{FF2B5EF4-FFF2-40B4-BE49-F238E27FC236}">
                <a16:creationId xmlns:a16="http://schemas.microsoft.com/office/drawing/2014/main" id="{71D00D1D-1B8F-6B7A-04D7-893AB03B5E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4756" y="4654"/>
            <a:ext cx="8922488" cy="6853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90263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>
            <a:extLst>
              <a:ext uri="{FF2B5EF4-FFF2-40B4-BE49-F238E27FC236}">
                <a16:creationId xmlns:a16="http://schemas.microsoft.com/office/drawing/2014/main" id="{1C05ABC8-82F4-D1CA-9D47-C3548C155C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1970" y="480"/>
            <a:ext cx="8848060" cy="6857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91460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7946BFF-361E-C075-0B82-21199DA1B2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Exercise</a:t>
            </a:r>
            <a:r>
              <a:rPr lang="fr-FR" dirty="0"/>
              <a:t>: </a:t>
            </a:r>
            <a:r>
              <a:rPr lang="fr-FR" dirty="0" err="1"/>
              <a:t>read</a:t>
            </a:r>
            <a:r>
              <a:rPr lang="fr-FR" dirty="0"/>
              <a:t> the covid data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63D1686-7FB0-D7AF-3E48-DF699201C9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Create an R script named “data-</a:t>
            </a:r>
            <a:r>
              <a:rPr lang="en-US" noProof="0" dirty="0" err="1"/>
              <a:t>manipulation.R</a:t>
            </a:r>
            <a:r>
              <a:rPr lang="en-US" noProof="0" dirty="0"/>
              <a:t>” in your project</a:t>
            </a:r>
          </a:p>
          <a:p>
            <a:r>
              <a:rPr lang="en-US" noProof="0" dirty="0"/>
              <a:t>Load the </a:t>
            </a:r>
            <a:r>
              <a:rPr lang="en-US" dirty="0"/>
              <a:t>following libraries:</a:t>
            </a:r>
          </a:p>
          <a:p>
            <a:pPr lvl="1"/>
            <a:r>
              <a:rPr lang="en-US" dirty="0" err="1"/>
              <a:t>dp</a:t>
            </a:r>
            <a:r>
              <a:rPr lang="en-US" noProof="0" dirty="0" err="1"/>
              <a:t>lyr</a:t>
            </a:r>
            <a:r>
              <a:rPr lang="en-US" noProof="0" dirty="0"/>
              <a:t> (manipulate data)</a:t>
            </a:r>
          </a:p>
          <a:p>
            <a:pPr lvl="1"/>
            <a:r>
              <a:rPr lang="en-US" dirty="0" err="1"/>
              <a:t>readr</a:t>
            </a:r>
            <a:r>
              <a:rPr lang="en-US" dirty="0"/>
              <a:t> (import data)</a:t>
            </a:r>
          </a:p>
          <a:p>
            <a:r>
              <a:rPr lang="en-US" noProof="0" dirty="0"/>
              <a:t>Read the data with function </a:t>
            </a:r>
            <a:r>
              <a:rPr lang="en-US" noProof="0" dirty="0" err="1"/>
              <a:t>read_csv</a:t>
            </a:r>
            <a:r>
              <a:rPr lang="en-US" dirty="0"/>
              <a:t>, assign the result to an object called “covid”</a:t>
            </a:r>
          </a:p>
          <a:p>
            <a:r>
              <a:rPr lang="en-US" noProof="0" dirty="0"/>
              <a:t>What is the class of this “covid” object?</a:t>
            </a:r>
          </a:p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5128800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722C9D4-9B4E-A34B-70D5-BF9AE78CB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What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a </a:t>
            </a:r>
            <a:r>
              <a:rPr lang="fr-FR" dirty="0" err="1"/>
              <a:t>tibble</a:t>
            </a:r>
            <a:r>
              <a:rPr lang="fr-FR" dirty="0"/>
              <a:t>?</a:t>
            </a:r>
          </a:p>
        </p:txBody>
      </p:sp>
      <p:pic>
        <p:nvPicPr>
          <p:cNvPr id="11" name="Espace réservé du contenu 10">
            <a:extLst>
              <a:ext uri="{FF2B5EF4-FFF2-40B4-BE49-F238E27FC236}">
                <a16:creationId xmlns:a16="http://schemas.microsoft.com/office/drawing/2014/main" id="{5E4E801C-5DC7-0B5B-FC46-90B7B3D0FC0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768906" y="987425"/>
            <a:ext cx="5000763" cy="4873625"/>
          </a:xfrm>
          <a:prstGeom prst="rect">
            <a:avLst/>
          </a:prstGeom>
        </p:spPr>
      </p:pic>
      <p:sp>
        <p:nvSpPr>
          <p:cNvPr id="10" name="Espace réservé du texte 9">
            <a:extLst>
              <a:ext uri="{FF2B5EF4-FFF2-40B4-BE49-F238E27FC236}">
                <a16:creationId xmlns:a16="http://schemas.microsoft.com/office/drawing/2014/main" id="{541937E3-12D5-6F30-BC4F-9EB68E4CD2DE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i="1" dirty="0"/>
              <a:t>“</a:t>
            </a:r>
            <a:r>
              <a:rPr lang="en-US" i="1" noProof="0" dirty="0"/>
              <a:t>stricter checking and better formatting than the traditional data frame.”</a:t>
            </a:r>
          </a:p>
          <a:p>
            <a:r>
              <a:rPr lang="en-US" dirty="0"/>
              <a:t>In practice: no very very big difference with our usual </a:t>
            </a:r>
            <a:r>
              <a:rPr lang="en-US" dirty="0" err="1"/>
              <a:t>dataframes</a:t>
            </a:r>
            <a:r>
              <a:rPr lang="en-US" dirty="0"/>
              <a:t>…</a:t>
            </a:r>
          </a:p>
          <a:p>
            <a:r>
              <a:rPr lang="en-US" b="1" dirty="0"/>
              <a:t>BUT… </a:t>
            </a:r>
            <a:r>
              <a:rPr lang="en-US" b="1" u="sng" dirty="0"/>
              <a:t>no row names</a:t>
            </a:r>
            <a:r>
              <a:rPr lang="en-US" b="1" dirty="0"/>
              <a:t>!</a:t>
            </a:r>
          </a:p>
          <a:p>
            <a:r>
              <a:rPr lang="en-US" dirty="0"/>
              <a:t>Going back and forth: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base::</a:t>
            </a:r>
            <a:r>
              <a:rPr lang="en-US" dirty="0" err="1"/>
              <a:t>as.data.frame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tibble</a:t>
            </a:r>
            <a:r>
              <a:rPr lang="en-US" dirty="0"/>
              <a:t>::</a:t>
            </a:r>
            <a:r>
              <a:rPr lang="en-US" dirty="0" err="1"/>
              <a:t>as_tibble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7322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BB8CEF4-7C1C-3F0A-C63D-71DB78336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These</a:t>
            </a:r>
            <a:r>
              <a:rPr lang="fr-FR" dirty="0"/>
              <a:t> are pipes!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D41F216-8FEE-584D-CD90-9E5A4A7FBAC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0" dirty="0"/>
              <a:t>print(covid, n = 2)</a:t>
            </a:r>
          </a:p>
          <a:p>
            <a:pPr marL="0" indent="0">
              <a:buNone/>
            </a:pPr>
            <a:endParaRPr lang="en-US" noProof="0" dirty="0"/>
          </a:p>
          <a:p>
            <a:pPr marL="0" indent="0">
              <a:buNone/>
            </a:pPr>
            <a:r>
              <a:rPr lang="en-US" noProof="0" dirty="0"/>
              <a:t>|&gt; : available in base R</a:t>
            </a:r>
          </a:p>
          <a:p>
            <a:pPr marL="0" indent="0">
              <a:buNone/>
            </a:pPr>
            <a:r>
              <a:rPr lang="en-US" noProof="0" dirty="0"/>
              <a:t>	</a:t>
            </a:r>
            <a:r>
              <a:rPr lang="en-US" b="1" noProof="0" dirty="0"/>
              <a:t>covid |&gt; print(n = 2)</a:t>
            </a:r>
          </a:p>
          <a:p>
            <a:pPr marL="0" indent="0">
              <a:buNone/>
            </a:pPr>
            <a:endParaRPr lang="en-US" noProof="0" dirty="0"/>
          </a:p>
          <a:p>
            <a:pPr marL="0" indent="0">
              <a:buNone/>
            </a:pPr>
            <a:r>
              <a:rPr lang="en-US" noProof="0" dirty="0"/>
              <a:t>%&gt;% : available through a package (</a:t>
            </a:r>
            <a:r>
              <a:rPr lang="en-US" noProof="0" dirty="0" err="1"/>
              <a:t>magrittr</a:t>
            </a:r>
            <a:r>
              <a:rPr lang="en-US" noProof="0" dirty="0"/>
              <a:t>)</a:t>
            </a:r>
          </a:p>
          <a:p>
            <a:pPr marL="0" indent="0">
              <a:buNone/>
            </a:pPr>
            <a:r>
              <a:rPr lang="en-US" noProof="0" dirty="0"/>
              <a:t>	</a:t>
            </a:r>
            <a:r>
              <a:rPr lang="en-US" b="1" noProof="0" dirty="0"/>
              <a:t>covid %&gt;% print(n = 2)</a:t>
            </a:r>
          </a:p>
          <a:p>
            <a:pPr marL="0" indent="0">
              <a:buNone/>
            </a:pPr>
            <a:endParaRPr lang="en-US" noProof="0" dirty="0"/>
          </a:p>
          <a:p>
            <a:pPr marL="0" indent="0">
              <a:buNone/>
            </a:pPr>
            <a:endParaRPr lang="en-US" noProof="0" dirty="0"/>
          </a:p>
          <a:p>
            <a:pPr marL="0" indent="0">
              <a:buNone/>
            </a:pPr>
            <a:endParaRPr lang="en-US" noProof="0" dirty="0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F436C37-E2B6-BBD9-A95A-D76AF2793A3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fr-FR" dirty="0">
                <a:solidFill>
                  <a:srgbClr val="C00000"/>
                </a:solidFill>
              </a:rPr>
              <a:t>ERROR</a:t>
            </a:r>
          </a:p>
          <a:p>
            <a:pPr marL="0" indent="0">
              <a:buNone/>
            </a:pPr>
            <a:r>
              <a:rPr lang="fr-FR" dirty="0" err="1"/>
              <a:t>Error</a:t>
            </a:r>
            <a:r>
              <a:rPr lang="fr-FR" dirty="0"/>
              <a:t> in covid %&gt;% </a:t>
            </a:r>
            <a:r>
              <a:rPr lang="fr-FR" dirty="0" err="1"/>
              <a:t>print</a:t>
            </a:r>
            <a:r>
              <a:rPr lang="fr-FR" dirty="0"/>
              <a:t>() : </a:t>
            </a:r>
            <a:r>
              <a:rPr lang="fr-FR" dirty="0" err="1"/>
              <a:t>could</a:t>
            </a:r>
            <a:r>
              <a:rPr lang="fr-FR" dirty="0"/>
              <a:t> not </a:t>
            </a:r>
            <a:r>
              <a:rPr lang="fr-FR" dirty="0" err="1"/>
              <a:t>find</a:t>
            </a:r>
            <a:r>
              <a:rPr lang="fr-FR" dirty="0"/>
              <a:t> </a:t>
            </a:r>
            <a:r>
              <a:rPr lang="fr-FR" dirty="0" err="1"/>
              <a:t>function</a:t>
            </a:r>
            <a:r>
              <a:rPr lang="fr-FR" dirty="0"/>
              <a:t> "%&gt;% »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b="1" dirty="0">
                <a:solidFill>
                  <a:schemeClr val="accent6"/>
                </a:solidFill>
              </a:rPr>
              <a:t>SOLUTION</a:t>
            </a:r>
          </a:p>
          <a:p>
            <a:pPr marL="0" indent="0">
              <a:buNone/>
            </a:pPr>
            <a:r>
              <a:rPr lang="fr-FR" dirty="0" err="1"/>
              <a:t>library</a:t>
            </a:r>
            <a:r>
              <a:rPr lang="fr-FR" dirty="0"/>
              <a:t>(</a:t>
            </a:r>
            <a:r>
              <a:rPr lang="fr-FR" dirty="0" err="1"/>
              <a:t>dplyr</a:t>
            </a:r>
            <a:r>
              <a:rPr lang="fr-FR" dirty="0"/>
              <a:t>)</a:t>
            </a:r>
          </a:p>
          <a:p>
            <a:pPr marL="0" indent="0">
              <a:buNone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95662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8E6EEF3-7170-9F66-D803-AF00E68FF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Two</a:t>
            </a:r>
            <a:r>
              <a:rPr lang="fr-FR" dirty="0"/>
              <a:t> </a:t>
            </a:r>
            <a:r>
              <a:rPr lang="fr-FR" dirty="0" err="1"/>
              <a:t>very</a:t>
            </a:r>
            <a:r>
              <a:rPr lang="fr-FR" dirty="0"/>
              <a:t> </a:t>
            </a:r>
            <a:r>
              <a:rPr lang="fr-FR" dirty="0" err="1"/>
              <a:t>useful</a:t>
            </a:r>
            <a:r>
              <a:rPr lang="fr-FR" dirty="0"/>
              <a:t> </a:t>
            </a:r>
            <a:r>
              <a:rPr lang="fr-FR" dirty="0" err="1"/>
              <a:t>dplyr</a:t>
            </a:r>
            <a:r>
              <a:rPr lang="fr-FR" dirty="0"/>
              <a:t> </a:t>
            </a:r>
            <a:r>
              <a:rPr lang="fr-FR" dirty="0" err="1"/>
              <a:t>verbs</a:t>
            </a:r>
            <a:endParaRPr lang="fr-FR" dirty="0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7CF2D531-9579-C7FE-800D-9E6EDA1A5B1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fr-FR" dirty="0"/>
              <a:t>How to use a </a:t>
            </a:r>
            <a:r>
              <a:rPr lang="fr-FR" dirty="0" err="1"/>
              <a:t>verb</a:t>
            </a:r>
            <a:r>
              <a:rPr lang="fr-FR" dirty="0"/>
              <a:t>?</a:t>
            </a:r>
          </a:p>
          <a:p>
            <a:pPr marL="0" indent="0">
              <a:buNone/>
            </a:pPr>
            <a:r>
              <a:rPr lang="fr-FR" dirty="0"/>
              <a:t>covid |&gt;</a:t>
            </a:r>
          </a:p>
          <a:p>
            <a:pPr marL="0" indent="0">
              <a:buNone/>
            </a:pPr>
            <a:r>
              <a:rPr lang="fr-FR" dirty="0"/>
              <a:t>   verb1(arg = val) |&gt;</a:t>
            </a:r>
          </a:p>
          <a:p>
            <a:pPr marL="0" indent="0">
              <a:buNone/>
            </a:pPr>
            <a:r>
              <a:rPr lang="fr-FR" dirty="0"/>
              <a:t>   verb2(</a:t>
            </a:r>
            <a:r>
              <a:rPr lang="fr-FR" dirty="0" err="1"/>
              <a:t>other_arg</a:t>
            </a:r>
            <a:r>
              <a:rPr lang="fr-FR" dirty="0"/>
              <a:t> = </a:t>
            </a:r>
            <a:r>
              <a:rPr lang="fr-FR" dirty="0" err="1"/>
              <a:t>other_val</a:t>
            </a:r>
            <a:r>
              <a:rPr lang="fr-FR" dirty="0"/>
              <a:t>)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endParaRPr lang="fr-FR" dirty="0"/>
          </a:p>
        </p:txBody>
      </p:sp>
      <p:sp>
        <p:nvSpPr>
          <p:cNvPr id="7" name="Espace réservé du contenu 6">
            <a:extLst>
              <a:ext uri="{FF2B5EF4-FFF2-40B4-BE49-F238E27FC236}">
                <a16:creationId xmlns:a16="http://schemas.microsoft.com/office/drawing/2014/main" id="{0AB492A4-ADF4-5DA4-D4A8-DE22F5490FC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noProof="0" dirty="0"/>
              <a:t>Select columns with </a:t>
            </a:r>
            <a:r>
              <a:rPr lang="en-US" b="1" noProof="0" dirty="0"/>
              <a:t>select()</a:t>
            </a:r>
          </a:p>
          <a:p>
            <a:pPr marL="0" indent="0">
              <a:buNone/>
            </a:pPr>
            <a:r>
              <a:rPr lang="en-US" noProof="0" dirty="0"/>
              <a:t>       covid |&gt; select(IL1A) </a:t>
            </a:r>
          </a:p>
          <a:p>
            <a:r>
              <a:rPr lang="en-US" noProof="0" dirty="0"/>
              <a:t>Filter rows with </a:t>
            </a:r>
            <a:r>
              <a:rPr lang="en-US" b="1" noProof="0" dirty="0"/>
              <a:t>filter()</a:t>
            </a:r>
          </a:p>
          <a:p>
            <a:pPr marL="0" indent="0">
              <a:buNone/>
            </a:pPr>
            <a:r>
              <a:rPr lang="en-US" noProof="0" dirty="0"/>
              <a:t>       covid |&gt; filter(status == “HC”)</a:t>
            </a:r>
          </a:p>
          <a:p>
            <a:r>
              <a:rPr lang="en-US" b="1" dirty="0"/>
              <a:t>Both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noProof="0" dirty="0"/>
              <a:t>       covid |&gt; </a:t>
            </a:r>
          </a:p>
          <a:p>
            <a:pPr marL="0" indent="0">
              <a:buNone/>
            </a:pPr>
            <a:r>
              <a:rPr lang="en-US" dirty="0"/>
              <a:t>           </a:t>
            </a:r>
            <a:r>
              <a:rPr lang="en-US" noProof="0" dirty="0"/>
              <a:t>filter(status == “HC”) |&gt; </a:t>
            </a:r>
          </a:p>
          <a:p>
            <a:pPr marL="0" indent="0">
              <a:buNone/>
            </a:pPr>
            <a:r>
              <a:rPr lang="en-US" dirty="0"/>
              <a:t>           </a:t>
            </a:r>
            <a:r>
              <a:rPr lang="en-US" noProof="0" dirty="0"/>
              <a:t>select(IL1A)</a:t>
            </a:r>
          </a:p>
        </p:txBody>
      </p:sp>
    </p:spTree>
    <p:extLst>
      <p:ext uri="{BB962C8B-B14F-4D97-AF65-F5344CB8AC3E}">
        <p14:creationId xmlns:p14="http://schemas.microsoft.com/office/powerpoint/2010/main" val="2974113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Grouping and summarizing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dirty="0"/>
              <a:t>Grouping with </a:t>
            </a:r>
            <a:r>
              <a:rPr dirty="0" err="1">
                <a:latin typeface="Courier"/>
              </a:rPr>
              <a:t>group_by</a:t>
            </a:r>
            <a:endParaRPr dirty="0">
              <a:latin typeface="Courier"/>
            </a:endParaRPr>
          </a:p>
          <a:p>
            <a:pPr indent="0">
              <a:buNone/>
            </a:pPr>
            <a:r>
              <a:rPr b="1" dirty="0">
                <a:solidFill>
                  <a:srgbClr val="003B4F"/>
                </a:solidFill>
                <a:latin typeface="Courier"/>
              </a:rPr>
              <a:t>covid </a:t>
            </a:r>
            <a:r>
              <a:rPr b="1" dirty="0">
                <a:solidFill>
                  <a:srgbClr val="5E5E5E"/>
                </a:solidFill>
                <a:latin typeface="Courier"/>
              </a:rPr>
              <a:t>|&gt;</a:t>
            </a:r>
            <a:br>
              <a:rPr b="1" dirty="0"/>
            </a:br>
            <a:r>
              <a:rPr b="1" dirty="0">
                <a:solidFill>
                  <a:srgbClr val="003B4F"/>
                </a:solidFill>
                <a:latin typeface="Courier"/>
              </a:rPr>
              <a:t>  </a:t>
            </a:r>
            <a:r>
              <a:rPr b="1" dirty="0" err="1">
                <a:solidFill>
                  <a:srgbClr val="4758AB"/>
                </a:solidFill>
                <a:latin typeface="Courier"/>
              </a:rPr>
              <a:t>group_by</a:t>
            </a:r>
            <a:r>
              <a:rPr b="1" dirty="0">
                <a:solidFill>
                  <a:srgbClr val="003B4F"/>
                </a:solidFill>
                <a:latin typeface="Courier"/>
              </a:rPr>
              <a:t>(id) </a:t>
            </a:r>
            <a:r>
              <a:rPr b="1" dirty="0">
                <a:solidFill>
                  <a:srgbClr val="5E5E5E"/>
                </a:solidFill>
                <a:latin typeface="Courier"/>
              </a:rPr>
              <a:t>|&gt;</a:t>
            </a:r>
            <a:br>
              <a:rPr b="1" dirty="0"/>
            </a:br>
            <a:r>
              <a:rPr b="1" dirty="0">
                <a:solidFill>
                  <a:srgbClr val="003B4F"/>
                </a:solidFill>
                <a:latin typeface="Courier"/>
              </a:rPr>
              <a:t>  </a:t>
            </a:r>
            <a:r>
              <a:rPr b="1" dirty="0">
                <a:solidFill>
                  <a:srgbClr val="4758AB"/>
                </a:solidFill>
                <a:latin typeface="Courier"/>
              </a:rPr>
              <a:t>select</a:t>
            </a:r>
            <a:r>
              <a:rPr b="1" dirty="0">
                <a:solidFill>
                  <a:srgbClr val="003B4F"/>
                </a:solidFill>
                <a:latin typeface="Courier"/>
              </a:rPr>
              <a:t>(</a:t>
            </a:r>
            <a:endParaRPr lang="fr-FR" b="1" dirty="0">
              <a:solidFill>
                <a:srgbClr val="003B4F"/>
              </a:solidFill>
              <a:latin typeface="Courier"/>
            </a:endParaRPr>
          </a:p>
          <a:p>
            <a:pPr indent="0">
              <a:buNone/>
            </a:pPr>
            <a:r>
              <a:rPr lang="fr-FR" b="1" dirty="0">
                <a:solidFill>
                  <a:srgbClr val="003B4F"/>
                </a:solidFill>
                <a:latin typeface="Courier"/>
              </a:rPr>
              <a:t>	</a:t>
            </a:r>
            <a:r>
              <a:rPr b="1" dirty="0">
                <a:solidFill>
                  <a:srgbClr val="003B4F"/>
                </a:solidFill>
                <a:latin typeface="Courier"/>
              </a:rPr>
              <a:t>id, time, </a:t>
            </a:r>
            <a:endParaRPr lang="fr-FR" b="1" dirty="0">
              <a:solidFill>
                <a:srgbClr val="003B4F"/>
              </a:solidFill>
              <a:latin typeface="Courier"/>
            </a:endParaRPr>
          </a:p>
          <a:p>
            <a:pPr indent="0">
              <a:buNone/>
            </a:pPr>
            <a:r>
              <a:rPr lang="fr-FR" b="1" dirty="0">
                <a:solidFill>
                  <a:srgbClr val="003B4F"/>
                </a:solidFill>
                <a:latin typeface="Courier"/>
              </a:rPr>
              <a:t>	</a:t>
            </a:r>
            <a:r>
              <a:rPr b="1" dirty="0">
                <a:solidFill>
                  <a:srgbClr val="003B4F"/>
                </a:solidFill>
                <a:latin typeface="Courier"/>
              </a:rPr>
              <a:t>status, IFNG)</a:t>
            </a:r>
          </a:p>
          <a:p>
            <a:pPr indent="0">
              <a:buNone/>
            </a:pPr>
            <a:endParaRPr lang="fr-FR" dirty="0">
              <a:latin typeface="Courier"/>
            </a:endParaRPr>
          </a:p>
          <a:p>
            <a:pPr indent="0">
              <a:buNone/>
            </a:pPr>
            <a:r>
              <a:rPr dirty="0">
                <a:latin typeface="Courier"/>
              </a:rPr>
              <a:t># A </a:t>
            </a:r>
            <a:r>
              <a:rPr dirty="0" err="1">
                <a:latin typeface="Courier"/>
              </a:rPr>
              <a:t>tibble</a:t>
            </a:r>
            <a:r>
              <a:rPr dirty="0">
                <a:latin typeface="Courier"/>
              </a:rPr>
              <a:t>: 32 × 4
# Groups:   id [13]
   id     time status  IFNG
   &lt;chr&gt; &lt;</a:t>
            </a:r>
            <a:r>
              <a:rPr dirty="0" err="1">
                <a:latin typeface="Courier"/>
              </a:rPr>
              <a:t>dbl</a:t>
            </a:r>
            <a:r>
              <a:rPr dirty="0">
                <a:latin typeface="Courier"/>
              </a:rPr>
              <a:t>&gt; &lt;chr&gt;  &lt;</a:t>
            </a:r>
            <a:r>
              <a:rPr dirty="0" err="1">
                <a:latin typeface="Courier"/>
              </a:rPr>
              <a:t>dbl</a:t>
            </a:r>
            <a:r>
              <a:rPr dirty="0">
                <a:latin typeface="Courier"/>
              </a:rPr>
              <a:t>&gt;
 1 HC59      0 HC      4.31
 2 HC60      0 HC      5.35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dirty="0"/>
              <a:t>Summarizing with </a:t>
            </a:r>
            <a:r>
              <a:rPr dirty="0">
                <a:latin typeface="Courier"/>
              </a:rPr>
              <a:t>summarize</a:t>
            </a:r>
          </a:p>
          <a:p>
            <a:pPr indent="0">
              <a:buNone/>
            </a:pPr>
            <a:r>
              <a:rPr b="1" dirty="0">
                <a:solidFill>
                  <a:srgbClr val="003B4F"/>
                </a:solidFill>
                <a:latin typeface="Courier"/>
              </a:rPr>
              <a:t>covid </a:t>
            </a:r>
            <a:r>
              <a:rPr b="1" dirty="0">
                <a:solidFill>
                  <a:srgbClr val="5E5E5E"/>
                </a:solidFill>
                <a:latin typeface="Courier"/>
              </a:rPr>
              <a:t>|&gt;</a:t>
            </a:r>
            <a:br>
              <a:rPr b="1" dirty="0"/>
            </a:br>
            <a:r>
              <a:rPr b="1" dirty="0">
                <a:solidFill>
                  <a:srgbClr val="003B4F"/>
                </a:solidFill>
                <a:latin typeface="Courier"/>
              </a:rPr>
              <a:t>  </a:t>
            </a:r>
            <a:r>
              <a:rPr b="1" dirty="0" err="1">
                <a:solidFill>
                  <a:srgbClr val="4758AB"/>
                </a:solidFill>
                <a:latin typeface="Courier"/>
              </a:rPr>
              <a:t>group_by</a:t>
            </a:r>
            <a:r>
              <a:rPr b="1" dirty="0">
                <a:solidFill>
                  <a:srgbClr val="003B4F"/>
                </a:solidFill>
                <a:latin typeface="Courier"/>
              </a:rPr>
              <a:t>(status) </a:t>
            </a:r>
            <a:r>
              <a:rPr b="1" dirty="0">
                <a:solidFill>
                  <a:srgbClr val="5E5E5E"/>
                </a:solidFill>
                <a:latin typeface="Courier"/>
              </a:rPr>
              <a:t>|&gt;</a:t>
            </a:r>
            <a:br>
              <a:rPr b="1" dirty="0"/>
            </a:br>
            <a:r>
              <a:rPr b="1" dirty="0">
                <a:solidFill>
                  <a:srgbClr val="003B4F"/>
                </a:solidFill>
                <a:latin typeface="Courier"/>
              </a:rPr>
              <a:t>  </a:t>
            </a:r>
            <a:r>
              <a:rPr b="1" dirty="0">
                <a:solidFill>
                  <a:srgbClr val="4758AB"/>
                </a:solidFill>
                <a:latin typeface="Courier"/>
              </a:rPr>
              <a:t>summarize</a:t>
            </a:r>
            <a:r>
              <a:rPr b="1" dirty="0">
                <a:solidFill>
                  <a:srgbClr val="003B4F"/>
                </a:solidFill>
                <a:latin typeface="Courier"/>
              </a:rPr>
              <a:t>(</a:t>
            </a:r>
            <a:endParaRPr lang="fr-FR" b="1" dirty="0">
              <a:solidFill>
                <a:srgbClr val="003B4F"/>
              </a:solidFill>
              <a:latin typeface="Courier"/>
            </a:endParaRPr>
          </a:p>
          <a:p>
            <a:pPr indent="0">
              <a:buNone/>
            </a:pPr>
            <a:r>
              <a:rPr lang="fr-FR" b="1" dirty="0">
                <a:solidFill>
                  <a:srgbClr val="003B4F"/>
                </a:solidFill>
                <a:latin typeface="Courier"/>
              </a:rPr>
              <a:t>	</a:t>
            </a:r>
            <a:r>
              <a:rPr b="1" dirty="0" err="1">
                <a:solidFill>
                  <a:srgbClr val="657422"/>
                </a:solidFill>
                <a:latin typeface="Courier"/>
              </a:rPr>
              <a:t>mean_IFNG</a:t>
            </a:r>
            <a:r>
              <a:rPr b="1" dirty="0">
                <a:solidFill>
                  <a:srgbClr val="657422"/>
                </a:solidFill>
                <a:latin typeface="Courier"/>
              </a:rPr>
              <a:t> =</a:t>
            </a:r>
            <a:r>
              <a:rPr b="1" dirty="0">
                <a:solidFill>
                  <a:srgbClr val="003B4F"/>
                </a:solidFill>
                <a:latin typeface="Courier"/>
              </a:rPr>
              <a:t> </a:t>
            </a:r>
            <a:r>
              <a:rPr b="1" dirty="0">
                <a:solidFill>
                  <a:srgbClr val="4758AB"/>
                </a:solidFill>
                <a:latin typeface="Courier"/>
              </a:rPr>
              <a:t>mean</a:t>
            </a:r>
            <a:r>
              <a:rPr b="1" dirty="0">
                <a:solidFill>
                  <a:srgbClr val="003B4F"/>
                </a:solidFill>
                <a:latin typeface="Courier"/>
              </a:rPr>
              <a:t>(IFNG))</a:t>
            </a:r>
          </a:p>
          <a:p>
            <a:pPr indent="0">
              <a:buNone/>
            </a:pPr>
            <a:endParaRPr lang="fr-FR" dirty="0">
              <a:latin typeface="Courier"/>
            </a:endParaRPr>
          </a:p>
          <a:p>
            <a:pPr indent="0">
              <a:buNone/>
            </a:pPr>
            <a:endParaRPr lang="fr-FR" dirty="0">
              <a:latin typeface="Courier"/>
            </a:endParaRPr>
          </a:p>
          <a:p>
            <a:pPr indent="0">
              <a:buNone/>
            </a:pPr>
            <a:r>
              <a:rPr dirty="0">
                <a:latin typeface="Courier"/>
              </a:rPr>
              <a:t># A </a:t>
            </a:r>
            <a:r>
              <a:rPr dirty="0" err="1">
                <a:latin typeface="Courier"/>
              </a:rPr>
              <a:t>tibble</a:t>
            </a:r>
            <a:r>
              <a:rPr dirty="0">
                <a:latin typeface="Courier"/>
              </a:rPr>
              <a:t>: 2 × 2
  status </a:t>
            </a:r>
            <a:r>
              <a:rPr dirty="0" err="1">
                <a:latin typeface="Courier"/>
              </a:rPr>
              <a:t>mean_IFNG</a:t>
            </a:r>
            <a:r>
              <a:rPr dirty="0">
                <a:latin typeface="Courier"/>
              </a:rPr>
              <a:t>
  &lt;chr&gt;      &lt;</a:t>
            </a:r>
            <a:r>
              <a:rPr dirty="0" err="1">
                <a:latin typeface="Courier"/>
              </a:rPr>
              <a:t>dbl</a:t>
            </a:r>
            <a:r>
              <a:rPr dirty="0">
                <a:latin typeface="Courier"/>
              </a:rPr>
              <a:t>&gt;
1 HC          4.99
2 </a:t>
            </a:r>
            <a:r>
              <a:rPr dirty="0" err="1">
                <a:latin typeface="Courier"/>
              </a:rPr>
              <a:t>nCOV</a:t>
            </a:r>
            <a:r>
              <a:rPr dirty="0">
                <a:latin typeface="Courier"/>
              </a:rPr>
              <a:t>        4.12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9CD0C8C7-C5BF-53E7-9BA9-3E50F930A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Exercise</a:t>
            </a:r>
            <a:endParaRPr lang="fr-FR" dirty="0"/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F22766EA-0230-3ABE-5998-8ABC1D88AF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fr-FR" dirty="0" err="1"/>
              <a:t>Compute</a:t>
            </a:r>
            <a:r>
              <a:rPr lang="fr-FR" dirty="0"/>
              <a:t> the </a:t>
            </a:r>
            <a:r>
              <a:rPr lang="fr-FR" dirty="0" err="1"/>
              <a:t>mean</a:t>
            </a:r>
            <a:r>
              <a:rPr lang="fr-FR" dirty="0"/>
              <a:t> expression of IL1R1 in </a:t>
            </a:r>
            <a:r>
              <a:rPr lang="fr-FR" dirty="0" err="1"/>
              <a:t>healthy</a:t>
            </a:r>
            <a:r>
              <a:rPr lang="fr-FR" dirty="0"/>
              <a:t> </a:t>
            </a:r>
            <a:r>
              <a:rPr lang="fr-FR" dirty="0" err="1"/>
              <a:t>controls</a:t>
            </a:r>
            <a:r>
              <a:rPr lang="fr-FR" dirty="0"/>
              <a:t> </a:t>
            </a:r>
            <a:r>
              <a:rPr lang="fr-FR" dirty="0" err="1"/>
              <a:t>using</a:t>
            </a:r>
            <a:r>
              <a:rPr lang="fr-FR" dirty="0"/>
              <a:t> pipes and </a:t>
            </a:r>
            <a:r>
              <a:rPr lang="fr-FR" dirty="0" err="1"/>
              <a:t>dplyr</a:t>
            </a:r>
            <a:r>
              <a:rPr lang="fr-FR" dirty="0"/>
              <a:t> </a:t>
            </a:r>
            <a:r>
              <a:rPr lang="fr-FR" dirty="0" err="1"/>
              <a:t>verbs</a:t>
            </a:r>
            <a:r>
              <a:rPr lang="fr-FR" dirty="0"/>
              <a:t> (or base R if </a:t>
            </a:r>
            <a:r>
              <a:rPr lang="fr-FR" dirty="0" err="1"/>
              <a:t>you</a:t>
            </a:r>
            <a:r>
              <a:rPr lang="fr-FR" dirty="0"/>
              <a:t> </a:t>
            </a:r>
            <a:r>
              <a:rPr lang="fr-FR" dirty="0" err="1"/>
              <a:t>prefer</a:t>
            </a:r>
            <a:r>
              <a:rPr lang="fr-FR" dirty="0"/>
              <a:t>).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i="1" dirty="0"/>
              <a:t>NB: There are </a:t>
            </a:r>
            <a:r>
              <a:rPr lang="fr-FR" i="1" dirty="0" err="1"/>
              <a:t>several</a:t>
            </a:r>
            <a:r>
              <a:rPr lang="fr-FR" i="1" dirty="0"/>
              <a:t> possible solutions. Try to </a:t>
            </a:r>
            <a:r>
              <a:rPr lang="fr-FR" i="1" dirty="0" err="1"/>
              <a:t>find</a:t>
            </a:r>
            <a:r>
              <a:rPr lang="fr-FR" i="1" dirty="0"/>
              <a:t> at least </a:t>
            </a:r>
            <a:r>
              <a:rPr lang="fr-FR" i="1" dirty="0" err="1"/>
              <a:t>two</a:t>
            </a:r>
            <a:r>
              <a:rPr lang="fr-FR" i="1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4582375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2679</TotalTime>
  <Words>444</Words>
  <Application>Microsoft Macintosh PowerPoint</Application>
  <PresentationFormat>Grand écran</PresentationFormat>
  <Paragraphs>63</Paragraphs>
  <Slides>10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Courier</vt:lpstr>
      <vt:lpstr>Thème Office</vt:lpstr>
      <vt:lpstr>Introduction to dplyr</vt:lpstr>
      <vt:lpstr>Cheatsheet</vt:lpstr>
      <vt:lpstr>Présentation PowerPoint</vt:lpstr>
      <vt:lpstr>Présentation PowerPoint</vt:lpstr>
      <vt:lpstr>Exercise: read the covid data</vt:lpstr>
      <vt:lpstr>What is a tibble?</vt:lpstr>
      <vt:lpstr>These are pipes!</vt:lpstr>
      <vt:lpstr>Two very useful dplyr verbs</vt:lpstr>
      <vt:lpstr>Grouping and summarizing</vt:lpstr>
      <vt:lpstr>Exercise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Vincent  GUILLEMOT</dc:creator>
  <cp:lastModifiedBy>Vincent  GUILLEMOT</cp:lastModifiedBy>
  <cp:revision>2</cp:revision>
  <dcterms:created xsi:type="dcterms:W3CDTF">2025-05-27T06:51:50Z</dcterms:created>
  <dcterms:modified xsi:type="dcterms:W3CDTF">2025-05-31T09:43:00Z</dcterms:modified>
</cp:coreProperties>
</file>