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8" r:id="rId11"/>
    <p:sldId id="269" r:id="rId12"/>
    <p:sldId id="266" r:id="rId13"/>
    <p:sldId id="265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89384"/>
  </p:normalViewPr>
  <p:slideViewPr>
    <p:cSldViewPr snapToGrid="0">
      <p:cViewPr varScale="1">
        <p:scale>
          <a:sx n="104" d="100"/>
          <a:sy n="104" d="100"/>
        </p:scale>
        <p:origin x="232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36676F-A7BB-F958-ACB4-2B8528779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7638137-6218-EFCC-02A1-C0B840E88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C6567F-EB9B-82D6-6A01-745A31A65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4E7574-FDAC-A4B2-A61D-FE79A514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9091697-8832-AE9B-52FE-0D5D85787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58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CEF8D-EE7E-DD24-ABB7-E4471457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3486B3-BEF5-D077-31A6-4A487DC48C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2B13FE5-342B-E1FD-C5C1-F3C4B9D12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7F0B0F-3647-18CC-3EFD-93E499A79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6512B8-32CD-287C-CBFF-23A72120C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7370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68276D-D60F-B45B-0ED1-933F5A45A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3DB643-0A41-CCB6-40E2-116BFF6334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2BFDF1-81E5-3448-935A-F4BA14B75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873049-8351-4C9A-4F52-E476D8D07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FC7195-F248-D9CE-5DDF-91E18AA0A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0228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21FAAD-CB84-360F-0F12-12577FE81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CAD610-9BB6-0EC7-F074-293C0357FA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04F46DE-6E63-76E3-9E32-F9859572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3CB5D14-C52A-993B-9BED-F8A2DFD8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9C79C54-92A6-6BDE-E1E4-33B245C8F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3BC62A0-4F93-37C3-7810-99CBBF3CE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034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6E0D39-51C5-2879-5680-1AA95ACCA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A7FD52D-B858-994F-0244-9531AB2CA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5A92E0-4FD0-5894-D163-F938F37F3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8790CB7-F2FD-1608-8B6F-F63E502BE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97F136-7AF0-07AD-7D1A-F4D7EC43BD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9D64518-EDE5-0DCB-F707-F6B0B005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012C78A-4E12-689D-9604-92BDD01A6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8AAE2FC-12D6-DE33-995C-C9F83AE07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1219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6DE349-91EA-C1A3-64AF-9FA428C4D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84FB61B-FD1C-93C1-CA76-CB932714D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1F69DD-3E91-BAF9-A832-A77727C62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4220309-4B86-8638-4E8E-C748ED2D9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331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F840E08-2F93-B72A-BE23-15CA7E9F0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C32363A-6394-0A2B-0319-3B38F5CC4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2993092-E186-7787-04AA-BBEEC8080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0501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C4046-3CB7-2DEB-10A0-E0078EDE1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73107B-D0BF-806A-B5B1-D398CABDE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427CF55-2754-6FB4-0001-016098E969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5B4B1A1-E311-F331-5BAF-5F4490D6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9053D89-FE41-36CF-06E0-1AB865DDD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0EF1875-F8EB-B77B-DEF7-39A9854F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962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F2374-0A2B-E237-D757-5B92C2999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AF881F4-BEA6-E311-F461-BDBEC41071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D6D45E1-1ED1-0583-9161-30BE691670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F7867D6-3FA7-610F-3AED-6E2349B9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F32B4D-929A-63B9-ED24-B94B75D56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3333293-DF7A-686B-8EC2-2E7E39AC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7953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5E201E-E91D-BA1E-FA5C-220EDAD79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A10FE67-E8B3-F2CA-801C-4749798EB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FD365F-12C7-C459-3A6D-7A2EDAC77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1E0C0B-FD02-81F7-3C48-96CE32720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8F9D45-6A9F-132E-E751-06DC3854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2615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53D2AD1-0C9E-0D24-9B6D-C8915D83CF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C946812-EB05-AF3C-E2B8-CECCEA6C5C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B3394C-0A77-D7FC-9210-57111E503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BCD731-A432-0296-9917-8C064D541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11D6A9-02A4-115D-CBD3-B276BF37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9756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75EE98B-4AD7-52BE-852D-20C3BB4BA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4442473-9378-2D24-49F4-C387FD446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7E43E9-98CA-4E92-39F6-64697C6E65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C377B-A7B9-3145-8762-6AFC267F785D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53EC77-1DED-3737-998D-9A4672FD38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5BEE75-5AA0-EED0-351B-816E11624C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5F7FE-09DC-484B-A9F7-3B0105B782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942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data-to-viz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allison_horst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E56EC1-0B53-E922-1EFF-752E072AE2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Introduction to ggplot2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2D3D0D6-0FDC-69BF-201C-3021A4C851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1135698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D85796-4529-5C68-700B-DF1A8AAF5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Cheatsheet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21E2D5-9697-395A-63A7-E012399EA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data-</a:t>
            </a:r>
            <a:r>
              <a:rPr lang="fr-FR" dirty="0" err="1"/>
              <a:t>visualization.pdf</a:t>
            </a:r>
            <a:endParaRPr lang="fr-FR" dirty="0"/>
          </a:p>
        </p:txBody>
      </p:sp>
      <p:pic>
        <p:nvPicPr>
          <p:cNvPr id="1026" name="Picture 2" descr="Data visualization with ggplot2 :: Cheat Sheet">
            <a:extLst>
              <a:ext uri="{FF2B5EF4-FFF2-40B4-BE49-F238E27FC236}">
                <a16:creationId xmlns:a16="http://schemas.microsoft.com/office/drawing/2014/main" id="{ED6A8114-E995-844B-F7AA-E897E106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1983" y="768350"/>
            <a:ext cx="1208167" cy="1394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1562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A12D53F5-53EA-0A45-5EFA-081E9229C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716" y="0"/>
            <a:ext cx="8886568" cy="685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57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470CB008-190E-545C-3601-50FDAECF5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894" y="5883"/>
            <a:ext cx="8874211" cy="685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129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230AAE-1F25-35B0-4F3D-5F86CBEB5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From</a:t>
            </a:r>
            <a:r>
              <a:rPr lang="fr-FR" dirty="0"/>
              <a:t> data-to-</a:t>
            </a:r>
            <a:r>
              <a:rPr lang="fr-FR" dirty="0" err="1"/>
              <a:t>viz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773417-75A5-E3EE-A590-83FE69463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To </a:t>
            </a:r>
            <a:r>
              <a:rPr lang="fr-FR" dirty="0" err="1"/>
              <a:t>get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graphical</a:t>
            </a:r>
            <a:r>
              <a:rPr lang="fr-FR" dirty="0"/>
              <a:t> insights</a:t>
            </a:r>
          </a:p>
          <a:p>
            <a:pPr marL="0" indent="0">
              <a:buNone/>
            </a:pPr>
            <a:r>
              <a:rPr lang="fr-FR" dirty="0">
                <a:hlinkClick r:id="rId2"/>
              </a:rPr>
              <a:t>https://www.data-to-viz.com/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F2927CA-CE54-EBB9-B4EE-E4ABC01CD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324" y="681037"/>
            <a:ext cx="54991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08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Barplot of the number of observations per subject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>
                <a:solidFill>
                  <a:srgbClr val="003B4F"/>
                </a:solidFill>
                <a:latin typeface="Courier"/>
              </a:rPr>
              <a:t>covid </a:t>
            </a:r>
            <a:r>
              <a:rPr dirty="0">
                <a:solidFill>
                  <a:srgbClr val="5E5E5E"/>
                </a:solidFill>
                <a:latin typeface="Courier"/>
              </a:rPr>
              <a:t>|&gt;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4758AB"/>
                </a:solidFill>
                <a:latin typeface="Courier"/>
              </a:rPr>
              <a:t>ggplot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4758AB"/>
                </a:solidFill>
                <a:latin typeface="Courier"/>
              </a:rPr>
              <a:t>aes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dirty="0">
                <a:solidFill>
                  <a:srgbClr val="657422"/>
                </a:solidFill>
                <a:latin typeface="Courier"/>
              </a:rPr>
              <a:t>x = </a:t>
            </a:r>
            <a:r>
              <a:rPr dirty="0">
                <a:solidFill>
                  <a:srgbClr val="003B4F"/>
                </a:solidFill>
                <a:latin typeface="Courier"/>
              </a:rPr>
              <a:t>id, </a:t>
            </a:r>
            <a:r>
              <a:rPr dirty="0">
                <a:solidFill>
                  <a:srgbClr val="657422"/>
                </a:solidFill>
                <a:latin typeface="Courier"/>
              </a:rPr>
              <a:t>fill =</a:t>
            </a:r>
            <a:r>
              <a:rPr dirty="0">
                <a:solidFill>
                  <a:srgbClr val="003B4F"/>
                </a:solidFill>
                <a:latin typeface="Courier"/>
              </a:rPr>
              <a:t> id)) </a:t>
            </a:r>
            <a:r>
              <a:rPr dirty="0">
                <a:solidFill>
                  <a:srgbClr val="5E5E5E"/>
                </a:solidFill>
                <a:latin typeface="Courier"/>
              </a:rPr>
              <a:t>+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4758AB"/>
                </a:solidFill>
                <a:latin typeface="Courier"/>
              </a:rPr>
              <a:t>geom_bar</a:t>
            </a:r>
            <a:r>
              <a:rPr dirty="0"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id="3" name="Picture 1" descr="99_slides_with_code_files/figure-pptx/unnamed-chunk-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20313" y="2773363"/>
            <a:ext cx="68072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25B1-C7FA-373B-F8E5-5DBC72093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24E23-0483-25DA-E651-84C5C0687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Barplot of the number of observations per subject</a:t>
            </a:r>
          </a:p>
        </p:txBody>
      </p:sp>
      <p:sp>
        <p:nvSpPr>
          <p:cNvPr id="5" name="Légende encadrée 2 4">
            <a:extLst>
              <a:ext uri="{FF2B5EF4-FFF2-40B4-BE49-F238E27FC236}">
                <a16:creationId xmlns:a16="http://schemas.microsoft.com/office/drawing/2014/main" id="{E3A0DF76-BBC1-0A7C-20C6-676A527323D2}"/>
              </a:ext>
            </a:extLst>
          </p:cNvPr>
          <p:cNvSpPr/>
          <p:nvPr/>
        </p:nvSpPr>
        <p:spPr>
          <a:xfrm>
            <a:off x="5961320" y="1526955"/>
            <a:ext cx="1983859" cy="612648"/>
          </a:xfrm>
          <a:prstGeom prst="borderCallout2">
            <a:avLst>
              <a:gd name="adj1" fmla="val 39576"/>
              <a:gd name="adj2" fmla="val -4581"/>
              <a:gd name="adj3" fmla="val 62137"/>
              <a:gd name="adj4" fmla="val -62536"/>
              <a:gd name="adj5" fmla="val 195804"/>
              <a:gd name="adj6" fmla="val -8981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Use </a:t>
            </a:r>
            <a:r>
              <a:rPr lang="fr-FR" dirty="0" err="1"/>
              <a:t>your</a:t>
            </a:r>
            <a:r>
              <a:rPr lang="fr-FR" dirty="0"/>
              <a:t> favorite pipe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16637B95-15C0-573E-C6EA-CA09C038252F}"/>
              </a:ext>
            </a:extLst>
          </p:cNvPr>
          <p:cNvSpPr/>
          <p:nvPr/>
        </p:nvSpPr>
        <p:spPr>
          <a:xfrm rot="5400000">
            <a:off x="7248267" y="2128453"/>
            <a:ext cx="230657" cy="36349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36B52A-CA09-C1FC-197A-C016BA473043}"/>
              </a:ext>
            </a:extLst>
          </p:cNvPr>
          <p:cNvSpPr/>
          <p:nvPr/>
        </p:nvSpPr>
        <p:spPr>
          <a:xfrm>
            <a:off x="6046572" y="4142604"/>
            <a:ext cx="2644873" cy="46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Aesthetic</a:t>
            </a:r>
            <a:r>
              <a:rPr lang="fr-FR" dirty="0"/>
              <a:t> </a:t>
            </a:r>
            <a:r>
              <a:rPr lang="fr-FR" dirty="0" err="1"/>
              <a:t>parameters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757E3CE-F1EE-E3F1-7A3D-9C8EFBA34DCB}"/>
              </a:ext>
            </a:extLst>
          </p:cNvPr>
          <p:cNvSpPr txBox="1"/>
          <p:nvPr/>
        </p:nvSpPr>
        <p:spPr>
          <a:xfrm>
            <a:off x="1957502" y="2593480"/>
            <a:ext cx="31581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dirty="0">
                <a:solidFill>
                  <a:srgbClr val="003B4F"/>
                </a:solidFill>
                <a:latin typeface="Courier"/>
              </a:rPr>
              <a:t>covid </a:t>
            </a:r>
            <a:r>
              <a:rPr lang="fr-FR" sz="3600" dirty="0">
                <a:solidFill>
                  <a:srgbClr val="5E5E5E"/>
                </a:solidFill>
                <a:latin typeface="Courier"/>
              </a:rPr>
              <a:t>|&gt;</a:t>
            </a:r>
            <a:endParaRPr lang="fr-FR" sz="360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B05BF5B-1E8A-5C87-C70F-34797ED744C5}"/>
              </a:ext>
            </a:extLst>
          </p:cNvPr>
          <p:cNvSpPr txBox="1"/>
          <p:nvPr/>
        </p:nvSpPr>
        <p:spPr>
          <a:xfrm>
            <a:off x="2381765" y="3319153"/>
            <a:ext cx="91429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dirty="0" err="1">
                <a:solidFill>
                  <a:srgbClr val="4758AB"/>
                </a:solidFill>
                <a:latin typeface="Courier"/>
              </a:rPr>
              <a:t>ggplot</a:t>
            </a:r>
            <a:r>
              <a:rPr lang="fr-FR" sz="3600"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sz="3600" dirty="0" err="1">
                <a:solidFill>
                  <a:srgbClr val="4758AB"/>
                </a:solidFill>
                <a:latin typeface="Courier"/>
              </a:rPr>
              <a:t>aes</a:t>
            </a:r>
            <a:r>
              <a:rPr lang="fr-FR" sz="3600"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sz="3600" dirty="0">
                <a:solidFill>
                  <a:srgbClr val="657422"/>
                </a:solidFill>
                <a:latin typeface="Courier"/>
              </a:rPr>
              <a:t>x = </a:t>
            </a:r>
            <a:r>
              <a:rPr lang="fr-FR" sz="3600" dirty="0">
                <a:solidFill>
                  <a:srgbClr val="003B4F"/>
                </a:solidFill>
                <a:latin typeface="Courier"/>
              </a:rPr>
              <a:t>id, </a:t>
            </a:r>
            <a:r>
              <a:rPr lang="fr-FR" sz="3600" dirty="0" err="1">
                <a:solidFill>
                  <a:srgbClr val="657422"/>
                </a:solidFill>
                <a:latin typeface="Courier"/>
              </a:rPr>
              <a:t>fill</a:t>
            </a:r>
            <a:r>
              <a:rPr lang="fr-FR" sz="3600" dirty="0">
                <a:solidFill>
                  <a:srgbClr val="657422"/>
                </a:solidFill>
                <a:latin typeface="Courier"/>
              </a:rPr>
              <a:t> =</a:t>
            </a:r>
            <a:r>
              <a:rPr lang="fr-FR" sz="3600" dirty="0">
                <a:solidFill>
                  <a:srgbClr val="003B4F"/>
                </a:solidFill>
                <a:latin typeface="Courier"/>
              </a:rPr>
              <a:t> id)) </a:t>
            </a:r>
            <a:r>
              <a:rPr lang="fr-FR" sz="3600" dirty="0">
                <a:solidFill>
                  <a:srgbClr val="5E5E5E"/>
                </a:solidFill>
                <a:latin typeface="Courier"/>
              </a:rPr>
              <a:t>+</a:t>
            </a:r>
            <a:r>
              <a:rPr lang="fr-FR" sz="3600" dirty="0">
                <a:solidFill>
                  <a:srgbClr val="003B4F"/>
                </a:solidFill>
                <a:latin typeface="Courier"/>
              </a:rPr>
              <a:t> </a:t>
            </a:r>
            <a:endParaRPr lang="fr-FR" sz="360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2EC2EE-4973-AF74-463D-269E0801323B}"/>
              </a:ext>
            </a:extLst>
          </p:cNvPr>
          <p:cNvSpPr txBox="1"/>
          <p:nvPr/>
        </p:nvSpPr>
        <p:spPr>
          <a:xfrm>
            <a:off x="2381765" y="4142604"/>
            <a:ext cx="60980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dirty="0" err="1">
                <a:solidFill>
                  <a:srgbClr val="4758AB"/>
                </a:solidFill>
                <a:latin typeface="Courier"/>
              </a:rPr>
              <a:t>geom_bar</a:t>
            </a:r>
            <a:r>
              <a:rPr lang="fr-FR" sz="3600" dirty="0">
                <a:solidFill>
                  <a:srgbClr val="003B4F"/>
                </a:solidFill>
                <a:latin typeface="Courier"/>
              </a:rPr>
              <a:t>()</a:t>
            </a:r>
            <a:endParaRPr lang="fr-FR" sz="3600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C2F46D4-0EBB-0B9D-08C0-AFA16DFAFA64}"/>
              </a:ext>
            </a:extLst>
          </p:cNvPr>
          <p:cNvSpPr/>
          <p:nvPr/>
        </p:nvSpPr>
        <p:spPr>
          <a:xfrm>
            <a:off x="10692713" y="3208639"/>
            <a:ext cx="852616" cy="852616"/>
          </a:xfrm>
          <a:custGeom>
            <a:avLst/>
            <a:gdLst>
              <a:gd name="connsiteX0" fmla="*/ 0 w 852616"/>
              <a:gd name="connsiteY0" fmla="*/ 426308 h 852616"/>
              <a:gd name="connsiteX1" fmla="*/ 426308 w 852616"/>
              <a:gd name="connsiteY1" fmla="*/ 0 h 852616"/>
              <a:gd name="connsiteX2" fmla="*/ 852616 w 852616"/>
              <a:gd name="connsiteY2" fmla="*/ 426308 h 852616"/>
              <a:gd name="connsiteX3" fmla="*/ 426308 w 852616"/>
              <a:gd name="connsiteY3" fmla="*/ 852616 h 852616"/>
              <a:gd name="connsiteX4" fmla="*/ 0 w 852616"/>
              <a:gd name="connsiteY4" fmla="*/ 426308 h 852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2616" h="852616" extrusionOk="0">
                <a:moveTo>
                  <a:pt x="0" y="426308"/>
                </a:moveTo>
                <a:cubicBezTo>
                  <a:pt x="-58118" y="155017"/>
                  <a:pt x="185425" y="2042"/>
                  <a:pt x="426308" y="0"/>
                </a:cubicBezTo>
                <a:cubicBezTo>
                  <a:pt x="676463" y="3097"/>
                  <a:pt x="837718" y="191339"/>
                  <a:pt x="852616" y="426308"/>
                </a:cubicBezTo>
                <a:cubicBezTo>
                  <a:pt x="812949" y="700488"/>
                  <a:pt x="650193" y="916499"/>
                  <a:pt x="426308" y="852616"/>
                </a:cubicBezTo>
                <a:cubicBezTo>
                  <a:pt x="152850" y="831817"/>
                  <a:pt x="43953" y="682752"/>
                  <a:pt x="0" y="426308"/>
                </a:cubicBezTo>
                <a:close/>
              </a:path>
            </a:pathLst>
          </a:custGeom>
          <a:noFill/>
          <a:ln w="82550" cap="rnd" cmpd="dbl">
            <a:solidFill>
              <a:srgbClr val="FF0000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Légende encadrée 2 16">
            <a:extLst>
              <a:ext uri="{FF2B5EF4-FFF2-40B4-BE49-F238E27FC236}">
                <a16:creationId xmlns:a16="http://schemas.microsoft.com/office/drawing/2014/main" id="{D7316984-F354-F965-4724-1681E9361076}"/>
              </a:ext>
            </a:extLst>
          </p:cNvPr>
          <p:cNvSpPr/>
          <p:nvPr/>
        </p:nvSpPr>
        <p:spPr>
          <a:xfrm>
            <a:off x="4386648" y="5152767"/>
            <a:ext cx="1458098" cy="612648"/>
          </a:xfrm>
          <a:prstGeom prst="borderCallout2">
            <a:avLst>
              <a:gd name="adj1" fmla="val 18750"/>
              <a:gd name="adj2" fmla="val -8333"/>
              <a:gd name="adj3" fmla="val 20767"/>
              <a:gd name="adj4" fmla="val -38289"/>
              <a:gd name="adj5" fmla="val -62974"/>
              <a:gd name="adj6" fmla="val -4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Geometry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2023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9" presetClass="entr" presetSubtype="10" repeatCount="indefinite" fill="hold" grpId="3" nodeType="after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9" grpId="0"/>
      <p:bldP spid="11" grpId="0"/>
      <p:bldP spid="13" grpId="0"/>
      <p:bldP spid="16" grpId="0" animBg="1"/>
      <p:bldP spid="16" grpId="1" animBg="1"/>
      <p:bldP spid="16" grpId="3" animBg="1"/>
      <p:bldP spid="17" grpId="0" animBg="1"/>
      <p:bldP spid="17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FC1D54-7600-BF78-FCCF-5FA11CCD5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Experimenting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ggplot2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F97933-CF8E-0798-393F-AB5F1151E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Open the script called “ggplot2_experiment.R”: what does each individual command do?</a:t>
            </a:r>
          </a:p>
        </p:txBody>
      </p:sp>
    </p:spTree>
    <p:extLst>
      <p:ext uri="{BB962C8B-B14F-4D97-AF65-F5344CB8AC3E}">
        <p14:creationId xmlns:p14="http://schemas.microsoft.com/office/powerpoint/2010/main" val="1747315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533D52D7-7DD7-C983-F3E7-4D370733F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1517" y="0"/>
            <a:ext cx="9108966" cy="685800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482E867-FC0E-93DB-2D73-50D8A72F78EC}"/>
              </a:ext>
            </a:extLst>
          </p:cNvPr>
          <p:cNvSpPr txBox="1"/>
          <p:nvPr/>
        </p:nvSpPr>
        <p:spPr>
          <a:xfrm>
            <a:off x="0" y="6396335"/>
            <a:ext cx="16048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u="sng" dirty="0">
                <a:solidFill>
                  <a:srgbClr val="0024B0"/>
                </a:solidFill>
                <a:effectLst/>
                <a:latin typeface="ksqy"/>
                <a:hlinkClick r:id="rId3"/>
              </a:rPr>
              <a:t>Artwork by @allison_horst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694262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8C28B0-B1C3-BE16-1728-A7CA7931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[G]</a:t>
            </a:r>
            <a:r>
              <a:rPr lang="fr-FR" dirty="0" err="1"/>
              <a:t>rammar</a:t>
            </a:r>
            <a:r>
              <a:rPr lang="fr-FR" dirty="0"/>
              <a:t> of [G]</a:t>
            </a:r>
            <a:r>
              <a:rPr lang="fr-FR" dirty="0" err="1"/>
              <a:t>raphics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BBD7390-6983-4285-E652-E86D9D3CE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0800" y="2407444"/>
            <a:ext cx="9550400" cy="3187700"/>
          </a:xfrm>
        </p:spPr>
      </p:pic>
    </p:spTree>
    <p:extLst>
      <p:ext uri="{BB962C8B-B14F-4D97-AF65-F5344CB8AC3E}">
        <p14:creationId xmlns:p14="http://schemas.microsoft.com/office/powerpoint/2010/main" val="629863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A75DFE1-7DA0-49A6-F9D3-DD5FEA99B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Implémentation dans ggplot2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B908DDC8-9A5E-B2B4-E980-59BE5D0656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65302" y="1825625"/>
            <a:ext cx="2995396" cy="4351338"/>
          </a:xfrm>
        </p:spPr>
      </p:pic>
      <p:graphicFrame>
        <p:nvGraphicFramePr>
          <p:cNvPr id="9" name="Content Placeholder 5">
            <a:extLst>
              <a:ext uri="{FF2B5EF4-FFF2-40B4-BE49-F238E27FC236}">
                <a16:creationId xmlns:a16="http://schemas.microsoft.com/office/drawing/2014/main" id="{1D0078D1-21F1-9497-FC86-0B18BA57695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323159758"/>
              </p:ext>
            </p:extLst>
          </p:nvPr>
        </p:nvGraphicFramePr>
        <p:xfrm>
          <a:off x="625134" y="2205383"/>
          <a:ext cx="6427906" cy="3591822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1315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50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604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fr-FR" sz="1600" dirty="0"/>
                        <a:t>Data</a:t>
                      </a:r>
                      <a:endParaRPr sz="1600" dirty="0"/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400" dirty="0"/>
                        <a:t>data</a:t>
                      </a:r>
                      <a:endParaRPr sz="1400" dirty="0">
                        <a:latin typeface="Courier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fr-FR" sz="1400" dirty="0" err="1"/>
                        <a:t>Dataset</a:t>
                      </a:r>
                      <a:r>
                        <a:rPr lang="fr-FR" sz="1400" dirty="0"/>
                        <a:t> (data-frame or </a:t>
                      </a:r>
                      <a:r>
                        <a:rPr lang="fr-FR" sz="1400" dirty="0" err="1"/>
                        <a:t>tibble</a:t>
                      </a:r>
                      <a:r>
                        <a:rPr lang="fr-FR" sz="1400" dirty="0"/>
                        <a:t>) </a:t>
                      </a:r>
                      <a:r>
                        <a:rPr lang="fr-FR" sz="1400" dirty="0" err="1"/>
                        <a:t>containing</a:t>
                      </a:r>
                      <a:r>
                        <a:rPr lang="fr-FR" sz="1400" dirty="0"/>
                        <a:t> the data </a:t>
                      </a:r>
                      <a:r>
                        <a:rPr lang="fr-FR" sz="1400" dirty="0" err="1"/>
                        <a:t>that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needs</a:t>
                      </a:r>
                      <a:r>
                        <a:rPr lang="fr-FR" sz="1400" dirty="0"/>
                        <a:t> to </a:t>
                      </a:r>
                      <a:r>
                        <a:rPr lang="fr-FR" sz="1400" dirty="0" err="1"/>
                        <a:t>be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drawn</a:t>
                      </a:r>
                      <a:r>
                        <a:rPr lang="fr-FR" sz="1400" dirty="0"/>
                        <a:t> </a:t>
                      </a:r>
                      <a:endParaRPr sz="1400" dirty="0"/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693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fr-FR" sz="1600" dirty="0" err="1"/>
                        <a:t>Geometries</a:t>
                      </a:r>
                      <a:endParaRPr sz="1600" dirty="0"/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400" dirty="0" err="1"/>
                        <a:t>geom</a:t>
                      </a:r>
                      <a:r>
                        <a:rPr sz="1400" dirty="0"/>
                        <a:t>_</a:t>
                      </a:r>
                      <a:endParaRPr sz="1400" dirty="0">
                        <a:latin typeface="Courier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fr-FR" sz="1400" dirty="0" err="1"/>
                        <a:t>Graphical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objects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used</a:t>
                      </a:r>
                      <a:r>
                        <a:rPr lang="fr-FR" sz="1400" dirty="0"/>
                        <a:t> to </a:t>
                      </a:r>
                      <a:r>
                        <a:rPr lang="fr-FR" sz="1400" dirty="0" err="1"/>
                        <a:t>represent</a:t>
                      </a:r>
                      <a:r>
                        <a:rPr lang="fr-FR" sz="1400" dirty="0"/>
                        <a:t> the </a:t>
                      </a:r>
                      <a:r>
                        <a:rPr lang="fr-FR" sz="1400" dirty="0" err="1"/>
                        <a:t>chosen</a:t>
                      </a:r>
                      <a:r>
                        <a:rPr lang="fr-FR" sz="1400" dirty="0"/>
                        <a:t> data </a:t>
                      </a:r>
                      <a:r>
                        <a:rPr lang="fr-FR" sz="1400" dirty="0" err="1"/>
                        <a:t>into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shapes</a:t>
                      </a:r>
                      <a:r>
                        <a:rPr lang="fr-FR" sz="1400" dirty="0"/>
                        <a:t>, </a:t>
                      </a:r>
                      <a:r>
                        <a:rPr lang="fr-FR" sz="1400" dirty="0" err="1"/>
                        <a:t>colors</a:t>
                      </a:r>
                      <a:r>
                        <a:rPr lang="fr-FR" sz="1400" dirty="0"/>
                        <a:t>, dots etc…</a:t>
                      </a:r>
                      <a:endParaRPr sz="1400" dirty="0"/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68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fr-FR" sz="1600" dirty="0" err="1"/>
                        <a:t>Aesthetics</a:t>
                      </a:r>
                      <a:endParaRPr sz="1600" dirty="0"/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400" dirty="0" err="1"/>
                        <a:t>aes</a:t>
                      </a:r>
                      <a:r>
                        <a:rPr sz="1400" dirty="0"/>
                        <a:t>()</a:t>
                      </a:r>
                      <a:endParaRPr sz="1400" dirty="0">
                        <a:latin typeface="Courier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fr-FR" sz="1400" dirty="0" err="1"/>
                        <a:t>Aesthetics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parameters</a:t>
                      </a:r>
                      <a:r>
                        <a:rPr lang="fr-FR" sz="1400" dirty="0"/>
                        <a:t>, </a:t>
                      </a:r>
                      <a:r>
                        <a:rPr lang="fr-FR" sz="1400" dirty="0" err="1"/>
                        <a:t>meaning</a:t>
                      </a:r>
                      <a:r>
                        <a:rPr lang="fr-FR" sz="1400" dirty="0"/>
                        <a:t> the type of </a:t>
                      </a:r>
                      <a:r>
                        <a:rPr lang="fr-FR" sz="1400" dirty="0" err="1"/>
                        <a:t>graphical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property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that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needs</a:t>
                      </a:r>
                      <a:r>
                        <a:rPr lang="fr-FR" sz="1400" dirty="0"/>
                        <a:t> to </a:t>
                      </a:r>
                      <a:r>
                        <a:rPr lang="fr-FR" sz="1400" dirty="0" err="1"/>
                        <a:t>be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associated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with</a:t>
                      </a:r>
                      <a:r>
                        <a:rPr lang="fr-FR" sz="1400" dirty="0"/>
                        <a:t> a </a:t>
                      </a:r>
                      <a:r>
                        <a:rPr lang="fr-FR" sz="1400" dirty="0" err="1"/>
                        <a:t>column</a:t>
                      </a:r>
                      <a:r>
                        <a:rPr lang="fr-FR" sz="1400" dirty="0"/>
                        <a:t> of the </a:t>
                      </a:r>
                      <a:r>
                        <a:rPr lang="fr-FR" sz="1400" dirty="0" err="1"/>
                        <a:t>dataset</a:t>
                      </a:r>
                      <a:r>
                        <a:rPr lang="fr-FR" sz="1400" dirty="0"/>
                        <a:t>.</a:t>
                      </a:r>
                      <a:endParaRPr sz="1400" dirty="0"/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0228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fr-FR" sz="1600" dirty="0" err="1"/>
                        <a:t>Scales</a:t>
                      </a:r>
                      <a:endParaRPr sz="1600" dirty="0"/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400" dirty="0"/>
                        <a:t>scale_</a:t>
                      </a:r>
                      <a:endParaRPr sz="1400" dirty="0">
                        <a:latin typeface="Courier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fr-FR" sz="1400" dirty="0" err="1"/>
                        <a:t>Functions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used</a:t>
                      </a:r>
                      <a:r>
                        <a:rPr lang="fr-FR" sz="1400" dirty="0"/>
                        <a:t> to </a:t>
                      </a:r>
                      <a:r>
                        <a:rPr lang="fr-FR" sz="1400" dirty="0" err="1"/>
                        <a:t>customize</a:t>
                      </a:r>
                      <a:r>
                        <a:rPr lang="fr-FR" sz="1400" dirty="0"/>
                        <a:t> the transformation of values (</a:t>
                      </a:r>
                      <a:r>
                        <a:rPr lang="fr-FR" sz="1400" dirty="0" err="1"/>
                        <a:t>from</a:t>
                      </a:r>
                      <a:r>
                        <a:rPr lang="fr-FR" sz="1400" dirty="0"/>
                        <a:t> the </a:t>
                      </a:r>
                      <a:r>
                        <a:rPr lang="fr-FR" sz="1400" dirty="0" err="1"/>
                        <a:t>dataset</a:t>
                      </a:r>
                      <a:r>
                        <a:rPr lang="fr-FR" sz="1400" dirty="0"/>
                        <a:t>) </a:t>
                      </a:r>
                      <a:r>
                        <a:rPr lang="fr-FR" sz="1400" dirty="0" err="1"/>
                        <a:t>into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graphical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objects</a:t>
                      </a:r>
                      <a:r>
                        <a:rPr lang="fr-FR" sz="1400" dirty="0"/>
                        <a:t>. A </a:t>
                      </a:r>
                      <a:r>
                        <a:rPr lang="fr-FR" sz="1400" dirty="0" err="1"/>
                        <a:t>scale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function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needs</a:t>
                      </a:r>
                      <a:r>
                        <a:rPr lang="fr-FR" sz="1400" dirty="0"/>
                        <a:t> to </a:t>
                      </a:r>
                      <a:r>
                        <a:rPr lang="fr-FR" sz="1400" dirty="0" err="1"/>
                        <a:t>be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associated</a:t>
                      </a:r>
                      <a:r>
                        <a:rPr lang="fr-FR" sz="1400" dirty="0"/>
                        <a:t> to an </a:t>
                      </a:r>
                      <a:r>
                        <a:rPr lang="fr-FR" sz="1400" dirty="0" err="1"/>
                        <a:t>aesthetic</a:t>
                      </a:r>
                      <a:r>
                        <a:rPr lang="fr-FR" sz="1400" dirty="0"/>
                        <a:t> </a:t>
                      </a:r>
                      <a:r>
                        <a:rPr lang="fr-FR" sz="1400" dirty="0" err="1"/>
                        <a:t>parameter</a:t>
                      </a:r>
                      <a:r>
                        <a:rPr lang="fr-FR" sz="1400" dirty="0"/>
                        <a:t>. </a:t>
                      </a:r>
                      <a:endParaRPr sz="1400" dirty="0"/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584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201F5D-3800-22B2-F2A3-C6F12A102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1F02D2-E268-6693-4F72-4E9E490C8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err="1"/>
              <a:t>Create</a:t>
            </a:r>
            <a:r>
              <a:rPr lang="fr-FR" dirty="0"/>
              <a:t> a </a:t>
            </a:r>
            <a:r>
              <a:rPr lang="fr-FR" b="1" u="sng" dirty="0" err="1"/>
              <a:t>histogram</a:t>
            </a:r>
            <a:r>
              <a:rPr lang="fr-FR" dirty="0"/>
              <a:t> of the expression of IFNG for </a:t>
            </a:r>
          </a:p>
          <a:p>
            <a:r>
              <a:rPr lang="fr-FR" dirty="0"/>
              <a:t>all </a:t>
            </a:r>
            <a:r>
              <a:rPr lang="fr-FR" dirty="0" err="1"/>
              <a:t>subjects</a:t>
            </a:r>
            <a:endParaRPr lang="fr-FR" dirty="0"/>
          </a:p>
          <a:p>
            <a:r>
              <a:rPr lang="fr-FR" dirty="0" err="1"/>
              <a:t>healthy</a:t>
            </a:r>
            <a:r>
              <a:rPr lang="fr-FR" dirty="0"/>
              <a:t> </a:t>
            </a:r>
            <a:r>
              <a:rPr lang="fr-FR" dirty="0" err="1"/>
              <a:t>controls</a:t>
            </a:r>
            <a:r>
              <a:rPr lang="fr-FR" dirty="0"/>
              <a:t> </a:t>
            </a:r>
            <a:r>
              <a:rPr lang="fr-FR" dirty="0" err="1"/>
              <a:t>only</a:t>
            </a: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99862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DB961A-C2BA-B884-1622-A9EBA2F8F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Conclusion: </a:t>
            </a:r>
            <a:r>
              <a:rPr lang="fr-FR" dirty="0" err="1"/>
              <a:t>everything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customizable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9D0869-8749-E653-F93E-6775D5196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Aesthetics</a:t>
            </a:r>
            <a:r>
              <a:rPr lang="fr-FR" dirty="0"/>
              <a:t>: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columns</a:t>
            </a:r>
            <a:r>
              <a:rPr lang="fr-FR" dirty="0"/>
              <a:t> of the </a:t>
            </a:r>
            <a:r>
              <a:rPr lang="fr-FR" dirty="0" err="1"/>
              <a:t>dataset</a:t>
            </a:r>
            <a:r>
              <a:rPr lang="fr-FR" dirty="0"/>
              <a:t> are </a:t>
            </a:r>
            <a:r>
              <a:rPr lang="fr-FR" dirty="0" err="1"/>
              <a:t>transformed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graphical</a:t>
            </a:r>
            <a:r>
              <a:rPr lang="fr-FR" dirty="0"/>
              <a:t> </a:t>
            </a:r>
            <a:r>
              <a:rPr lang="fr-FR" dirty="0" err="1"/>
              <a:t>objects</a:t>
            </a:r>
            <a:endParaRPr lang="fr-FR" dirty="0"/>
          </a:p>
          <a:p>
            <a:r>
              <a:rPr lang="fr-FR" dirty="0" err="1"/>
              <a:t>Geometries</a:t>
            </a:r>
            <a:r>
              <a:rPr lang="fr-FR" dirty="0"/>
              <a:t>: the </a:t>
            </a:r>
            <a:r>
              <a:rPr lang="fr-FR" dirty="0" err="1"/>
              <a:t>graphical</a:t>
            </a:r>
            <a:r>
              <a:rPr lang="fr-FR" dirty="0"/>
              <a:t> </a:t>
            </a:r>
            <a:r>
              <a:rPr lang="fr-FR" dirty="0" err="1"/>
              <a:t>objects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</a:t>
            </a:r>
            <a:r>
              <a:rPr lang="fr-FR" dirty="0" err="1"/>
              <a:t>create</a:t>
            </a:r>
            <a:r>
              <a:rPr lang="fr-FR" dirty="0"/>
              <a:t> the graph</a:t>
            </a:r>
          </a:p>
          <a:p>
            <a:r>
              <a:rPr lang="fr-FR" dirty="0" err="1"/>
              <a:t>Scales</a:t>
            </a:r>
            <a:r>
              <a:rPr lang="fr-FR" dirty="0"/>
              <a:t>: how the values are </a:t>
            </a:r>
            <a:r>
              <a:rPr lang="fr-FR" dirty="0" err="1"/>
              <a:t>transformed</a:t>
            </a:r>
            <a:endParaRPr lang="fr-FR" dirty="0"/>
          </a:p>
          <a:p>
            <a:r>
              <a:rPr lang="fr-FR" dirty="0" err="1"/>
              <a:t>Theme</a:t>
            </a:r>
            <a:r>
              <a:rPr lang="fr-FR" dirty="0"/>
              <a:t>: </a:t>
            </a:r>
            <a:r>
              <a:rPr lang="fr-FR" dirty="0" err="1"/>
              <a:t>general</a:t>
            </a:r>
            <a:r>
              <a:rPr lang="fr-FR" dirty="0"/>
              <a:t> </a:t>
            </a:r>
            <a:r>
              <a:rPr lang="fr-FR" dirty="0" err="1"/>
              <a:t>parameters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5210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E6A893-1208-F72D-7183-BF5B78FFF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aesthetic</a:t>
            </a:r>
            <a:r>
              <a:rPr lang="fr-FR" dirty="0"/>
              <a:t> </a:t>
            </a:r>
            <a:r>
              <a:rPr lang="fr-FR" dirty="0" err="1"/>
              <a:t>parameters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890F24-1F12-F29B-7C63-526940204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Fix the script “ggplot2_aesthetics.R”!</a:t>
            </a:r>
          </a:p>
        </p:txBody>
      </p:sp>
    </p:spTree>
    <p:extLst>
      <p:ext uri="{BB962C8B-B14F-4D97-AF65-F5344CB8AC3E}">
        <p14:creationId xmlns:p14="http://schemas.microsoft.com/office/powerpoint/2010/main" val="466365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34E000-E7BA-D91B-4FD1-6970E252D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creative</a:t>
            </a:r>
            <a:r>
              <a:rPr lang="fr-FR" dirty="0"/>
              <a:t>!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A65CE5-88AC-E564-BAD1-152BACF91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err="1"/>
              <a:t>What</a:t>
            </a:r>
            <a:r>
              <a:rPr lang="fr-FR" dirty="0"/>
              <a:t> 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to plot </a:t>
            </a:r>
            <a:r>
              <a:rPr lang="fr-FR" dirty="0" err="1"/>
              <a:t>from</a:t>
            </a:r>
            <a:r>
              <a:rPr lang="fr-FR" dirty="0"/>
              <a:t> the COVID </a:t>
            </a:r>
            <a:r>
              <a:rPr lang="fr-FR" dirty="0" err="1"/>
              <a:t>dataset</a:t>
            </a:r>
            <a:r>
              <a:rPr lang="fr-F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76119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1083C53-496B-C69F-40D2-A795491A2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27C2648-607F-AABA-9304-3FE9024791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Visualizing</a:t>
            </a:r>
            <a:r>
              <a:rPr lang="fr-FR" dirty="0"/>
              <a:t> data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complex</a:t>
            </a:r>
            <a:r>
              <a:rPr lang="fr-FR" dirty="0"/>
              <a:t> and </a:t>
            </a:r>
            <a:r>
              <a:rPr lang="fr-FR" dirty="0" err="1"/>
              <a:t>iterative</a:t>
            </a:r>
            <a:r>
              <a:rPr lang="fr-FR" dirty="0"/>
              <a:t> process!</a:t>
            </a:r>
          </a:p>
          <a:p>
            <a:r>
              <a:rPr lang="fr-FR" dirty="0"/>
              <a:t>Know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limits</a:t>
            </a:r>
            <a:r>
              <a:rPr lang="fr-FR" dirty="0"/>
              <a:t>, </a:t>
            </a:r>
            <a:r>
              <a:rPr lang="fr-FR" dirty="0" err="1"/>
              <a:t>don’t</a:t>
            </a:r>
            <a:r>
              <a:rPr lang="fr-FR" dirty="0"/>
              <a:t> </a:t>
            </a:r>
            <a:r>
              <a:rPr lang="fr-FR" dirty="0" err="1"/>
              <a:t>forget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favorite </a:t>
            </a:r>
            <a:r>
              <a:rPr lang="fr-FR" dirty="0" err="1"/>
              <a:t>tools</a:t>
            </a:r>
            <a:r>
              <a:rPr lang="fr-FR" dirty="0"/>
              <a:t>, </a:t>
            </a:r>
            <a:r>
              <a:rPr lang="fr-FR" dirty="0" err="1"/>
              <a:t>get</a:t>
            </a:r>
            <a:r>
              <a:rPr lang="fr-FR" dirty="0"/>
              <a:t> inspiration.</a:t>
            </a:r>
          </a:p>
        </p:txBody>
      </p:sp>
    </p:spTree>
    <p:extLst>
      <p:ext uri="{BB962C8B-B14F-4D97-AF65-F5344CB8AC3E}">
        <p14:creationId xmlns:p14="http://schemas.microsoft.com/office/powerpoint/2010/main" val="209419642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4151</TotalTime>
  <Words>326</Words>
  <Application>Microsoft Macintosh PowerPoint</Application>
  <PresentationFormat>Grand écran</PresentationFormat>
  <Paragraphs>50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Courier</vt:lpstr>
      <vt:lpstr>ksqy</vt:lpstr>
      <vt:lpstr>Thème Office</vt:lpstr>
      <vt:lpstr>Introduction to ggplot2</vt:lpstr>
      <vt:lpstr>Cheatsheet</vt:lpstr>
      <vt:lpstr>Présentation PowerPoint</vt:lpstr>
      <vt:lpstr>Présentation PowerPoint</vt:lpstr>
      <vt:lpstr>From data-to-viz</vt:lpstr>
      <vt:lpstr>Barplot of the number of observations per subject</vt:lpstr>
      <vt:lpstr>Barplot of the number of observations per subject</vt:lpstr>
      <vt:lpstr>Experimenting with ggplot2</vt:lpstr>
      <vt:lpstr>Présentation PowerPoint</vt:lpstr>
      <vt:lpstr>[G]rammar of [G]raphics</vt:lpstr>
      <vt:lpstr>Implémentation dans ggplot2</vt:lpstr>
      <vt:lpstr>Exercise</vt:lpstr>
      <vt:lpstr>Conclusion: everything is customizable</vt:lpstr>
      <vt:lpstr>Exercise: aesthetic parameters</vt:lpstr>
      <vt:lpstr>Exercise: be creative!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6</cp:revision>
  <cp:lastPrinted>2025-05-31T20:47:47Z</cp:lastPrinted>
  <dcterms:created xsi:type="dcterms:W3CDTF">2025-05-27T09:20:18Z</dcterms:created>
  <dcterms:modified xsi:type="dcterms:W3CDTF">2025-06-01T19:14:20Z</dcterms:modified>
</cp:coreProperties>
</file>