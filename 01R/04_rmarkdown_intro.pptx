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9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6" r:id="rId10"/>
    <p:sldId id="264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51"/>
    <p:restoredTop sz="94264"/>
  </p:normalViewPr>
  <p:slideViewPr>
    <p:cSldViewPr snapToGrid="0">
      <p:cViewPr varScale="1">
        <p:scale>
          <a:sx n="132" d="100"/>
          <a:sy n="132" d="100"/>
        </p:scale>
        <p:origin x="1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4EFD8-1F8D-5B41-A65C-84F82FDFF994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C8F54-0D17-0C4A-BF43-E041732734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0106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117E6E-AC68-559E-A663-1C00FEDD7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00025CA-1F6A-0F88-ACB3-F6AEE755F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8A9030-01FF-6C8F-8003-0AC95A385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8055F-8B50-9E4E-8BCD-9C2AB82BE14D}" type="datetime1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9D4E96-F371-F459-3EE7-BB82643A2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B9FFC3-5A0E-A4D3-4A11-C64D0878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002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D799C7-BA05-B771-A20F-1DE39907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447981-E1FB-2BF9-1A4B-7025046A8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2F3BAC-7EF2-55CC-5508-6AA9FEA4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5423C-914F-F045-900A-D0F7B087534A}" type="datetime1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04D3B1-19AF-FC1F-F86E-A3340CF70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D303C8-27B2-F99D-5BD8-12D35F49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2298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495076-AB0F-34C7-737E-52EC63E4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8E27E9-8DC8-73C7-431C-CE3B0B8A8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DB5FF9-59A9-CD41-D67F-2E412A9F4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3399-66A0-9644-8909-179545BDFC5B}" type="datetime1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6AD9E3-2EEF-4B13-A118-DEFEA68E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C9F41E-D944-61DA-BE1F-BC683FD1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8752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182AD-79AD-87A5-F76E-F316E0D54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86F13D-0F6B-B28E-1475-24C0CA1462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68E053E-FF44-9DAB-282D-50EB4ED16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F3D34B-5EA9-AC5A-2B90-20C024D8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6D1E-297E-8E46-8D4E-CE404B2A19C5}" type="datetime1">
              <a:rPr lang="fr-FR" smtClean="0"/>
              <a:t>26/05/2025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0E33CDB-806F-D70F-3615-15145F88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DB1609-A7EA-6CC4-75FA-ADE241C57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974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2F5AC2-0B79-4512-EF5F-03EDFBCC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CECC72-148D-2EA9-A1A0-D76678EF2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6801DA-8571-D1EE-A413-6967524D7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4BCC3F7-7222-2B29-2A87-84472D944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E907931-8752-8B2E-6516-E150526A2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A2DCB4F-3E3C-4FB8-AFFB-50CD2BFA1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9DF1A-6851-5B4F-A8E2-3C2BD449D9E4}" type="datetime1">
              <a:rPr lang="fr-FR" smtClean="0"/>
              <a:t>26/05/2025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2066108-21CE-35E0-507D-9C63184E1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2A7B000-7FAF-91F2-5339-F8CAFBAC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4057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FA6598-5BBB-9125-94CE-62A2C339A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377DA98-C7F2-0A48-BDDB-5E11F9316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F3EA-5410-7249-B124-13012A19D2A1}" type="datetime1">
              <a:rPr lang="fr-FR" smtClean="0"/>
              <a:t>26/05/2025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593EA89-42F7-3039-3D56-D8EE7801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921B1B7-4D2D-6E7F-4032-0BDD0B19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541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D20B858-F1EF-95C1-86F9-4E88F83D2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FB7BD-FDE1-A048-8550-D6F9F6273F1D}" type="datetime1">
              <a:rPr lang="fr-FR" smtClean="0"/>
              <a:t>26/05/2025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0AD3DFD-DC95-44F0-B6E6-81C96874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9B56F4-9735-E7A2-42BE-C9C8DC26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781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58CE41-FDAE-F0FB-469A-F5D7E7AE2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C4B2A6-7470-4665-9A1B-8C7B138D7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E633522-E061-CDDC-F121-0D821FA7D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F39359-284D-2B0E-C0D5-96ADA5D1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F8A0-A0CC-7A43-8050-BAABF9F710C3}" type="datetime1">
              <a:rPr lang="fr-FR" smtClean="0"/>
              <a:t>26/05/2025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233AC6-572D-7C62-8642-E8205F15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A26831-8C6F-626D-2953-A1BEB2FFB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277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F6CDD2-C0B0-9B21-FF94-DE7F8AE29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472F533-4D75-2C09-04AA-59A3137706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CA3FDA-77CF-3DD0-D02D-90DB40CDA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30CD35-EEDD-6145-AC1A-DBDDBF71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F036-3D01-E94F-860A-0351054259F4}" type="datetime1">
              <a:rPr lang="fr-FR" smtClean="0"/>
              <a:t>26/05/2025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17FDB2-F570-333D-543D-CB3418C1B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CFD1C9-7D01-2AED-9EDF-911EDCD9D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78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DD1FA8-A770-F61E-999F-43234B19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AC13DEA-A822-555D-7BF2-2AB224712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890268-4FEC-20B1-0DBC-0BECA645B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7C0A4-7858-464C-9742-37F171A0E0B6}" type="datetime1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24BB34-B2E5-14BC-BFDD-7071D91D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1EF8DD-D99F-426A-3C10-B913E7CCA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260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E7BC453-0AAB-59FC-74F1-55D2E2926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6ECE87A-30E2-E828-2E82-6DCC125CD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ABEC89-2BEE-5352-B9C8-0C152A71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D7972-3EB6-144A-BCF1-F5DC309AFDB7}" type="datetime1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25FB65-2A2E-5F29-213F-E347A16C0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C386D0-AD2F-411E-95BA-0585824E3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192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12357AC-9454-0B5E-78B9-EC28BC9E2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4720CC-89CB-AA63-64AB-CC1D75725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CB8634-74AE-5A06-7B35-93A74D1595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89DC70-D9B1-7843-A232-A756EA574535}" type="datetime1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23FE79-2343-EF65-7DFB-5955E2CF3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2C8C2F-6BC3-4DED-6638-212437F63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0FC770-EF26-2C46-8358-371AC2AA31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593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301939-E862-1A65-B7E0-85B8AED5C8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Introduction to </a:t>
            </a:r>
            <a:r>
              <a:rPr lang="en-US" b="1" noProof="0" dirty="0"/>
              <a:t>R Markdown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BD7702-CB60-9E69-0C79-F7ABBA87FF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Vincent Guillemot</a:t>
            </a:r>
          </a:p>
        </p:txBody>
      </p:sp>
    </p:spTree>
    <p:extLst>
      <p:ext uri="{BB962C8B-B14F-4D97-AF65-F5344CB8AC3E}">
        <p14:creationId xmlns:p14="http://schemas.microsoft.com/office/powerpoint/2010/main" val="4205621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B496A5F-AF20-1EDB-2357-09F78FAAED0E}"/>
              </a:ext>
            </a:extLst>
          </p:cNvPr>
          <p:cNvSpPr/>
          <p:nvPr/>
        </p:nvSpPr>
        <p:spPr>
          <a:xfrm>
            <a:off x="867062" y="1714498"/>
            <a:ext cx="4094030" cy="3429002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3200" b="1" dirty="0">
                <a:solidFill>
                  <a:schemeClr val="accent6">
                    <a:lumMod val="75000"/>
                  </a:schemeClr>
                </a:solidFill>
              </a:rPr>
              <a:t>R </a:t>
            </a:r>
            <a:r>
              <a:rPr lang="fr-FR" sz="3200" b="1" dirty="0" err="1">
                <a:solidFill>
                  <a:schemeClr val="accent6">
                    <a:lumMod val="75000"/>
                  </a:schemeClr>
                </a:solidFill>
              </a:rPr>
              <a:t>Markdown</a:t>
            </a:r>
            <a:r>
              <a:rPr lang="fr-FR" sz="3200" dirty="0">
                <a:solidFill>
                  <a:schemeClr val="accent6">
                    <a:lumMod val="75000"/>
                  </a:schemeClr>
                </a:solidFill>
              </a:rPr>
              <a:t> file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4FD69E2-5E14-93C6-B6B1-9699EAA7543B}"/>
              </a:ext>
            </a:extLst>
          </p:cNvPr>
          <p:cNvSpPr/>
          <p:nvPr/>
        </p:nvSpPr>
        <p:spPr>
          <a:xfrm>
            <a:off x="1419953" y="262624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dirty="0"/>
              <a:t>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60C493C-7DD1-2F73-9702-54B79511F419}"/>
              </a:ext>
            </a:extLst>
          </p:cNvPr>
          <p:cNvSpPr/>
          <p:nvPr/>
        </p:nvSpPr>
        <p:spPr>
          <a:xfrm>
            <a:off x="2715794" y="2767122"/>
            <a:ext cx="1912089" cy="6326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/>
              <a:t>Markdown</a:t>
            </a:r>
            <a:endParaRPr lang="fr-FR" sz="28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1EF8751-B172-171E-C697-0A63CDEF560B}"/>
              </a:ext>
            </a:extLst>
          </p:cNvPr>
          <p:cNvSpPr/>
          <p:nvPr/>
        </p:nvSpPr>
        <p:spPr>
          <a:xfrm>
            <a:off x="2075625" y="3926070"/>
            <a:ext cx="1280337" cy="6326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YAML</a:t>
            </a:r>
          </a:p>
        </p:txBody>
      </p:sp>
      <p:sp>
        <p:nvSpPr>
          <p:cNvPr id="9" name="Flèche vers la droite 8">
            <a:extLst>
              <a:ext uri="{FF2B5EF4-FFF2-40B4-BE49-F238E27FC236}">
                <a16:creationId xmlns:a16="http://schemas.microsoft.com/office/drawing/2014/main" id="{DFEF0BC0-044F-BEC8-FAF5-A79A6AB9391D}"/>
              </a:ext>
            </a:extLst>
          </p:cNvPr>
          <p:cNvSpPr/>
          <p:nvPr/>
        </p:nvSpPr>
        <p:spPr>
          <a:xfrm>
            <a:off x="5088186" y="2934585"/>
            <a:ext cx="1280337" cy="988828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Knitr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6326B78B-250E-7CBE-F930-E59041C84825}"/>
              </a:ext>
            </a:extLst>
          </p:cNvPr>
          <p:cNvSpPr/>
          <p:nvPr/>
        </p:nvSpPr>
        <p:spPr>
          <a:xfrm>
            <a:off x="6562567" y="2826106"/>
            <a:ext cx="1253014" cy="1269953"/>
          </a:xfrm>
          <a:prstGeom prst="cube">
            <a:avLst>
              <a:gd name="adj" fmla="val 31266"/>
            </a:avLst>
          </a:prstGeom>
          <a:blipFill>
            <a:blip r:embed="rId2">
              <a:alphaModFix amt="56637"/>
            </a:blip>
            <a:tile tx="0" ty="0" sx="100000" sy="100000" flip="none" algn="tl"/>
          </a:blipFill>
          <a:ln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  <a:effectLst>
            <a:glow rad="309409">
              <a:schemeClr val="accent2">
                <a:lumMod val="20000"/>
                <a:lumOff val="80000"/>
                <a:alpha val="40000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èche vers la droite 10">
            <a:extLst>
              <a:ext uri="{FF2B5EF4-FFF2-40B4-BE49-F238E27FC236}">
                <a16:creationId xmlns:a16="http://schemas.microsoft.com/office/drawing/2014/main" id="{6680D947-97CB-E424-93CD-66741EF8E6C6}"/>
              </a:ext>
            </a:extLst>
          </p:cNvPr>
          <p:cNvSpPr/>
          <p:nvPr/>
        </p:nvSpPr>
        <p:spPr>
          <a:xfrm>
            <a:off x="8055186" y="2934585"/>
            <a:ext cx="1280337" cy="988828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pandoc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" name="Parchemin vertical 12">
            <a:extLst>
              <a:ext uri="{FF2B5EF4-FFF2-40B4-BE49-F238E27FC236}">
                <a16:creationId xmlns:a16="http://schemas.microsoft.com/office/drawing/2014/main" id="{C1AF9377-CCEB-80CF-8E55-F869A43ADBAA}"/>
              </a:ext>
            </a:extLst>
          </p:cNvPr>
          <p:cNvSpPr/>
          <p:nvPr/>
        </p:nvSpPr>
        <p:spPr>
          <a:xfrm flipH="1">
            <a:off x="9575128" y="661300"/>
            <a:ext cx="1041991" cy="5535399"/>
          </a:xfrm>
          <a:prstGeom prst="verticalScroll">
            <a:avLst>
              <a:gd name="adj" fmla="val 7355"/>
            </a:avLst>
          </a:prstGeom>
          <a:blipFill dpi="0" rotWithShape="1">
            <a:blip r:embed="rId3">
              <a:alphaModFix amt="56637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Cooper Black" panose="0208090404030B020404" pitchFamily="18" charset="77"/>
                <a:ea typeface="Brush Script MT" panose="03060802040406070304" pitchFamily="66" charset="-122"/>
                <a:cs typeface="Brush Script MT" panose="03060802040406070304" pitchFamily="66" charset="-122"/>
              </a:rPr>
              <a:t>WAOUH.HTML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38130F34-8336-4C91-BD06-4EE682F2D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 mixture of tools and languages</a:t>
            </a:r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2F110DAA-E957-BEED-E96F-5630552D4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E421217C-DE5E-8688-897E-8E18BF89A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4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55A392-9926-91A2-64A0-4FE9B95FD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02A6D9-B1FC-186B-57B7-59244E855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PDF: </a:t>
            </a:r>
            <a:r>
              <a:rPr lang="fr-FR" dirty="0" err="1"/>
              <a:t>LaTeX</a:t>
            </a:r>
            <a:endParaRPr lang="fr-FR" dirty="0"/>
          </a:p>
          <a:p>
            <a:r>
              <a:rPr lang="fr-FR" dirty="0"/>
              <a:t>Maths: </a:t>
            </a:r>
            <a:r>
              <a:rPr lang="fr-FR" dirty="0" err="1"/>
              <a:t>LaTeX</a:t>
            </a:r>
            <a:endParaRPr lang="fr-FR" dirty="0"/>
          </a:p>
          <a:p>
            <a:r>
              <a:rPr lang="fr-FR" dirty="0" err="1"/>
              <a:t>Customized</a:t>
            </a:r>
            <a:r>
              <a:rPr lang="fr-FR" dirty="0"/>
              <a:t> HTML documents: CSS (ou SCSS)</a:t>
            </a:r>
          </a:p>
          <a:p>
            <a:r>
              <a:rPr lang="fr-FR" dirty="0" err="1"/>
              <a:t>Diagrams</a:t>
            </a:r>
            <a:r>
              <a:rPr lang="fr-FR" dirty="0"/>
              <a:t>: </a:t>
            </a:r>
            <a:r>
              <a:rPr lang="fr-FR" dirty="0" err="1"/>
              <a:t>mermaid</a:t>
            </a:r>
            <a:r>
              <a:rPr lang="fr-FR" dirty="0"/>
              <a:t> or </a:t>
            </a:r>
            <a:r>
              <a:rPr lang="fr-FR" dirty="0" err="1"/>
              <a:t>GraphViz</a:t>
            </a:r>
            <a:endParaRPr lang="fr-FR" dirty="0"/>
          </a:p>
          <a:p>
            <a:r>
              <a:rPr lang="fr-FR" dirty="0" err="1"/>
              <a:t>Other</a:t>
            </a:r>
            <a:r>
              <a:rPr lang="fr-FR" dirty="0"/>
              <a:t> high-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programming</a:t>
            </a:r>
            <a:r>
              <a:rPr lang="fr-FR" dirty="0"/>
              <a:t> </a:t>
            </a:r>
            <a:r>
              <a:rPr lang="fr-FR" dirty="0" err="1"/>
              <a:t>languages</a:t>
            </a:r>
            <a:r>
              <a:rPr lang="fr-FR" dirty="0"/>
              <a:t>: Python, Julia, SQL</a:t>
            </a:r>
          </a:p>
          <a:p>
            <a:r>
              <a:rPr lang="fr-FR" dirty="0" err="1"/>
              <a:t>Other</a:t>
            </a:r>
            <a:r>
              <a:rPr lang="fr-FR" dirty="0"/>
              <a:t>: </a:t>
            </a:r>
            <a:r>
              <a:rPr lang="fr-FR" dirty="0" err="1"/>
              <a:t>bash</a:t>
            </a:r>
            <a:r>
              <a:rPr lang="fr-FR" dirty="0"/>
              <a:t>, </a:t>
            </a:r>
            <a:r>
              <a:rPr lang="fr-FR" dirty="0" err="1"/>
              <a:t>Rcpp</a:t>
            </a:r>
            <a:r>
              <a:rPr lang="fr-FR" dirty="0"/>
              <a:t> (C++), Stan (statistiques bayésiennes), </a:t>
            </a:r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130B637-B2EF-C4AE-B8B2-9C28C116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21DBA9D-F9AB-925C-0F19-5658A4A7D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0474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58E46D-1D6C-EEB7-9CD0-78F0F23FD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default document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8E443A59-4BB6-C2C6-4730-D305B750E1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9723" y="987425"/>
            <a:ext cx="5439130" cy="4873625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C7F3E2-24E0-8236-D2BD-566F5147C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File &gt; New File &gt; R Markdown…</a:t>
            </a:r>
          </a:p>
          <a:p>
            <a:pPr marL="0" indent="0">
              <a:buNone/>
            </a:pPr>
            <a:r>
              <a:rPr lang="en-US" noProof="0" dirty="0"/>
              <a:t>Procedure: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noProof="0" dirty="0"/>
              <a:t>create a document,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noProof="0" dirty="0"/>
              <a:t>change the default values,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noProof="0" dirty="0"/>
              <a:t>change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noProof="0" dirty="0"/>
              <a:t>headers,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noProof="0" dirty="0"/>
              <a:t>text,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noProof="0" dirty="0"/>
              <a:t>R code,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noProof="0" dirty="0"/>
              <a:t>save document as an </a:t>
            </a:r>
            <a:r>
              <a:rPr lang="en-US" noProof="0" dirty="0" err="1"/>
              <a:t>Rmd</a:t>
            </a:r>
            <a:r>
              <a:rPr lang="en-US" noProof="0" dirty="0"/>
              <a:t> file.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noProof="0" dirty="0"/>
              <a:t>Click on “</a:t>
            </a:r>
            <a:r>
              <a:rPr lang="en-US" b="1" noProof="0" dirty="0"/>
              <a:t>Knit</a:t>
            </a:r>
            <a:r>
              <a:rPr lang="en-US" noProof="0" dirty="0"/>
              <a:t>”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BF5E29B-4B2E-CD68-908E-2420DF08D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8673282-F2BA-33ED-8C7C-9F5DFF6F6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4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BF24D5F-3530-0419-2000-ABEF0C51D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957" y="5120822"/>
            <a:ext cx="8890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91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A717E-1380-E424-7E7B-95B7C21C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AE8CF2-0A94-A111-368B-C1139E415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Exercise: modify the default document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29EF5F-AE7D-0588-379B-B6B74978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30A3201-16F6-9003-BD01-F2D226DC3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5</a:t>
            </a:fld>
            <a:endParaRPr lang="fr-FR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4F76178C-900D-7E98-A596-62E5AE6C4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noProof="0" dirty="0"/>
              <a:t>Select « HTML » output format</a:t>
            </a:r>
          </a:p>
          <a:p>
            <a:pPr marL="342900" indent="-342900">
              <a:buAutoNum type="arabicPeriod"/>
            </a:pPr>
            <a:r>
              <a:rPr lang="en-US" noProof="0" dirty="0"/>
              <a:t>Change title to “Document 1: title and text”</a:t>
            </a:r>
          </a:p>
          <a:p>
            <a:pPr marL="342900" indent="-342900">
              <a:buAutoNum type="arabicPeriod"/>
            </a:pPr>
            <a:r>
              <a:rPr lang="en-US" noProof="0" dirty="0"/>
              <a:t>Change author</a:t>
            </a:r>
          </a:p>
          <a:p>
            <a:pPr marL="342900" indent="-342900">
              <a:buAutoNum type="arabicPeriod"/>
            </a:pPr>
            <a:r>
              <a:rPr lang="en-US" noProof="0" dirty="0"/>
              <a:t>Change text: </a:t>
            </a:r>
          </a:p>
          <a:p>
            <a:pPr marL="800100" lvl="1" indent="-342900">
              <a:buAutoNum type="arabicPeriod"/>
            </a:pPr>
            <a:r>
              <a:rPr lang="en-US" noProof="0" dirty="0"/>
              <a:t>Header to “Header”</a:t>
            </a:r>
          </a:p>
          <a:p>
            <a:pPr marL="800100" lvl="1" indent="-342900">
              <a:buAutoNum type="arabicPeriod"/>
            </a:pPr>
            <a:r>
              <a:rPr lang="en-US" noProof="0" dirty="0"/>
              <a:t>Text to “I’m learning R Markdown!”</a:t>
            </a:r>
          </a:p>
          <a:p>
            <a:pPr marL="342900" indent="-342900">
              <a:buAutoNum type="arabicPeriod"/>
            </a:pPr>
            <a:r>
              <a:rPr lang="en-US" noProof="0" dirty="0"/>
              <a:t>Save this file as “document1-simple.Rmd”</a:t>
            </a:r>
          </a:p>
          <a:p>
            <a:pPr marL="342900" indent="-342900">
              <a:buAutoNum type="arabicPeriod"/>
            </a:pPr>
            <a:r>
              <a:rPr lang="en-US" noProof="0" dirty="0"/>
              <a:t>Compile by clicking on “Knit"</a:t>
            </a:r>
          </a:p>
          <a:p>
            <a:pPr marL="342900" indent="-342900">
              <a:buAutoNum type="arabicPeriod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1712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DE9904-824D-9EB4-301F-EFF2CB752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structure of an R Markdown file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A13494-EE46-5203-7F22-3A53F1EA0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YAML header: title, author, date, etc.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E95C268-2F0B-665B-F96E-556224588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D754FA-3D41-4B65-AAB6-BF31B95D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6E4AEC6-941A-9C29-3D07-8A289BF7D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2" r="9568"/>
          <a:stretch>
            <a:fillRect/>
          </a:stretch>
        </p:blipFill>
        <p:spPr>
          <a:xfrm>
            <a:off x="4038600" y="3086894"/>
            <a:ext cx="35814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72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13590-CE8F-A3EE-36AA-0C5207F49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7B070-03D4-C23F-82C7-7D4C9267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structure of an R Markdown file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2F0FCF-8B91-BF9A-F02C-F97FEF49E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Text in Markdown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1BBA044-86D9-22C9-7949-36526834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D0A4C0-C373-E528-118B-9D75FCFCE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7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34B37A4-BA05-BB8A-C176-555E8023D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690688"/>
            <a:ext cx="6400800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31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CDBC-A302-D583-C356-1695DBA1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11761C-0DFF-39CC-C2E5-96C14A301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structure of an R Markdown file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B8B0C0-CE1F-4CF2-8931-3FA2C864F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 code in </a:t>
            </a:r>
            <a:r>
              <a:rPr lang="fr-FR" dirty="0" err="1"/>
              <a:t>chunks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38A8CF1-250C-60C6-335F-5808A2C0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ABC125B-66EB-8D52-92E4-E822897F7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8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5CB19D0-28EB-F094-C610-ED8311982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00" y="3091543"/>
            <a:ext cx="2235200" cy="889000"/>
          </a:xfrm>
          <a:prstGeom prst="rect">
            <a:avLst/>
          </a:prstGeom>
        </p:spPr>
      </p:pic>
      <p:sp>
        <p:nvSpPr>
          <p:cNvPr id="9" name="Légende sans bordure 2 8">
            <a:extLst>
              <a:ext uri="{FF2B5EF4-FFF2-40B4-BE49-F238E27FC236}">
                <a16:creationId xmlns:a16="http://schemas.microsoft.com/office/drawing/2014/main" id="{12E51984-18D3-97F5-26C6-EA53F81AE22B}"/>
              </a:ext>
            </a:extLst>
          </p:cNvPr>
          <p:cNvSpPr/>
          <p:nvPr/>
        </p:nvSpPr>
        <p:spPr>
          <a:xfrm>
            <a:off x="3069771" y="2895600"/>
            <a:ext cx="1317172" cy="1105694"/>
          </a:xfrm>
          <a:prstGeom prst="callout2">
            <a:avLst>
              <a:gd name="adj1" fmla="val 8905"/>
              <a:gd name="adj2" fmla="val 102917"/>
              <a:gd name="adj3" fmla="val 10874"/>
              <a:gd name="adj4" fmla="val 121659"/>
              <a:gd name="adj5" fmla="val 17002"/>
              <a:gd name="adj6" fmla="val 144000"/>
            </a:avLst>
          </a:prstGeom>
          <a:ln w="22225">
            <a:solidFill>
              <a:schemeClr val="accent4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This is an R chunk</a:t>
            </a:r>
          </a:p>
        </p:txBody>
      </p:sp>
      <p:sp>
        <p:nvSpPr>
          <p:cNvPr id="10" name="Légende sans bordure 2 9">
            <a:extLst>
              <a:ext uri="{FF2B5EF4-FFF2-40B4-BE49-F238E27FC236}">
                <a16:creationId xmlns:a16="http://schemas.microsoft.com/office/drawing/2014/main" id="{24BC425B-CAE1-BC0A-9F81-2B66D9A5E5E4}"/>
              </a:ext>
            </a:extLst>
          </p:cNvPr>
          <p:cNvSpPr/>
          <p:nvPr/>
        </p:nvSpPr>
        <p:spPr>
          <a:xfrm>
            <a:off x="6912429" y="1662113"/>
            <a:ext cx="1317172" cy="1105694"/>
          </a:xfrm>
          <a:prstGeom prst="callout2">
            <a:avLst>
              <a:gd name="adj1" fmla="val 86682"/>
              <a:gd name="adj2" fmla="val -7000"/>
              <a:gd name="adj3" fmla="val 95542"/>
              <a:gd name="adj4" fmla="val -26274"/>
              <a:gd name="adj5" fmla="val 132190"/>
              <a:gd name="adj6" fmla="val -57653"/>
            </a:avLst>
          </a:prstGeom>
          <a:ln w="22225">
            <a:solidFill>
              <a:schemeClr val="accent4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This chunk is called “cars”</a:t>
            </a:r>
          </a:p>
        </p:txBody>
      </p:sp>
      <p:sp>
        <p:nvSpPr>
          <p:cNvPr id="11" name="Légende sans bordure 2 10">
            <a:extLst>
              <a:ext uri="{FF2B5EF4-FFF2-40B4-BE49-F238E27FC236}">
                <a16:creationId xmlns:a16="http://schemas.microsoft.com/office/drawing/2014/main" id="{6F775650-F306-853C-F481-7D2927C288FC}"/>
              </a:ext>
            </a:extLst>
          </p:cNvPr>
          <p:cNvSpPr/>
          <p:nvPr/>
        </p:nvSpPr>
        <p:spPr>
          <a:xfrm>
            <a:off x="8153400" y="4001294"/>
            <a:ext cx="1589312" cy="1105694"/>
          </a:xfrm>
          <a:prstGeom prst="callout2">
            <a:avLst>
              <a:gd name="adj1" fmla="val 12843"/>
              <a:gd name="adj2" fmla="val -5347"/>
              <a:gd name="adj3" fmla="val -48197"/>
              <a:gd name="adj4" fmla="val -56853"/>
              <a:gd name="adj5" fmla="val -48961"/>
              <a:gd name="adj6" fmla="val -77227"/>
            </a:avLst>
          </a:prstGeom>
          <a:ln w="22225">
            <a:solidFill>
              <a:schemeClr val="accent4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It contains this set of R commands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AD28F4-77EB-5DB1-AD91-10F6EB67031E}"/>
              </a:ext>
            </a:extLst>
          </p:cNvPr>
          <p:cNvSpPr/>
          <p:nvPr/>
        </p:nvSpPr>
        <p:spPr>
          <a:xfrm>
            <a:off x="4978400" y="3037114"/>
            <a:ext cx="758371" cy="391886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808224-7F33-01A3-E9D8-F50BB325880A}"/>
              </a:ext>
            </a:extLst>
          </p:cNvPr>
          <p:cNvSpPr/>
          <p:nvPr/>
        </p:nvSpPr>
        <p:spPr>
          <a:xfrm>
            <a:off x="5791200" y="3120288"/>
            <a:ext cx="566055" cy="265680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3BB2AB-497B-AC74-C427-7D2E8700F813}"/>
              </a:ext>
            </a:extLst>
          </p:cNvPr>
          <p:cNvSpPr/>
          <p:nvPr/>
        </p:nvSpPr>
        <p:spPr>
          <a:xfrm>
            <a:off x="4978400" y="3448447"/>
            <a:ext cx="1934029" cy="265680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85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46760-4120-BC14-3359-E0E01EE70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059E482-6625-D50C-340A-60D98F4B8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0" y="2909604"/>
            <a:ext cx="5499100" cy="8763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3DC3A89-6CBB-1B04-3932-559693EF8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structure of an R Markdown file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67C8CB-65C7-45FE-E140-C2E03899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C122C5-F2D0-FD89-70CB-4DA56E255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9</a:t>
            </a:fld>
            <a:endParaRPr lang="fr-FR" dirty="0"/>
          </a:p>
        </p:txBody>
      </p:sp>
      <p:sp>
        <p:nvSpPr>
          <p:cNvPr id="9" name="Légende sans bordure 2 8">
            <a:extLst>
              <a:ext uri="{FF2B5EF4-FFF2-40B4-BE49-F238E27FC236}">
                <a16:creationId xmlns:a16="http://schemas.microsoft.com/office/drawing/2014/main" id="{FA770B6E-4452-84E1-375B-89CA55CBA3D6}"/>
              </a:ext>
            </a:extLst>
          </p:cNvPr>
          <p:cNvSpPr/>
          <p:nvPr/>
        </p:nvSpPr>
        <p:spPr>
          <a:xfrm>
            <a:off x="517977" y="2585557"/>
            <a:ext cx="1934029" cy="1105694"/>
          </a:xfrm>
          <a:prstGeom prst="callout2">
            <a:avLst>
              <a:gd name="adj1" fmla="val 8905"/>
              <a:gd name="adj2" fmla="val 102917"/>
              <a:gd name="adj3" fmla="val 10874"/>
              <a:gd name="adj4" fmla="val 121659"/>
              <a:gd name="adj5" fmla="val 17002"/>
              <a:gd name="adj6" fmla="val 144000"/>
            </a:avLst>
          </a:prstGeom>
          <a:ln w="22225">
            <a:solidFill>
              <a:schemeClr val="accent4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This R chunk is called “setup”</a:t>
            </a:r>
          </a:p>
        </p:txBody>
      </p:sp>
      <p:sp>
        <p:nvSpPr>
          <p:cNvPr id="10" name="Légende sans bordure 2 9">
            <a:extLst>
              <a:ext uri="{FF2B5EF4-FFF2-40B4-BE49-F238E27FC236}">
                <a16:creationId xmlns:a16="http://schemas.microsoft.com/office/drawing/2014/main" id="{07862755-76E1-B4EE-15A1-322D0F846CE2}"/>
              </a:ext>
            </a:extLst>
          </p:cNvPr>
          <p:cNvSpPr/>
          <p:nvPr/>
        </p:nvSpPr>
        <p:spPr>
          <a:xfrm>
            <a:off x="6836227" y="1317370"/>
            <a:ext cx="2743199" cy="1105694"/>
          </a:xfrm>
          <a:prstGeom prst="callout2">
            <a:avLst>
              <a:gd name="adj1" fmla="val 86682"/>
              <a:gd name="adj2" fmla="val -7000"/>
              <a:gd name="adj3" fmla="val 95542"/>
              <a:gd name="adj4" fmla="val -26274"/>
              <a:gd name="adj5" fmla="val 143020"/>
              <a:gd name="adj6" fmla="val -47336"/>
            </a:avLst>
          </a:prstGeom>
          <a:ln w="22225">
            <a:solidFill>
              <a:schemeClr val="accent4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Its code is executed but nothing is shown on the output file</a:t>
            </a:r>
          </a:p>
        </p:txBody>
      </p:sp>
      <p:sp>
        <p:nvSpPr>
          <p:cNvPr id="11" name="Légende sans bordure 2 10">
            <a:extLst>
              <a:ext uri="{FF2B5EF4-FFF2-40B4-BE49-F238E27FC236}">
                <a16:creationId xmlns:a16="http://schemas.microsoft.com/office/drawing/2014/main" id="{1271D281-4BFD-25B1-A3F0-F8A1084DEE5D}"/>
              </a:ext>
            </a:extLst>
          </p:cNvPr>
          <p:cNvSpPr/>
          <p:nvPr/>
        </p:nvSpPr>
        <p:spPr>
          <a:xfrm>
            <a:off x="1894114" y="4518280"/>
            <a:ext cx="2939142" cy="1105694"/>
          </a:xfrm>
          <a:prstGeom prst="callout2">
            <a:avLst>
              <a:gd name="adj1" fmla="val 31549"/>
              <a:gd name="adj2" fmla="val 102187"/>
              <a:gd name="adj3" fmla="val -2909"/>
              <a:gd name="adj4" fmla="val 158206"/>
              <a:gd name="adj5" fmla="val -93265"/>
              <a:gd name="adj6" fmla="val 170871"/>
            </a:avLst>
          </a:prstGeom>
          <a:ln w="22225">
            <a:solidFill>
              <a:schemeClr val="accent4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It sets the values of </a:t>
            </a:r>
            <a:r>
              <a:rPr lang="fr-FR" dirty="0" err="1"/>
              <a:t>chunk</a:t>
            </a:r>
            <a:r>
              <a:rPr lang="fr-FR" dirty="0"/>
              <a:t> options for all the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chunks</a:t>
            </a:r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EA0780-F236-B111-52CA-6F73CA48D9BF}"/>
              </a:ext>
            </a:extLst>
          </p:cNvPr>
          <p:cNvSpPr/>
          <p:nvPr/>
        </p:nvSpPr>
        <p:spPr>
          <a:xfrm>
            <a:off x="3113316" y="2805057"/>
            <a:ext cx="1480455" cy="391886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4E8C9D-4462-BADC-730C-65F751448AFD}"/>
              </a:ext>
            </a:extLst>
          </p:cNvPr>
          <p:cNvSpPr/>
          <p:nvPr/>
        </p:nvSpPr>
        <p:spPr>
          <a:xfrm>
            <a:off x="5992587" y="3214914"/>
            <a:ext cx="1496784" cy="265680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2ECCE0-0AE5-8CCE-9639-10923DE583AC}"/>
              </a:ext>
            </a:extLst>
          </p:cNvPr>
          <p:cNvSpPr/>
          <p:nvPr/>
        </p:nvSpPr>
        <p:spPr>
          <a:xfrm>
            <a:off x="4784273" y="2916864"/>
            <a:ext cx="1934029" cy="265680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EC204A13-FCA3-5DA5-5FDB-8F69C51B6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noProof="0" dirty="0"/>
              <a:t>Setup chunk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4B931C-A413-CFDB-4E5F-9C3E9F927511}"/>
              </a:ext>
            </a:extLst>
          </p:cNvPr>
          <p:cNvSpPr/>
          <p:nvPr/>
        </p:nvSpPr>
        <p:spPr>
          <a:xfrm>
            <a:off x="7957459" y="2942461"/>
            <a:ext cx="653141" cy="391886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Légende sans bordure 2 17">
            <a:extLst>
              <a:ext uri="{FF2B5EF4-FFF2-40B4-BE49-F238E27FC236}">
                <a16:creationId xmlns:a16="http://schemas.microsoft.com/office/drawing/2014/main" id="{87B7C5DE-CA5A-AE0E-7E01-05868D1C33FA}"/>
              </a:ext>
            </a:extLst>
          </p:cNvPr>
          <p:cNvSpPr/>
          <p:nvPr/>
        </p:nvSpPr>
        <p:spPr>
          <a:xfrm>
            <a:off x="6667500" y="4730991"/>
            <a:ext cx="2939142" cy="1105694"/>
          </a:xfrm>
          <a:prstGeom prst="callout2">
            <a:avLst>
              <a:gd name="adj1" fmla="val -8816"/>
              <a:gd name="adj2" fmla="val 57743"/>
              <a:gd name="adj3" fmla="val -29491"/>
              <a:gd name="adj4" fmla="val 64502"/>
              <a:gd name="adj5" fmla="val -124770"/>
              <a:gd name="adj6" fmla="val 59389"/>
            </a:avLst>
          </a:prstGeom>
          <a:ln w="22225">
            <a:solidFill>
              <a:schemeClr val="accent4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All </a:t>
            </a:r>
            <a:r>
              <a:rPr lang="fr-FR" dirty="0" err="1"/>
              <a:t>chunks</a:t>
            </a:r>
            <a:r>
              <a:rPr lang="fr-FR" dirty="0"/>
              <a:t> have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little</a:t>
            </a:r>
            <a:r>
              <a:rPr lang="fr-FR" dirty="0"/>
              <a:t> buttons,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here</a:t>
            </a:r>
            <a:r>
              <a:rPr lang="fr-FR" dirty="0"/>
              <a:t> to help </a:t>
            </a:r>
            <a:r>
              <a:rPr lang="fr-FR" dirty="0" err="1"/>
              <a:t>you</a:t>
            </a:r>
            <a:r>
              <a:rPr lang="fr-F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466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220C0-9AFF-FA01-EA49-BBE0D1ED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D16738-CC10-D5F2-8D4D-4C5CE9B7A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63543" cy="4351338"/>
          </a:xfrm>
        </p:spPr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an R </a:t>
            </a:r>
            <a:r>
              <a:rPr lang="fr-FR" dirty="0" err="1"/>
              <a:t>Markdown</a:t>
            </a:r>
            <a:r>
              <a:rPr lang="fr-FR"/>
              <a:t> document </a:t>
            </a:r>
            <a:endParaRPr lang="fr-FR" dirty="0"/>
          </a:p>
          <a:p>
            <a:r>
              <a:rPr lang="fr-FR" dirty="0"/>
              <a:t>Enregistrez dans un fichier appelé « document2-juste1titre.Rmd »</a:t>
            </a:r>
          </a:p>
          <a:p>
            <a:r>
              <a:rPr lang="fr-FR" dirty="0"/>
              <a:t>Compilez le en cliquant sur le bouton « </a:t>
            </a:r>
            <a:r>
              <a:rPr lang="fr-FR" dirty="0" err="1"/>
              <a:t>Knit</a:t>
            </a:r>
            <a:r>
              <a:rPr lang="fr-FR" dirty="0"/>
              <a:t> »</a:t>
            </a:r>
          </a:p>
          <a:p>
            <a:r>
              <a:rPr lang="fr-FR" dirty="0"/>
              <a:t>Le résultat doit ressembler à ceci :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FD6327-8A23-C006-3747-1888BA29D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48F4439-448A-66BE-54EC-E215CD5F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10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743C72-27CE-1A9D-A66C-4E6D00C850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2" r="9568"/>
          <a:stretch>
            <a:fillRect/>
          </a:stretch>
        </p:blipFill>
        <p:spPr>
          <a:xfrm>
            <a:off x="8084457" y="955675"/>
            <a:ext cx="3581400" cy="18288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E8C32C0-D118-A65E-E830-C2CF19AFB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857" y="3683794"/>
            <a:ext cx="889000" cy="3175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BF9A04B-CB2B-150C-8533-E1714A6BA2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02" r="8403" b="18028"/>
          <a:stretch>
            <a:fillRect/>
          </a:stretch>
        </p:blipFill>
        <p:spPr>
          <a:xfrm>
            <a:off x="2699657" y="4630200"/>
            <a:ext cx="6792686" cy="15467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3087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79DD6B-B466-4D02-5CDE-E72740406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partie « texte » s’écrit en </a:t>
            </a:r>
            <a:r>
              <a:rPr lang="fr-FR" dirty="0" err="1"/>
              <a:t>Markdown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1F12CE-260B-1971-B9D5-7031081E6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5600" cy="4351338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C’est un langage à part entière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b="1" dirty="0" err="1"/>
              <a:t>Markdown</a:t>
            </a:r>
            <a:r>
              <a:rPr lang="fr-FR" b="1" dirty="0"/>
              <a:t> Quick Reference</a:t>
            </a:r>
          </a:p>
          <a:p>
            <a:pPr marL="0" indent="0">
              <a:buNone/>
            </a:pPr>
            <a:r>
              <a:rPr lang="fr-FR" dirty="0"/>
              <a:t>(…)</a:t>
            </a:r>
          </a:p>
          <a:p>
            <a:pPr marL="0" indent="0">
              <a:buNone/>
            </a:pPr>
            <a:r>
              <a:rPr lang="fr-FR" b="1" i="1" dirty="0" err="1"/>
              <a:t>Emphasis</a:t>
            </a:r>
            <a:endParaRPr lang="fr-FR" b="1" i="1" dirty="0"/>
          </a:p>
          <a:p>
            <a:pPr marL="0" indent="0">
              <a:buNone/>
            </a:pPr>
            <a:r>
              <a:rPr lang="fr-FR" dirty="0"/>
              <a:t>*</a:t>
            </a:r>
            <a:r>
              <a:rPr lang="fr-FR" dirty="0" err="1"/>
              <a:t>italic</a:t>
            </a:r>
            <a:r>
              <a:rPr lang="fr-FR" dirty="0"/>
              <a:t>*         **</a:t>
            </a:r>
            <a:r>
              <a:rPr lang="fr-FR" dirty="0" err="1"/>
              <a:t>bold</a:t>
            </a:r>
            <a:r>
              <a:rPr lang="fr-FR" dirty="0"/>
              <a:t>**</a:t>
            </a:r>
          </a:p>
          <a:p>
            <a:pPr marL="0" indent="0">
              <a:buNone/>
            </a:pPr>
            <a:r>
              <a:rPr lang="fr-FR" dirty="0"/>
              <a:t> _</a:t>
            </a:r>
            <a:r>
              <a:rPr lang="fr-FR" dirty="0" err="1"/>
              <a:t>italic</a:t>
            </a:r>
            <a:r>
              <a:rPr lang="fr-FR" dirty="0"/>
              <a:t>_         __</a:t>
            </a:r>
            <a:r>
              <a:rPr lang="fr-FR" dirty="0" err="1"/>
              <a:t>bold</a:t>
            </a:r>
            <a:r>
              <a:rPr lang="fr-FR" dirty="0"/>
              <a:t>__ </a:t>
            </a:r>
          </a:p>
          <a:p>
            <a:pPr marL="0" indent="0">
              <a:buNone/>
            </a:pPr>
            <a:r>
              <a:rPr lang="fr-FR" b="1" i="1" dirty="0"/>
              <a:t>Headers</a:t>
            </a:r>
          </a:p>
          <a:p>
            <a:pPr marL="0" indent="0">
              <a:buNone/>
            </a:pPr>
            <a:r>
              <a:rPr lang="fr-FR" dirty="0"/>
              <a:t># Header 1          ## Header 2          ### Header 3 </a:t>
            </a:r>
            <a:br>
              <a:rPr lang="fr-FR" dirty="0"/>
            </a:b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395A41E-3969-410D-5AE6-AB510D3F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FC8854-1BD6-A7DE-2E44-64048C244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11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F02D316-BC14-400A-450A-B218814F8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916" y="1122363"/>
            <a:ext cx="2603500" cy="5054600"/>
          </a:xfrm>
          <a:prstGeom prst="rect">
            <a:avLst/>
          </a:prstGeom>
        </p:spPr>
      </p:pic>
      <p:sp>
        <p:nvSpPr>
          <p:cNvPr id="7" name="Cadre 6">
            <a:extLst>
              <a:ext uri="{FF2B5EF4-FFF2-40B4-BE49-F238E27FC236}">
                <a16:creationId xmlns:a16="http://schemas.microsoft.com/office/drawing/2014/main" id="{9140D44C-96C5-591F-8B12-1685BA792C3B}"/>
              </a:ext>
            </a:extLst>
          </p:cNvPr>
          <p:cNvSpPr/>
          <p:nvPr/>
        </p:nvSpPr>
        <p:spPr>
          <a:xfrm>
            <a:off x="8577941" y="5061857"/>
            <a:ext cx="2775859" cy="457200"/>
          </a:xfrm>
          <a:prstGeom prst="frame">
            <a:avLst>
              <a:gd name="adj1" fmla="val 24405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11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F93A01-0B05-EDED-B3E6-63030DCDD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6A7AAC-D2E6-0CE5-4E88-8C5942C0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16686" cy="12332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Créez un document R </a:t>
            </a:r>
            <a:r>
              <a:rPr lang="fr-FR" dirty="0" err="1"/>
              <a:t>Markdown</a:t>
            </a:r>
            <a:r>
              <a:rPr lang="fr-FR" dirty="0"/>
              <a:t> appelé « document3-juste1blabla.Rmd » qui donnera le résultat suivant :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3EFD794-AE5A-B102-9F2B-A16E55097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903A4DC-1C53-E342-DE13-FEFA51609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12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1541342-00B6-D433-4672-E7A249755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980169"/>
            <a:ext cx="7772400" cy="10079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3543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FE5ED9-898F-6933-35C2-E27F2037A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chunks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E939582-FD82-17AE-A6D4-5AB268ED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DFF8722-DCF4-757C-5B98-DD4C0528C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13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13D7EEC-8267-7491-6113-4A4C860B9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82" y="2812289"/>
            <a:ext cx="550635" cy="61671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1E3C51E-AE78-D580-117D-FBB22513E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82" y="5088643"/>
            <a:ext cx="550635" cy="59652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0F6FE5A-062F-79E5-EF14-8FE755970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036" y="995247"/>
            <a:ext cx="414564" cy="43638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C26E122-9E8F-6F04-2858-035231C15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1650766"/>
            <a:ext cx="5537200" cy="87630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5882F78D-E7AC-637C-E1F2-63AD0F737C9F}"/>
              </a:ext>
            </a:extLst>
          </p:cNvPr>
          <p:cNvSpPr txBox="1"/>
          <p:nvPr/>
        </p:nvSpPr>
        <p:spPr>
          <a:xfrm>
            <a:off x="1300843" y="5202237"/>
            <a:ext cx="2880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Exécuter tout le code avant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0E9CBBD-1B86-391C-0497-3B7A174D9C82}"/>
              </a:ext>
            </a:extLst>
          </p:cNvPr>
          <p:cNvSpPr txBox="1"/>
          <p:nvPr/>
        </p:nvSpPr>
        <p:spPr>
          <a:xfrm>
            <a:off x="6983186" y="1017019"/>
            <a:ext cx="2797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Exécuter le code du </a:t>
            </a:r>
            <a:r>
              <a:rPr lang="fr-FR" dirty="0" err="1"/>
              <a:t>chunk</a:t>
            </a:r>
            <a:endParaRPr lang="fr-FR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8C16E3B-2598-F23E-C6F1-C4691AC58C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843" y="2954060"/>
            <a:ext cx="3695700" cy="200660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AC4E54E4-9CC0-893C-D588-12A8518363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5036" y="2320810"/>
            <a:ext cx="4602003" cy="305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4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5642F3-8496-5BAC-8B91-136A566F1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1EA3A3-58A2-D001-F365-DCE479185C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Créez un document R </a:t>
            </a:r>
            <a:r>
              <a:rPr lang="fr-FR" dirty="0" err="1"/>
              <a:t>Markdown</a:t>
            </a:r>
            <a:r>
              <a:rPr lang="fr-FR" dirty="0"/>
              <a:t>, appelé « document4-complet.Rmd », contenant </a:t>
            </a:r>
          </a:p>
          <a:p>
            <a:pPr lvl="1"/>
            <a:r>
              <a:rPr lang="fr-FR" dirty="0"/>
              <a:t>Une en-tête YAML</a:t>
            </a:r>
          </a:p>
          <a:p>
            <a:pPr lvl="1"/>
            <a:r>
              <a:rPr lang="fr-FR" dirty="0"/>
              <a:t>Du texte en </a:t>
            </a:r>
            <a:r>
              <a:rPr lang="fr-FR" dirty="0" err="1"/>
              <a:t>Markdown</a:t>
            </a:r>
            <a:endParaRPr lang="fr-FR" dirty="0"/>
          </a:p>
          <a:p>
            <a:pPr lvl="1"/>
            <a:r>
              <a:rPr lang="fr-FR" dirty="0"/>
              <a:t>Deux </a:t>
            </a:r>
            <a:r>
              <a:rPr lang="fr-FR" dirty="0" err="1"/>
              <a:t>chunks</a:t>
            </a:r>
            <a:r>
              <a:rPr lang="fr-FR" dirty="0"/>
              <a:t> de code</a:t>
            </a:r>
          </a:p>
          <a:p>
            <a:r>
              <a:rPr lang="fr-FR" dirty="0"/>
              <a:t>Qui donnera le résultat à droite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AFB9EBC7-E475-2D22-071F-8C7E6FF9EF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68832" y="1825625"/>
            <a:ext cx="3388336" cy="4351338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46482F4-3B08-561A-14B9-983197932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C5334A6-B229-20AA-9D22-0525EC2D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06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8A01D35-688C-98AB-8F37-24E7D05DB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final : le premier R </a:t>
            </a:r>
            <a:r>
              <a:rPr lang="fr-FR" dirty="0" err="1"/>
              <a:t>Markdown</a:t>
            </a:r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6E66F59-53F3-67BD-71C3-7932ACE10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/>
              <a:t>Créez un fichier R </a:t>
            </a:r>
            <a:r>
              <a:rPr lang="fr-FR" dirty="0" err="1"/>
              <a:t>Markdown</a:t>
            </a:r>
            <a:r>
              <a:rPr lang="fr-FR" dirty="0"/>
              <a:t> qui contiendra :</a:t>
            </a:r>
          </a:p>
          <a:p>
            <a:pPr marL="514350" indent="-514350">
              <a:buAutoNum type="arabicPeriod"/>
            </a:pPr>
            <a:r>
              <a:rPr lang="fr-FR" dirty="0"/>
              <a:t>Un </a:t>
            </a:r>
            <a:r>
              <a:rPr lang="fr-FR" dirty="0" err="1"/>
              <a:t>chunk</a:t>
            </a:r>
            <a:r>
              <a:rPr lang="fr-FR" dirty="0"/>
              <a:t> de chargement des données COVID</a:t>
            </a:r>
          </a:p>
          <a:p>
            <a:pPr marL="514350" indent="-514350">
              <a:buAutoNum type="arabicPeriod"/>
            </a:pPr>
            <a:r>
              <a:rPr lang="fr-FR" dirty="0"/>
              <a:t>Un </a:t>
            </a:r>
            <a:r>
              <a:rPr lang="fr-FR" dirty="0" err="1"/>
              <a:t>chunk</a:t>
            </a:r>
            <a:r>
              <a:rPr lang="fr-FR" dirty="0"/>
              <a:t> de représentation graphique de l’expression de CD4 en fonction du temps pour les trois cas</a:t>
            </a:r>
          </a:p>
          <a:p>
            <a:pPr marL="514350" indent="-514350">
              <a:buAutoNum type="arabicPeriod"/>
            </a:pPr>
            <a:r>
              <a:rPr lang="fr-FR" dirty="0"/>
              <a:t>Un titre, votre nom et prénom et la date</a:t>
            </a:r>
          </a:p>
          <a:p>
            <a:pPr marL="514350" indent="-514350">
              <a:buAutoNum type="arabicPeriod"/>
            </a:pPr>
            <a:r>
              <a:rPr lang="fr-FR" dirty="0"/>
              <a:t>Un peu de texte explicatif</a:t>
            </a:r>
          </a:p>
          <a:p>
            <a:r>
              <a:rPr lang="fr-FR" dirty="0"/>
              <a:t>Vous pouvez travailler en groupe !</a:t>
            </a:r>
          </a:p>
          <a:p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2E2E0F-634E-084F-E419-2D71CCD96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F3E342-3339-6086-E106-47BE14044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FC770-EF26-2C46-8358-371AC2AA3164}" type="slidenum">
              <a:rPr lang="fr-FR" smtClean="0"/>
              <a:t>15</a:t>
            </a:fld>
            <a:endParaRPr lang="fr-FR"/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798979EB-A59D-EF3F-0E5C-F66EB99EAD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6788" y="1709737"/>
            <a:ext cx="4445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7114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3331</TotalTime>
  <Words>490</Words>
  <Application>Microsoft Macintosh PowerPoint</Application>
  <PresentationFormat>Grand écran</PresentationFormat>
  <Paragraphs>101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Cooper Black</vt:lpstr>
      <vt:lpstr>Courier New</vt:lpstr>
      <vt:lpstr>Thème Office</vt:lpstr>
      <vt:lpstr>Introduction to R Markdown</vt:lpstr>
      <vt:lpstr>A mixture of tools and languages</vt:lpstr>
      <vt:lpstr>Other features</vt:lpstr>
      <vt:lpstr>The default document</vt:lpstr>
      <vt:lpstr>Exercise: modify the default document</vt:lpstr>
      <vt:lpstr>The structure of an R Markdown file</vt:lpstr>
      <vt:lpstr>The structure of an R Markdown file</vt:lpstr>
      <vt:lpstr>The structure of an R Markdown file</vt:lpstr>
      <vt:lpstr>The structure of an R Markdown file</vt:lpstr>
      <vt:lpstr>Exercise</vt:lpstr>
      <vt:lpstr>La partie « texte » s’écrit en Markdown</vt:lpstr>
      <vt:lpstr>Exercice</vt:lpstr>
      <vt:lpstr>Les chunks</vt:lpstr>
      <vt:lpstr>Exercice</vt:lpstr>
      <vt:lpstr>Exercice final : le premier R Markdown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 GUILLEMOT</dc:creator>
  <cp:lastModifiedBy>Vincent  GUILLEMOT</cp:lastModifiedBy>
  <cp:revision>4</cp:revision>
  <dcterms:created xsi:type="dcterms:W3CDTF">2025-05-23T08:06:10Z</dcterms:created>
  <dcterms:modified xsi:type="dcterms:W3CDTF">2025-05-26T08:31:35Z</dcterms:modified>
</cp:coreProperties>
</file>