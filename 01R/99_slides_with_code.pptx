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71"/>
          <a:sy d="100" n="171"/>
        </p:scale>
        <p:origin x="456" y="168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Slides with code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Vincent Guillemot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2025-06-01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 COVID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covid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"data/covid.csv"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covid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32 × 582
   id     time status ABCB1  ABL1   ADA   AHR AICDA  AIRE   APP  ARG1  ARG2
   &lt;chr&gt; &lt;dbl&gt; &lt;chr&gt;  &lt;dbl&gt; &lt;dbl&gt; &lt;dbl&gt; &lt;dbl&gt; &lt;dbl&gt; &lt;dbl&gt; &lt;dbl&gt; &lt;dbl&gt; &lt;dbl&gt;
 1 HC59      0 HC      7.43  6.33  6.87  9.31  3.97  4.23  9.34  6.93  4.87
 2 HC60      0 HC      7.71  6.28  7.34  8.78  4.6   4.44  9.23  6.74  3.74
 3 HC68      0 HC      7.01  6.02  7.09  8.69  3.95  3.81  9.02  5.72  4.66
 4 HC98      0 HC      7.44  6.47  7.31  8.74  3.73  3.73  9.06  6.77  3.83
 5 HC74      0 HC      7.48  6.53  7.14  9.6   3.89  4.33  9.45  6.24  3.99
 6 HC88      0 HC      7.25  6.58  7.13 10.1   3.93  3.88  9.34  7.92  3.88
 7 HC91      0 HC      7.52  6.21  7.06  8.84  4.17  4.17  9.56  7.65  3.66
 8 HC94      0 HC      6.84  6.51  7.59  9.41  3.77  3.95  9.39  6.96  3.95
 9 HC75      0 HC      7     6.22  7.07  9.34  3.82  4.71  9.41  6.68  3.82
10 HC76      0 HC      7.27  6.41  6.41  9.4   4.88  3.86  9.08  4.83  3.86
# ℹ 22 more rows
# ℹ 570 more variables: ARHGDIB &lt;dbl&gt;, ATG10 &lt;dbl&gt;, ATG12 &lt;dbl&gt;, ATG16L1 &lt;dbl&gt;,
#   ATG5 &lt;dbl&gt;, ATG7 &lt;dbl&gt;, ATM &lt;dbl&gt;, B2M &lt;dbl&gt;, B3GAT1 &lt;dbl&gt;, BATF &lt;dbl&gt;,
#   BATF3 &lt;dbl&gt;, BAX &lt;dbl&gt;, BCAP31 &lt;dbl&gt;, BCL10 &lt;dbl&gt;, BCL2 &lt;dbl&gt;,
#   BCL2L11 &lt;dbl&gt;, BCL3 &lt;dbl&gt;, BCL6 &lt;dbl&gt;, BID &lt;dbl&gt;, BLNK &lt;dbl&gt;, BST1 &lt;dbl&gt;,
#   BST2 &lt;dbl&gt;, BTK &lt;dbl&gt;, BTLA &lt;dbl&gt;, C14orf166 &lt;dbl&gt;, C1QA &lt;dbl&gt;, C1QB &lt;dbl&gt;,
#   C1QBP &lt;dbl&gt;, C1R &lt;dbl&gt;, C1S &lt;dbl&gt;, C2 &lt;dbl&gt;, C3 &lt;dbl&gt;, `C4A/B` &lt;dbl&gt;, …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Pheatmap (small)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(pheatmap)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 &lt;-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J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543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 &lt;- Matrix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bdiag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diag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diag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 &lt;- </a:t>
            </a:r>
            <a:r>
              <a:rPr>
                <a:solidFill>
                  <a:srgbClr val="4758AB"/>
                </a:solidFill>
                <a:latin typeface="Courier"/>
              </a:rPr>
              <a:t>rbind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MASS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mvrnorm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I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Sigma =</a:t>
            </a:r>
            <a:r>
              <a:rPr>
                <a:solidFill>
                  <a:srgbClr val="003B4F"/>
                </a:solidFill>
                <a:latin typeface="Courier"/>
              </a:rPr>
              <a:t> sig),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MASS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mvrnorm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I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Sigma =</a:t>
            </a:r>
            <a:r>
              <a:rPr>
                <a:solidFill>
                  <a:srgbClr val="003B4F"/>
                </a:solidFill>
                <a:latin typeface="Courier"/>
              </a:rPr>
              <a:t> sig))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(mat) &lt;- </a:t>
            </a:r>
            <a:r>
              <a:rPr>
                <a:solidFill>
                  <a:srgbClr val="4758AB"/>
                </a:solidFill>
                <a:latin typeface="Courier"/>
              </a:rPr>
              <a:t>sprintf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"row %i"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I)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(mat) &lt;- </a:t>
            </a:r>
            <a:r>
              <a:rPr>
                <a:solidFill>
                  <a:srgbClr val="4758AB"/>
                </a:solidFill>
                <a:latin typeface="Courier"/>
              </a:rPr>
              <a:t>sprintf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"col %i"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J)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pheatmap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mat =</a:t>
            </a:r>
            <a:r>
              <a:rPr>
                <a:solidFill>
                  <a:srgbClr val="003B4F"/>
                </a:solidFill>
                <a:latin typeface="Courier"/>
              </a:rPr>
              <a:t> mat,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clustering_method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"ward.D2"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cellheight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border_color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99_slides_with_code_files/figure-pptx/pheatmap%20simul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Pheatmap demo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(pheatmap)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dimnames</a:t>
            </a:r>
            <a:r>
              <a:rPr>
                <a:solidFill>
                  <a:srgbClr val="003B4F"/>
                </a:solidFill>
                <a:latin typeface="Courier"/>
              </a:rPr>
              <a:t>(M)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(letters[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], LETTERS[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pheatmap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mat =</a:t>
            </a:r>
            <a:r>
              <a:rPr>
                <a:solidFill>
                  <a:srgbClr val="003B4F"/>
                </a:solidFill>
                <a:latin typeface="Courier"/>
              </a:rPr>
              <a:t> M)</a:t>
            </a:r>
          </a:p>
        </p:txBody>
      </p:sp>
      <p:pic>
        <p:nvPicPr>
          <p:cNvPr descr="99_slides_with_code_files/figure-pptx/pheatmap%20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Pheatmap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(pheatmap)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select_cases &lt;- covid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status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"nCOV"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minicovid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(covid[select_cases,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"IL1A"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"IL1B"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"IL1R1"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"CD4"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"CD8A"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"CD8B"</a:t>
            </a:r>
            <a:r>
              <a:rPr>
                <a:solidFill>
                  <a:srgbClr val="003B4F"/>
                </a:solidFill>
                <a:latin typeface="Courier"/>
              </a:rPr>
              <a:t>)])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(minicovid) &lt;- </a:t>
            </a:r>
            <a:r>
              <a:rPr>
                <a:solidFill>
                  <a:srgbClr val="4758AB"/>
                </a:solidFill>
                <a:latin typeface="Courier"/>
              </a:rPr>
              <a:t>with</a:t>
            </a:r>
            <a:r>
              <a:rPr>
                <a:solidFill>
                  <a:srgbClr val="003B4F"/>
                </a:solidFill>
                <a:latin typeface="Courier"/>
              </a:rPr>
              <a:t>(covid[select_cases,],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(id, </a:t>
            </a:r>
            <a:r>
              <a:rPr>
                <a:solidFill>
                  <a:srgbClr val="20794D"/>
                </a:solidFill>
                <a:latin typeface="Courier"/>
              </a:rPr>
              <a:t>" t="</a:t>
            </a:r>
            <a:r>
              <a:rPr>
                <a:solidFill>
                  <a:srgbClr val="003B4F"/>
                </a:solidFill>
                <a:latin typeface="Courier"/>
              </a:rPr>
              <a:t>, time))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pheatmap</a:t>
            </a:r>
            <a:r>
              <a:rPr>
                <a:solidFill>
                  <a:srgbClr val="003B4F"/>
                </a:solidFill>
                <a:latin typeface="Courier"/>
              </a:rPr>
              <a:t>(minicovid, </a:t>
            </a:r>
            <a:r>
              <a:rPr>
                <a:solidFill>
                  <a:srgbClr val="657422"/>
                </a:solidFill>
                <a:latin typeface="Courier"/>
              </a:rPr>
              <a:t>clustering_method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"ward.D2"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clustering_distance_cols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as.dist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(minicovid)), </a:t>
            </a:r>
            <a:r>
              <a:rPr>
                <a:solidFill>
                  <a:srgbClr val="657422"/>
                </a:solidFill>
                <a:latin typeface="Courier"/>
              </a:rPr>
              <a:t>cellwidth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colorRampPalette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"darkorchid3"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"linen"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"limegreen"</a:t>
            </a:r>
            <a:r>
              <a:rPr>
                <a:solidFill>
                  <a:srgbClr val="003B4F"/>
                </a:solidFill>
                <a:latin typeface="Courier"/>
              </a:rPr>
              <a:t>))(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border_color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99_slides_with_code_files/figure-pptx/pheatmap%20minicovi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dplyr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covid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(status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"HC"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(IL1R1)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meanIL1R1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(IL1R1))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meanIL1R1
      &lt;dbl&gt;
1       5.2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Grouping and summarizing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Grouping with </a:t>
            </a:r>
            <a:r>
              <a:rPr>
                <a:latin typeface="Courier"/>
              </a:rPr>
              <a:t>group_by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covid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(id)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(id, time, status, IFNG)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32 × 4
# Groups:   id [13]
   id     time status  IFNG
   &lt;chr&gt; &lt;dbl&gt; &lt;chr&gt;  &lt;dbl&gt;
 1 HC59      0 HC      4.31
 2 HC60      0 HC      5.35
 3 HC68      0 HC      5   
 4 HC98      0 HC      5.11
 5 HC74      0 HC      4.73
 6 HC88      0 HC      5.35
 7 HC91      0 HC      5.78
 8 HC94      0 HC      4.31
 9 HC75      0 HC      5.05
10 HC76      0 HC      4.93
# ℹ 22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Summarizing with </a:t>
            </a:r>
            <a:r>
              <a:rPr>
                <a:latin typeface="Courier"/>
              </a:rPr>
              <a:t>summarize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covid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(status)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(IFNG))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status mean_IFNG
  &lt;chr&gt;      &lt;dbl&gt;
1 HC          4.99
2 nCOV        4.12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Barplot of the number of observations per subject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covid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(id,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99_slides_with_code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Implémentation dans ggplot2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Données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Les données à représenter. Chaque ligne représente un élément à représenter graphiquement.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Géométries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Les formes à créer pour représenter les données. Cela peut être des points, des lignes, des surfaces etc.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Esthétiques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aes()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Les paramètres esthétiques de ces formes. Par exemple la position, la couleur, la taille, la forme, la transparence etc.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Échelles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scale_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Des fonctions permettant de paramétrer la transformation de données en formes ou en objets graphiques. Par exemple la fonction </a:t>
                      </a:r>
                      <a:r>
                        <a:rPr>
                          <a:latin typeface="Courier"/>
                        </a:rPr>
                        <a:t>scale_color_manual</a:t>
                      </a:r>
                      <a:r>
                        <a:rPr/>
                        <a:t> permet de choisir soi-même les couleurs à utiliser dans un graphique.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Patchwork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il1a &lt;- covid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(status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"nCOV"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time,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IL1A,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id))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il1b &lt;- covid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(status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"nCOV"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time,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IL1B,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id))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(il1a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il1b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plot_layout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guides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"collect"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"bottom"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99_slides_with_code_files/figure-pptx/pathchwork%20of%20plo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Macintosh PowerPoint</Application>
  <PresentationFormat>Affichage à l'écran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with code</dc:title>
  <dc:creator>Vincent Guillemot</dc:creator>
  <cp:keywords/>
  <dcterms:created xsi:type="dcterms:W3CDTF">2025-06-01T18:52:33Z</dcterms:created>
  <dcterms:modified xsi:type="dcterms:W3CDTF">2025-06-01T18:52:33Z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2025-06-01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