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6" r:id="rId4"/>
    <p:sldId id="278" r:id="rId5"/>
    <p:sldId id="277" r:id="rId6"/>
    <p:sldId id="279" r:id="rId7"/>
    <p:sldId id="281" r:id="rId8"/>
    <p:sldId id="280" r:id="rId9"/>
    <p:sldId id="282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1"/>
    <p:restoredTop sz="94638"/>
  </p:normalViewPr>
  <p:slideViewPr>
    <p:cSldViewPr snapToGrid="0">
      <p:cViewPr varScale="1">
        <p:scale>
          <a:sx n="114" d="100"/>
          <a:sy n="114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7CA22-74B5-674B-86F1-22F42745F9A6}" type="datetimeFigureOut">
              <a:rPr lang="fr-FR" smtClean="0"/>
              <a:t>31/05/2025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BCC43-0E90-0548-8CB4-C2E6766806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652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94E6E1-6608-283A-D030-5CFCB99B3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742326-E8AF-1D93-A2B1-7AA87B0DC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6D0F85-7C7F-395A-015E-32F18D094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0EE25-B4AA-7F4C-A9F6-0BF76B77CD37}" type="datetime1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18655E-059B-19D0-DDB9-517BEF2AD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9F6602-C0B8-009C-D441-7634541ED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537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B19A98-ADB0-824A-F830-A7E67889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660BE6-E457-CD34-DDAC-B5610F786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18170F-A3D3-4E91-2BA6-2758E24B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FCFA-A83A-8C43-9B81-73E6E29FAD10}" type="datetime1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26A125-2801-56AD-CFED-5C6957E13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F99863-CB9B-5EB8-1ED5-B115C0BC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0876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248AF9-0175-42CC-3640-90D4FFCC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35E7AE-5A10-6BB8-AD7B-A0A510DCC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9894E7-D86D-6035-9804-D2717602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E06D-FF95-C248-92DD-B98526EE7FAE}" type="datetime1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4A7E1B-5DB6-0EC1-F837-725AAEBD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6CD88C-9EA3-EDCF-410E-063B1BFFC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433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05EBBC-2B6F-DE46-C617-9F316BD6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21B78B-CE8E-8F3A-EC35-37AA85443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250F88-1A68-68A2-696E-47839A34D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321D12-11E7-8000-CFE1-36323B18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DBCE9-507B-9A48-8808-67AAC0AFA35F}" type="datetime1">
              <a:rPr lang="fr-FR" smtClean="0"/>
              <a:t>31/05/2025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1A68E2-A1E8-2F26-FCF4-4A601D6A4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BE5425-FD42-5031-B743-809657F7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81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8C6CF6-2704-D32F-9AA9-49847778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9F36DE-E721-EC2C-D1A8-974DCDBE6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2DE70A0-9A4D-C260-FD37-3C4E61E7C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1CA668A-F5B6-269E-1714-4B02EE49E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0AD7318-39F9-5101-A485-944DE2A1F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5C4F973-D8DA-C1D7-DF23-721B0271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25AB-13DF-FD4B-B94E-B8E10EBB4E1B}" type="datetime1">
              <a:rPr lang="fr-FR" smtClean="0"/>
              <a:t>31/05/2025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DE92E68-F5BD-AB61-E1A4-E6CFC7DC2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A737B7-E84A-2F90-AE94-EB7FCEA7A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9244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F0F08A-E83A-F7D4-456D-8FBBF241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6B8A0C-0D3A-83A0-86E3-70218DD77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C013-61EE-D047-924C-ECB9A6CD7CD5}" type="datetime1">
              <a:rPr lang="fr-FR" smtClean="0"/>
              <a:t>31/05/2025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A4EA119-E8F8-29AC-8672-09357FC2B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94F959-EC1F-B537-E583-DC13B68D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72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1494646-71CB-C30E-153C-CA741FC3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E8DF-E0E5-074A-8C14-707D8E751F96}" type="datetime1">
              <a:rPr lang="fr-FR" smtClean="0"/>
              <a:t>31/05/2025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3C2D9FB-9DB9-0AA1-726D-2570F8175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65DDA1-03A8-A856-6E90-4F6E6F7E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105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DB5B25-978C-6455-9778-D423FEF52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32F8E7-3B47-71F5-5CA7-BBFD8B399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BA2081-615C-B5A5-E213-7856DEDB6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1CB470-8CF3-DF5A-8504-B894C61C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61FF-8223-EE45-B643-07E3BB6B0D2D}" type="datetime1">
              <a:rPr lang="fr-FR" smtClean="0"/>
              <a:t>31/05/2025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684710-4D77-7E4C-CE56-C6A250448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F10B15-8A93-9A2E-3AE5-DEE32F872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82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9233AC-A40B-D8CA-69AE-736366E7F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CDDB9F3-A8DD-DB83-321B-ED7045170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064E0E8-5B99-E0A2-C526-7DE60A440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E8D985-9C5F-75A4-98A8-27B0630B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529C1-66A9-EA4D-80C4-5A5816D9B083}" type="datetime1">
              <a:rPr lang="fr-FR" smtClean="0"/>
              <a:t>31/05/2025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9D382C-89DF-C13D-34C1-F3AECBF3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0B12EC-4ADC-F6FE-15EE-D830D37D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404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DA869B-F3C3-52A4-DF23-7740664B1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039D098-AE34-CBE1-06B8-556C85578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3BAAB3-77FE-160B-C460-3AAD2791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2EE47-86AE-CF41-B18A-FCA4D53C0FA0}" type="datetime1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CD4AC3-66A5-15E6-9FCE-729B51B5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B4AB9A-D72A-14DA-ED3B-DCD30281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75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AD9707C-378E-F966-7416-BB1F13C5C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8F1CFC4-479B-8AF9-D1B4-847027957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0C7975-EB1A-71AC-3CC3-7657435F7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750ED-8AC0-0449-8500-715BA1CF1D4B}" type="datetime1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E6700E-4AAB-0EAA-83B7-8F2E6231C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1F0DAB-E8A3-ED9D-5C3F-371F00F1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937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A932EE-AC18-5234-A048-0CB163839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1F6E1B-CC8E-389A-FD03-D4DA65355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C8558B-A5FE-EBC8-53D3-43A203734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9EFE79-A723-4F49-B2DF-9BC02BF17F86}" type="datetime1">
              <a:rPr lang="fr-FR" smtClean="0"/>
              <a:t>31/05/2025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919716-75CA-2D12-7B00-ACE2D2047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24099A-332D-0177-D7D2-744A3C48D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C05C1-FA7E-DB42-9F51-FE4437F6CA8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04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FB7457-3A73-CEF0-939A-AE78336F9E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Complements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043A9E-3B25-0C97-8617-B5CC3D4387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Vincent Guillemot</a:t>
            </a:r>
          </a:p>
        </p:txBody>
      </p:sp>
    </p:spTree>
    <p:extLst>
      <p:ext uri="{BB962C8B-B14F-4D97-AF65-F5344CB8AC3E}">
        <p14:creationId xmlns:p14="http://schemas.microsoft.com/office/powerpoint/2010/main" val="253890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2F58C84-96B8-E94C-A9FD-D72D42CE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112" y="448511"/>
            <a:ext cx="11550316" cy="1325563"/>
          </a:xfrm>
        </p:spPr>
        <p:txBody>
          <a:bodyPr>
            <a:normAutofit/>
          </a:bodyPr>
          <a:lstStyle/>
          <a:p>
            <a:r>
              <a:rPr lang="en-US" sz="4000" dirty="0"/>
              <a:t>Package installation with </a:t>
            </a:r>
            <a:r>
              <a:rPr lang="en-US" sz="4000" b="1" dirty="0" err="1">
                <a:solidFill>
                  <a:schemeClr val="accent4">
                    <a:lumMod val="75000"/>
                  </a:schemeClr>
                </a:solidFill>
              </a:rPr>
              <a:t>Fripouille</a:t>
            </a:r>
            <a:endParaRPr lang="en-U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BCEC0ED-56B5-2741-ACD6-99C8924F9DB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733" y="2687385"/>
            <a:ext cx="3666527" cy="226193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95AA37D-9752-484F-AE3A-06F68691E2B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3606" y="1950869"/>
            <a:ext cx="3837216" cy="389625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D33113E-4BAE-AA44-814D-BB85C7ACD60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5168" y="2554703"/>
            <a:ext cx="2184400" cy="2527300"/>
          </a:xfrm>
          <a:prstGeom prst="rect">
            <a:avLst/>
          </a:prstGeom>
        </p:spPr>
      </p:pic>
      <p:sp>
        <p:nvSpPr>
          <p:cNvPr id="12" name="Flèche vers la droite 11">
            <a:extLst>
              <a:ext uri="{FF2B5EF4-FFF2-40B4-BE49-F238E27FC236}">
                <a16:creationId xmlns:a16="http://schemas.microsoft.com/office/drawing/2014/main" id="{1BB47773-0F95-5546-8E01-A9735BC25417}"/>
              </a:ext>
            </a:extLst>
          </p:cNvPr>
          <p:cNvSpPr/>
          <p:nvPr/>
        </p:nvSpPr>
        <p:spPr>
          <a:xfrm>
            <a:off x="2440501" y="3424994"/>
            <a:ext cx="3721769" cy="86627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ourier" pitchFamily="2" charset="0"/>
              </a:rPr>
              <a:t>install.packages</a:t>
            </a:r>
            <a:r>
              <a:rPr lang="en-US" dirty="0">
                <a:latin typeface="Courier" pitchFamily="2" charset="0"/>
              </a:rPr>
              <a:t>(”dog")</a:t>
            </a:r>
          </a:p>
        </p:txBody>
      </p:sp>
      <p:sp>
        <p:nvSpPr>
          <p:cNvPr id="13" name="Flèche vers la droite 12">
            <a:extLst>
              <a:ext uri="{FF2B5EF4-FFF2-40B4-BE49-F238E27FC236}">
                <a16:creationId xmlns:a16="http://schemas.microsoft.com/office/drawing/2014/main" id="{19933121-D6E9-7C4A-8EFD-DD2078838AA8}"/>
              </a:ext>
            </a:extLst>
          </p:cNvPr>
          <p:cNvSpPr/>
          <p:nvPr/>
        </p:nvSpPr>
        <p:spPr>
          <a:xfrm>
            <a:off x="7437421" y="3389529"/>
            <a:ext cx="2426106" cy="1018929"/>
          </a:xfrm>
          <a:prstGeom prst="rightArrow">
            <a:avLst>
              <a:gd name="adj1" fmla="val 48480"/>
              <a:gd name="adj2" fmla="val 50000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urier" pitchFamily="2" charset="0"/>
              </a:rPr>
              <a:t>library(dog)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3A89EDB-4459-C945-8E25-5BB7CB783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733" y="2687385"/>
            <a:ext cx="1010070" cy="79933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70A9875-782E-754A-AD55-36F165DB2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803" y="2882255"/>
            <a:ext cx="2656457" cy="347869"/>
          </a:xfrm>
          <a:prstGeom prst="rect">
            <a:avLst/>
          </a:prstGeom>
        </p:spPr>
      </p:pic>
      <p:sp>
        <p:nvSpPr>
          <p:cNvPr id="5" name="Pensées 4">
            <a:extLst>
              <a:ext uri="{FF2B5EF4-FFF2-40B4-BE49-F238E27FC236}">
                <a16:creationId xmlns:a16="http://schemas.microsoft.com/office/drawing/2014/main" id="{DF33E3FC-2D85-E146-A02D-2A561D77FF66}"/>
              </a:ext>
            </a:extLst>
          </p:cNvPr>
          <p:cNvSpPr/>
          <p:nvPr/>
        </p:nvSpPr>
        <p:spPr>
          <a:xfrm>
            <a:off x="9863527" y="1547535"/>
            <a:ext cx="1903751" cy="780629"/>
          </a:xfrm>
          <a:prstGeom prst="cloudCallout">
            <a:avLst>
              <a:gd name="adj1" fmla="val -15678"/>
              <a:gd name="adj2" fmla="val 108586"/>
            </a:avLst>
          </a:prstGeom>
          <a:solidFill>
            <a:srgbClr val="C08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latin typeface="Courier" pitchFamily="2" charset="0"/>
              </a:rPr>
              <a:t>ouaf</a:t>
            </a:r>
            <a:r>
              <a:rPr lang="en-US" sz="2000" b="1" dirty="0">
                <a:latin typeface="Courier" pitchFamily="2" charset="0"/>
              </a:rPr>
              <a:t>()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836484C-3A8B-564A-B41F-0E27431FC6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59" y="5706624"/>
            <a:ext cx="1297217" cy="1151376"/>
          </a:xfrm>
          <a:prstGeom prst="rect">
            <a:avLst/>
          </a:prstGeom>
        </p:spPr>
      </p:pic>
      <p:pic>
        <p:nvPicPr>
          <p:cNvPr id="1026" name="Picture 2" descr="Trente ans de Mac en images - Bilan">
            <a:extLst>
              <a:ext uri="{FF2B5EF4-FFF2-40B4-BE49-F238E27FC236}">
                <a16:creationId xmlns:a16="http://schemas.microsoft.com/office/drawing/2014/main" id="{43748F5F-BEB5-7447-83F8-B9820A8E8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112" y="1697561"/>
            <a:ext cx="1920362" cy="127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00BB4FA-656A-8C57-8751-05EE4F2A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353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AFCF02-AA12-FF4A-BB67-743CEA9F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04" y="266725"/>
            <a:ext cx="8551336" cy="1325563"/>
          </a:xfrm>
        </p:spPr>
        <p:txBody>
          <a:bodyPr/>
          <a:lstStyle/>
          <a:p>
            <a:r>
              <a:rPr lang="en-US" dirty="0"/>
              <a:t>I forgot the names of the commands!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07D6F50-F0F9-9F42-A1B9-611F3B7B9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5430" y="411956"/>
            <a:ext cx="1176740" cy="12319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E159164-4A04-1441-9183-258680F51B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93"/>
          <a:stretch/>
        </p:blipFill>
        <p:spPr>
          <a:xfrm>
            <a:off x="1871132" y="1952360"/>
            <a:ext cx="2671263" cy="12065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4FC00A8-7E5A-114A-89FD-50627FC24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461" y="3289696"/>
            <a:ext cx="4220603" cy="311573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53E8B1F-93A2-3B4B-A971-402370D05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7030" y="1961620"/>
            <a:ext cx="3708400" cy="17653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391F30B-3C0D-3F4C-AFE7-1580194AD7D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51757"/>
          <a:stretch/>
        </p:blipFill>
        <p:spPr>
          <a:xfrm>
            <a:off x="6822080" y="3997852"/>
            <a:ext cx="4178300" cy="66169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41F256E-9B64-BE4E-A965-D01E2A4607D4}"/>
              </a:ext>
            </a:extLst>
          </p:cNvPr>
          <p:cNvSpPr txBox="1"/>
          <p:nvPr/>
        </p:nvSpPr>
        <p:spPr>
          <a:xfrm>
            <a:off x="1096461" y="1287990"/>
            <a:ext cx="331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Installation : just once*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EFD6893-C8B0-D14B-ABD0-3013760E5775}"/>
              </a:ext>
            </a:extLst>
          </p:cNvPr>
          <p:cNvSpPr txBox="1"/>
          <p:nvPr/>
        </p:nvSpPr>
        <p:spPr>
          <a:xfrm>
            <a:off x="244098" y="6405429"/>
            <a:ext cx="3913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*Except to reinstall or update, of course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2956809-0D03-CF4F-9202-52703B960075}"/>
              </a:ext>
            </a:extLst>
          </p:cNvPr>
          <p:cNvSpPr txBox="1"/>
          <p:nvPr/>
        </p:nvSpPr>
        <p:spPr>
          <a:xfrm>
            <a:off x="6515129" y="1287990"/>
            <a:ext cx="3886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the library: when needed </a:t>
            </a:r>
          </a:p>
          <a:p>
            <a:r>
              <a:rPr lang="en-US" dirty="0"/>
              <a:t>(frequently)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D4A840-0919-E342-AA84-BE15458FE91E}"/>
              </a:ext>
            </a:extLst>
          </p:cNvPr>
          <p:cNvSpPr txBox="1"/>
          <p:nvPr/>
        </p:nvSpPr>
        <p:spPr>
          <a:xfrm>
            <a:off x="7057030" y="5083478"/>
            <a:ext cx="354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141B6"/>
                </a:solidFill>
              </a:rPr>
              <a:t>&gt; </a:t>
            </a:r>
            <a:r>
              <a:rPr lang="en-US" dirty="0" err="1">
                <a:solidFill>
                  <a:srgbClr val="9141B6"/>
                </a:solidFill>
              </a:rPr>
              <a:t>aFunctionThatILike</a:t>
            </a:r>
            <a:r>
              <a:rPr lang="en-US" dirty="0">
                <a:solidFill>
                  <a:srgbClr val="9141B6"/>
                </a:solidFill>
              </a:rPr>
              <a:t>(42)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28D6EB-09E5-D345-8D2C-3FAE7D021068}"/>
              </a:ext>
            </a:extLst>
          </p:cNvPr>
          <p:cNvSpPr txBox="1"/>
          <p:nvPr/>
        </p:nvSpPr>
        <p:spPr>
          <a:xfrm>
            <a:off x="7031478" y="4714146"/>
            <a:ext cx="354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141B6"/>
                </a:solidFill>
              </a:rPr>
              <a:t>&gt; library(purr)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5E639D1D-756E-CC85-8B29-BCF8489E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7195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E7B8C-F97D-27C6-E1A1-16A1D985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 data (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little</a:t>
            </a:r>
            <a:r>
              <a:rPr lang="fr-FR" dirty="0"/>
              <a:t> help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Rstudio</a:t>
            </a:r>
            <a:r>
              <a:rPr lang="fr-FR" dirty="0"/>
              <a:t>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0F83C1-70D0-FC93-2BCC-83D76EF01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Import </a:t>
            </a:r>
            <a:r>
              <a:rPr lang="fr-FR" dirty="0" err="1"/>
              <a:t>Dataset</a:t>
            </a:r>
            <a:r>
              <a:rPr lang="fr-FR" dirty="0"/>
              <a:t> &gt; 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67BDC3-4D2A-C26A-5BD5-9B447C9F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B0264DF-3BEC-73D3-A7A1-14F8EA1A0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51266"/>
            <a:ext cx="2082800" cy="21463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37AEABD-F6D2-2775-A2B7-A6729F84E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881" y="1394906"/>
            <a:ext cx="6345570" cy="52127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1743590-F9B6-3C7A-B768-D5FC68AF385C}"/>
              </a:ext>
            </a:extLst>
          </p:cNvPr>
          <p:cNvSpPr/>
          <p:nvPr/>
        </p:nvSpPr>
        <p:spPr>
          <a:xfrm>
            <a:off x="5272903" y="4463275"/>
            <a:ext cx="5118006" cy="1628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Save the </a:t>
            </a:r>
            <a:r>
              <a:rPr lang="fr-FR" dirty="0" err="1"/>
              <a:t>commands</a:t>
            </a:r>
            <a:r>
              <a:rPr lang="fr-FR" dirty="0"/>
              <a:t> in </a:t>
            </a:r>
            <a:r>
              <a:rPr lang="fr-FR" dirty="0" err="1"/>
              <a:t>your</a:t>
            </a:r>
            <a:r>
              <a:rPr lang="fr-FR" dirty="0"/>
              <a:t> script:</a:t>
            </a:r>
            <a:br>
              <a:rPr lang="fr-FR" dirty="0"/>
            </a:br>
            <a:r>
              <a:rPr lang="fr-FR" dirty="0">
                <a:latin typeface="PT Mono" panose="02060509020205020204" pitchFamily="49" charset="77"/>
              </a:rPr>
              <a:t>     covid &lt;- </a:t>
            </a:r>
            <a:r>
              <a:rPr lang="fr-FR" dirty="0" err="1">
                <a:latin typeface="PT Mono" panose="02060509020205020204" pitchFamily="49" charset="77"/>
              </a:rPr>
              <a:t>read.csv</a:t>
            </a:r>
            <a:r>
              <a:rPr lang="fr-FR" dirty="0">
                <a:latin typeface="PT Mono" panose="02060509020205020204" pitchFamily="49" charset="77"/>
              </a:rPr>
              <a:t>("</a:t>
            </a:r>
            <a:r>
              <a:rPr lang="fr-FR" dirty="0" err="1">
                <a:latin typeface="PT Mono" panose="02060509020205020204" pitchFamily="49" charset="77"/>
              </a:rPr>
              <a:t>covid.csv</a:t>
            </a:r>
            <a:r>
              <a:rPr lang="fr-FR" dirty="0">
                <a:latin typeface="PT Mono" panose="02060509020205020204" pitchFamily="49" charset="77"/>
              </a:rPr>
              <a:t>")</a:t>
            </a:r>
          </a:p>
          <a:p>
            <a:r>
              <a:rPr lang="fr-FR" dirty="0">
                <a:latin typeface="PT Mono" panose="02060509020205020204" pitchFamily="49" charset="77"/>
              </a:rPr>
              <a:t>     </a:t>
            </a:r>
            <a:r>
              <a:rPr lang="fr-FR" dirty="0" err="1">
                <a:latin typeface="PT Mono" panose="02060509020205020204" pitchFamily="49" charset="77"/>
              </a:rPr>
              <a:t>View</a:t>
            </a:r>
            <a:r>
              <a:rPr lang="fr-FR" dirty="0">
                <a:latin typeface="PT Mono" panose="02060509020205020204" pitchFamily="49" charset="77"/>
              </a:rPr>
              <a:t>(covid)</a:t>
            </a:r>
            <a:br>
              <a:rPr lang="fr-FR" dirty="0"/>
            </a:br>
            <a:br>
              <a:rPr lang="fr-FR" dirty="0"/>
            </a:br>
            <a:r>
              <a:rPr lang="fr-FR" dirty="0"/>
              <a:t>Yes, </a:t>
            </a:r>
            <a:r>
              <a:rPr lang="fr-FR" dirty="0" err="1"/>
              <a:t>it’s</a:t>
            </a:r>
            <a:r>
              <a:rPr lang="fr-FR" dirty="0"/>
              <a:t> </a:t>
            </a:r>
            <a:r>
              <a:rPr lang="fr-FR" dirty="0" err="1"/>
              <a:t>useful</a:t>
            </a:r>
            <a:r>
              <a:rPr lang="fr-FR" dirty="0"/>
              <a:t>! (and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comments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8417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4DEA64-4AFA-2C4F-133A-9AD5F5000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Extract</a:t>
            </a:r>
            <a:r>
              <a:rPr lang="fr-FR" dirty="0"/>
              <a:t> </a:t>
            </a:r>
            <a:r>
              <a:rPr lang="fr-FR" dirty="0" err="1"/>
              <a:t>rows</a:t>
            </a:r>
            <a:r>
              <a:rPr lang="fr-FR" dirty="0"/>
              <a:t> and </a:t>
            </a:r>
            <a:r>
              <a:rPr lang="fr-FR" dirty="0" err="1"/>
              <a:t>columns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[,] or $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AA9C8E-674F-90EB-C034-B145E02102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With</a:t>
            </a:r>
            <a:r>
              <a:rPr lang="fr-FR" dirty="0"/>
              <a:t> a dollar </a:t>
            </a:r>
            <a:r>
              <a:rPr lang="fr-FR" dirty="0" err="1"/>
              <a:t>sign</a:t>
            </a:r>
            <a:endParaRPr lang="fr-FR" dirty="0"/>
          </a:p>
          <a:p>
            <a:pPr marL="0" indent="0">
              <a:buNone/>
            </a:pPr>
            <a:r>
              <a:rPr lang="fr-FR" sz="1800" dirty="0" err="1">
                <a:latin typeface="PT Mono" panose="02060509020205020204" pitchFamily="49" charset="77"/>
              </a:rPr>
              <a:t>covid$IFNG</a:t>
            </a:r>
            <a:endParaRPr lang="fr-FR" sz="1800" dirty="0">
              <a:latin typeface="PT Mono" panose="02060509020205020204" pitchFamily="49" charset="77"/>
            </a:endParaRPr>
          </a:p>
          <a:p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integers</a:t>
            </a:r>
            <a:endParaRPr lang="fr-FR" dirty="0"/>
          </a:p>
          <a:p>
            <a:pPr marL="0" indent="0">
              <a:buNone/>
            </a:pPr>
            <a:r>
              <a:rPr lang="fr-FR" sz="1800" dirty="0">
                <a:latin typeface="PT Mono" panose="02060509020205020204" pitchFamily="49" charset="77"/>
              </a:rPr>
              <a:t>covid[, c(1, 2, 4, 156)]</a:t>
            </a:r>
          </a:p>
          <a:p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booleans</a:t>
            </a:r>
            <a:endParaRPr lang="fr-FR" dirty="0"/>
          </a:p>
          <a:p>
            <a:pPr marL="0" indent="0">
              <a:buNone/>
            </a:pPr>
            <a:r>
              <a:rPr lang="fr-FR" sz="1800" dirty="0">
                <a:latin typeface="PT Mono" panose="02060509020205020204" pitchFamily="49" charset="77"/>
              </a:rPr>
              <a:t>covid[</a:t>
            </a:r>
            <a:r>
              <a:rPr lang="fr-FR" sz="1800" dirty="0" err="1">
                <a:latin typeface="PT Mono" panose="02060509020205020204" pitchFamily="49" charset="77"/>
              </a:rPr>
              <a:t>covid$status</a:t>
            </a:r>
            <a:r>
              <a:rPr lang="fr-FR" sz="1800" dirty="0">
                <a:latin typeface="PT Mono" panose="02060509020205020204" pitchFamily="49" charset="77"/>
              </a:rPr>
              <a:t> != "HC", ]</a:t>
            </a:r>
          </a:p>
          <a:p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character</a:t>
            </a:r>
            <a:r>
              <a:rPr lang="fr-FR" dirty="0"/>
              <a:t> strings…</a:t>
            </a:r>
          </a:p>
          <a:p>
            <a:pPr marL="0" indent="0">
              <a:buNone/>
            </a:pPr>
            <a:r>
              <a:rPr lang="fr-FR" sz="1800" dirty="0">
                <a:latin typeface="PT Mono" panose="02060509020205020204" pitchFamily="49" charset="77"/>
              </a:rPr>
              <a:t>covid[, c("IFNG")]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59E7D91-7353-F72E-9D04-12A9C7CB6F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dirty="0"/>
              <a:t>Or </a:t>
            </a:r>
            <a:r>
              <a:rPr lang="fr-FR" dirty="0" err="1"/>
              <a:t>with</a:t>
            </a:r>
            <a:r>
              <a:rPr lang="fr-FR" dirty="0"/>
              <a:t> combinations of one or </a:t>
            </a:r>
            <a:r>
              <a:rPr lang="fr-FR" dirty="0" err="1"/>
              <a:t>several</a:t>
            </a:r>
            <a:r>
              <a:rPr lang="fr-FR" dirty="0"/>
              <a:t> techniques</a:t>
            </a:r>
          </a:p>
          <a:p>
            <a:pPr marL="0" indent="0">
              <a:buNone/>
            </a:pPr>
            <a:r>
              <a:rPr lang="fr-FR" sz="1800" dirty="0" err="1">
                <a:latin typeface="PT Mono" panose="02060509020205020204" pitchFamily="49" charset="77"/>
              </a:rPr>
              <a:t>covid$IFNG</a:t>
            </a:r>
            <a:r>
              <a:rPr lang="fr-FR" sz="1800" dirty="0">
                <a:latin typeface="PT Mono" panose="02060509020205020204" pitchFamily="49" charset="77"/>
              </a:rPr>
              <a:t>[</a:t>
            </a:r>
            <a:r>
              <a:rPr lang="fr-FR" sz="1800" dirty="0" err="1">
                <a:latin typeface="PT Mono" panose="02060509020205020204" pitchFamily="49" charset="77"/>
              </a:rPr>
              <a:t>covid$status</a:t>
            </a:r>
            <a:r>
              <a:rPr lang="fr-FR" sz="1800" dirty="0">
                <a:latin typeface="PT Mono" panose="02060509020205020204" pitchFamily="49" charset="77"/>
              </a:rPr>
              <a:t> == "HC"]</a:t>
            </a:r>
          </a:p>
          <a:p>
            <a:pPr marL="0" indent="0">
              <a:buNone/>
            </a:pPr>
            <a:r>
              <a:rPr lang="fr-FR" sz="1800" dirty="0">
                <a:latin typeface="PT Mono" panose="02060509020205020204" pitchFamily="49" charset="77"/>
              </a:rPr>
              <a:t>covid[</a:t>
            </a:r>
            <a:r>
              <a:rPr lang="fr-FR" sz="1800" dirty="0" err="1">
                <a:latin typeface="PT Mono" panose="02060509020205020204" pitchFamily="49" charset="77"/>
              </a:rPr>
              <a:t>covid$status</a:t>
            </a:r>
            <a:r>
              <a:rPr lang="fr-FR" sz="1800" dirty="0">
                <a:latin typeface="PT Mono" panose="02060509020205020204" pitchFamily="49" charset="77"/>
              </a:rPr>
              <a:t> == "</a:t>
            </a:r>
            <a:r>
              <a:rPr lang="fr-FR" sz="1800" dirty="0" err="1">
                <a:latin typeface="PT Mono" panose="02060509020205020204" pitchFamily="49" charset="77"/>
              </a:rPr>
              <a:t>nCOV</a:t>
            </a:r>
            <a:r>
              <a:rPr lang="fr-FR" sz="1800" dirty="0">
                <a:latin typeface="PT Mono" panose="02060509020205020204" pitchFamily="49" charset="77"/>
              </a:rPr>
              <a:t>", 1:3]</a:t>
            </a:r>
          </a:p>
          <a:p>
            <a:pPr marL="0" indent="0">
              <a:buNone/>
            </a:pPr>
            <a:r>
              <a:rPr lang="fr-FR" sz="1800" dirty="0">
                <a:latin typeface="PT Mono" panose="02060509020205020204" pitchFamily="49" charset="77"/>
              </a:rPr>
              <a:t>covid[</a:t>
            </a:r>
          </a:p>
          <a:p>
            <a:pPr marL="0" indent="0">
              <a:buNone/>
            </a:pPr>
            <a:r>
              <a:rPr lang="fr-FR" sz="1800" dirty="0">
                <a:latin typeface="PT Mono" panose="02060509020205020204" pitchFamily="49" charset="77"/>
              </a:rPr>
              <a:t>   </a:t>
            </a:r>
            <a:r>
              <a:rPr lang="fr-FR" sz="1800" dirty="0" err="1">
                <a:latin typeface="PT Mono" panose="02060509020205020204" pitchFamily="49" charset="77"/>
              </a:rPr>
              <a:t>covid$status</a:t>
            </a:r>
            <a:r>
              <a:rPr lang="fr-FR" sz="1800" dirty="0">
                <a:latin typeface="PT Mono" panose="02060509020205020204" pitchFamily="49" charset="77"/>
              </a:rPr>
              <a:t> == "</a:t>
            </a:r>
            <a:r>
              <a:rPr lang="fr-FR" sz="1800" dirty="0" err="1">
                <a:latin typeface="PT Mono" panose="02060509020205020204" pitchFamily="49" charset="77"/>
              </a:rPr>
              <a:t>nCOV</a:t>
            </a:r>
            <a:r>
              <a:rPr lang="fr-FR" sz="1800" dirty="0">
                <a:latin typeface="PT Mono" panose="02060509020205020204" pitchFamily="49" charset="77"/>
              </a:rPr>
              <a:t>",</a:t>
            </a:r>
          </a:p>
          <a:p>
            <a:pPr marL="0" indent="0">
              <a:buNone/>
            </a:pPr>
            <a:r>
              <a:rPr lang="fr-FR" sz="1800" dirty="0">
                <a:latin typeface="PT Mono" panose="02060509020205020204" pitchFamily="49" charset="77"/>
              </a:rPr>
              <a:t>   c("IL1A", "IL1B", "IL1R1")]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2EA88B-4EAF-C50F-410C-03E81076A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8664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931F7-6204-8166-2596-7208D9C4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pheatmap</a:t>
            </a:r>
            <a:r>
              <a:rPr lang="en-US" noProof="0" dirty="0"/>
              <a:t>: “Pretty” heatmaps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0B9505-FC74-E41B-06D5-15BB44EEC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67C120-74C5-9464-B8A8-DC76CFE2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1416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8BF603-BA7F-9DC0-19A9-A3723A38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D86600-22A5-1D3E-0CE5-6D5C93BD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1CEC49-0C2F-63B7-4078-CB843D68C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148" y="571301"/>
            <a:ext cx="5201652" cy="5715395"/>
          </a:xfrm>
          <a:prstGeom prst="rect">
            <a:avLst/>
          </a:prstGeom>
        </p:spPr>
      </p:pic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B190031B-06D7-A464-3810-4CB561807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511986"/>
              </p:ext>
            </p:extLst>
          </p:nvPr>
        </p:nvGraphicFramePr>
        <p:xfrm>
          <a:off x="838200" y="2151697"/>
          <a:ext cx="4020566" cy="255460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591566">
                  <a:extLst>
                    <a:ext uri="{9D8B030D-6E8A-4147-A177-3AD203B41FA5}">
                      <a16:colId xmlns:a16="http://schemas.microsoft.com/office/drawing/2014/main" val="23429467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592238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348235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48113978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35618232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3187931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col 1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col 2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col 3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col 4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col 5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943538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row 1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-2.34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-2.16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-1.28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1.54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0.75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73034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row 2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-1.10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-1.30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-0.11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-0.96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1.45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68386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row 3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-1.29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-1.47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-0.44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-0.02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0.65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431115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row 4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-1.18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-0.67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0.39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-0.30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0.70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582949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row 5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2.22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1.92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1.60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-1.90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1.34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051763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row 6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2.53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2.75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0.75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0.86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0.52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13064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>
                          <a:effectLst/>
                        </a:rPr>
                        <a:t>row 7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0.78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0.65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-0.41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-1.03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1.38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38178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fr-FR" sz="1800" u="none" strike="noStrike" dirty="0" err="1">
                          <a:effectLst/>
                        </a:rPr>
                        <a:t>row</a:t>
                      </a:r>
                      <a:r>
                        <a:rPr lang="fr-FR" sz="1800" u="none" strike="noStrike" dirty="0">
                          <a:effectLst/>
                        </a:rPr>
                        <a:t> 8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0.84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0.83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0.00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>
                          <a:effectLst/>
                        </a:rPr>
                        <a:t>0.56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800" u="none" strike="noStrike" dirty="0">
                          <a:effectLst/>
                        </a:rPr>
                        <a:t>-1.39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64219867"/>
                  </a:ext>
                </a:extLst>
              </a:tr>
            </a:tbl>
          </a:graphicData>
        </a:graphic>
      </p:graphicFrame>
      <p:sp>
        <p:nvSpPr>
          <p:cNvPr id="9" name="Flèche vers la droite 8">
            <a:extLst>
              <a:ext uri="{FF2B5EF4-FFF2-40B4-BE49-F238E27FC236}">
                <a16:creationId xmlns:a16="http://schemas.microsoft.com/office/drawing/2014/main" id="{C95E671C-D553-F9B3-C309-D2BCE261BD19}"/>
              </a:ext>
            </a:extLst>
          </p:cNvPr>
          <p:cNvSpPr/>
          <p:nvPr/>
        </p:nvSpPr>
        <p:spPr>
          <a:xfrm>
            <a:off x="5216893" y="3272589"/>
            <a:ext cx="1174282" cy="288758"/>
          </a:xfrm>
          <a:prstGeom prst="rightArrow">
            <a:avLst/>
          </a:prstGeom>
          <a:pattFill prst="pct70">
            <a:fgClr>
              <a:schemeClr val="accent5"/>
            </a:fgClr>
            <a:bgClr>
              <a:schemeClr val="bg1"/>
            </a:bgClr>
          </a:patt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658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09567641-9771-11B2-5652-8895C0F49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Composition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7A7FEF-16B0-0267-BB20-E2603FAC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7</a:t>
            </a:fld>
            <a:endParaRPr lang="fr-FR"/>
          </a:p>
        </p:txBody>
      </p:sp>
      <p:pic>
        <p:nvPicPr>
          <p:cNvPr id="7" name="Picture 1" descr="99_slides_with_code_files/figure-pptx/pheatmap%20simulation-1.png">
            <a:extLst>
              <a:ext uri="{FF2B5EF4-FFF2-40B4-BE49-F238E27FC236}">
                <a16:creationId xmlns:a16="http://schemas.microsoft.com/office/drawing/2014/main" id="{BC983BD0-4866-6583-5EE1-31440E486BE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34168" t="16435" r="35667" b="16447"/>
          <a:stretch>
            <a:fillRect/>
          </a:stretch>
        </p:blipFill>
        <p:spPr bwMode="auto">
          <a:xfrm>
            <a:off x="3537283" y="1690688"/>
            <a:ext cx="4109988" cy="457236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8F3EA5C-94B7-95BE-43B3-CF6C52F3CA5D}"/>
              </a:ext>
            </a:extLst>
          </p:cNvPr>
          <p:cNvSpPr/>
          <p:nvPr/>
        </p:nvSpPr>
        <p:spPr>
          <a:xfrm>
            <a:off x="4764505" y="1690688"/>
            <a:ext cx="1713297" cy="10910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Légende à une bordure 1 8">
            <a:extLst>
              <a:ext uri="{FF2B5EF4-FFF2-40B4-BE49-F238E27FC236}">
                <a16:creationId xmlns:a16="http://schemas.microsoft.com/office/drawing/2014/main" id="{929BD7F1-C3C4-FF4B-2829-B5BD8CC7319A}"/>
              </a:ext>
            </a:extLst>
          </p:cNvPr>
          <p:cNvSpPr/>
          <p:nvPr/>
        </p:nvSpPr>
        <p:spPr>
          <a:xfrm>
            <a:off x="6410425" y="365125"/>
            <a:ext cx="1992430" cy="1155667"/>
          </a:xfrm>
          <a:prstGeom prst="accent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Dendrogram</a:t>
            </a:r>
            <a:r>
              <a:rPr lang="fr-FR" dirty="0"/>
              <a:t> of the </a:t>
            </a:r>
            <a:r>
              <a:rPr lang="fr-FR" dirty="0" err="1"/>
              <a:t>columns</a:t>
            </a:r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E4BC1-DB43-E881-7987-EA2C55968AAA}"/>
              </a:ext>
            </a:extLst>
          </p:cNvPr>
          <p:cNvSpPr/>
          <p:nvPr/>
        </p:nvSpPr>
        <p:spPr>
          <a:xfrm>
            <a:off x="3705726" y="2827105"/>
            <a:ext cx="1058779" cy="268817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Légende à une bordure 1 10">
            <a:extLst>
              <a:ext uri="{FF2B5EF4-FFF2-40B4-BE49-F238E27FC236}">
                <a16:creationId xmlns:a16="http://schemas.microsoft.com/office/drawing/2014/main" id="{AA7E1BCE-7A5F-7CDC-5AF2-A997DED90335}"/>
              </a:ext>
            </a:extLst>
          </p:cNvPr>
          <p:cNvSpPr/>
          <p:nvPr/>
        </p:nvSpPr>
        <p:spPr>
          <a:xfrm>
            <a:off x="1122145" y="3856505"/>
            <a:ext cx="1992430" cy="1155667"/>
          </a:xfrm>
          <a:prstGeom prst="accentCallout1">
            <a:avLst>
              <a:gd name="adj1" fmla="val 22082"/>
              <a:gd name="adj2" fmla="val 104710"/>
              <a:gd name="adj3" fmla="val 8391"/>
              <a:gd name="adj4" fmla="val 1264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Dendrogram</a:t>
            </a:r>
            <a:r>
              <a:rPr lang="fr-FR" dirty="0"/>
              <a:t> of the </a:t>
            </a:r>
            <a:r>
              <a:rPr lang="fr-FR" dirty="0" err="1"/>
              <a:t>rows</a:t>
            </a:r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97857F-C08D-9F89-993E-204BD6FCA902}"/>
              </a:ext>
            </a:extLst>
          </p:cNvPr>
          <p:cNvSpPr/>
          <p:nvPr/>
        </p:nvSpPr>
        <p:spPr>
          <a:xfrm>
            <a:off x="7040077" y="2781702"/>
            <a:ext cx="423511" cy="268817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Légende à une bordure 1 12">
            <a:extLst>
              <a:ext uri="{FF2B5EF4-FFF2-40B4-BE49-F238E27FC236}">
                <a16:creationId xmlns:a16="http://schemas.microsoft.com/office/drawing/2014/main" id="{071BBA01-3001-E324-B46E-BCFB4C5F892E}"/>
              </a:ext>
            </a:extLst>
          </p:cNvPr>
          <p:cNvSpPr/>
          <p:nvPr/>
        </p:nvSpPr>
        <p:spPr>
          <a:xfrm>
            <a:off x="8267299" y="3015523"/>
            <a:ext cx="1992430" cy="1155667"/>
          </a:xfrm>
          <a:prstGeom prst="accentCallout1">
            <a:avLst>
              <a:gd name="adj1" fmla="val 90377"/>
              <a:gd name="adj2" fmla="val -5917"/>
              <a:gd name="adj3" fmla="val 94176"/>
              <a:gd name="adj4" fmla="val -402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Legend</a:t>
            </a:r>
            <a:r>
              <a:rPr lang="fr-FR" dirty="0"/>
              <a:t> (</a:t>
            </a:r>
            <a:r>
              <a:rPr lang="fr-FR" dirty="0" err="1"/>
              <a:t>color</a:t>
            </a:r>
            <a:r>
              <a:rPr lang="fr-FR" dirty="0"/>
              <a:t> of the </a:t>
            </a:r>
            <a:r>
              <a:rPr lang="fr-FR" dirty="0" err="1"/>
              <a:t>cells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827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ED3AD3-3FC3-56C0-2111-6D8C788A6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57CD32-31FC-4184-87EF-2AAC8DBB8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heatmap</a:t>
            </a:r>
            <a:r>
              <a:rPr lang="fr-FR" dirty="0"/>
              <a:t> of the expression of </a:t>
            </a:r>
            <a:r>
              <a:rPr lang="fr-FR" dirty="0" err="1"/>
              <a:t>genes</a:t>
            </a:r>
            <a:r>
              <a:rPr lang="fr-FR" dirty="0"/>
              <a:t> IL1A, IL1B, IL1R1, CD4, CD8A, and CD8B.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i="1" dirty="0"/>
              <a:t>Bonus </a:t>
            </a:r>
            <a:r>
              <a:rPr lang="fr-FR" i="1" dirty="0" err="1"/>
              <a:t>constraints</a:t>
            </a:r>
            <a:r>
              <a:rPr lang="fr-FR" i="1" dirty="0"/>
              <a:t>:</a:t>
            </a:r>
          </a:p>
          <a:p>
            <a:pPr lvl="1"/>
            <a:r>
              <a:rPr lang="fr-FR" dirty="0"/>
              <a:t>show cases </a:t>
            </a:r>
            <a:r>
              <a:rPr lang="fr-FR" dirty="0" err="1"/>
              <a:t>only</a:t>
            </a:r>
            <a:endParaRPr lang="fr-FR" dirty="0"/>
          </a:p>
          <a:p>
            <a:pPr lvl="1"/>
            <a:r>
              <a:rPr lang="fr-FR" dirty="0"/>
              <a:t>use Ward </a:t>
            </a:r>
            <a:r>
              <a:rPr lang="fr-FR" dirty="0" err="1"/>
              <a:t>agglomeration</a:t>
            </a:r>
            <a:r>
              <a:rPr lang="fr-FR" dirty="0"/>
              <a:t> </a:t>
            </a:r>
            <a:r>
              <a:rPr lang="fr-FR" dirty="0" err="1"/>
              <a:t>method</a:t>
            </a:r>
            <a:endParaRPr lang="fr-FR" dirty="0"/>
          </a:p>
          <a:p>
            <a:pPr lvl="1"/>
            <a:r>
              <a:rPr lang="fr-FR" dirty="0"/>
              <a:t>use a </a:t>
            </a:r>
            <a:r>
              <a:rPr lang="fr-FR" dirty="0" err="1"/>
              <a:t>correlation</a:t>
            </a:r>
            <a:r>
              <a:rPr lang="fr-FR" dirty="0"/>
              <a:t> distance on the </a:t>
            </a:r>
            <a:r>
              <a:rPr lang="fr-FR" dirty="0" err="1"/>
              <a:t>columns</a:t>
            </a:r>
            <a:endParaRPr lang="fr-FR" dirty="0"/>
          </a:p>
          <a:p>
            <a:pPr lvl="1"/>
            <a:r>
              <a:rPr lang="fr-FR" dirty="0"/>
              <a:t>change the </a:t>
            </a:r>
            <a:r>
              <a:rPr lang="fr-FR" dirty="0" err="1"/>
              <a:t>colors</a:t>
            </a:r>
            <a:endParaRPr lang="fr-FR" dirty="0"/>
          </a:p>
          <a:p>
            <a:pPr lvl="1"/>
            <a:r>
              <a:rPr lang="fr-FR" dirty="0"/>
              <a:t>….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D91EC9-66F8-BFD2-C647-B1C499DB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C05C1-FA7E-DB42-9F51-FE4437F6CA8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9194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373</Words>
  <Application>Microsoft Macintosh PowerPoint</Application>
  <PresentationFormat>Grand écran</PresentationFormat>
  <Paragraphs>110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Aptos Narrow</vt:lpstr>
      <vt:lpstr>Arial</vt:lpstr>
      <vt:lpstr>Courier</vt:lpstr>
      <vt:lpstr>PT Mono</vt:lpstr>
      <vt:lpstr>Thème Office</vt:lpstr>
      <vt:lpstr>Complements</vt:lpstr>
      <vt:lpstr>Package installation with Fripouille</vt:lpstr>
      <vt:lpstr>I forgot the names of the commands!</vt:lpstr>
      <vt:lpstr>Import data (with a little help from Rstudio)</vt:lpstr>
      <vt:lpstr>Extract rows and columns with [,] or $</vt:lpstr>
      <vt:lpstr>pheatmap: “Pretty” heatmaps</vt:lpstr>
      <vt:lpstr>What is it?</vt:lpstr>
      <vt:lpstr>Composition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 GUILLEMOT</dc:creator>
  <cp:lastModifiedBy>Vincent  GUILLEMOT</cp:lastModifiedBy>
  <cp:revision>5</cp:revision>
  <dcterms:created xsi:type="dcterms:W3CDTF">2025-05-26T13:48:56Z</dcterms:created>
  <dcterms:modified xsi:type="dcterms:W3CDTF">2025-05-31T12:42:26Z</dcterms:modified>
</cp:coreProperties>
</file>