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829E7D-E86E-50D6-A0A2-C573172E75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7B0518E-F280-C93E-713E-D084E693C5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AA814A-B018-31D6-12CC-BC3792453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46EB4-3198-594C-A2FB-14B5E60A7C36}" type="datetimeFigureOut">
              <a:rPr lang="fr-FR" smtClean="0"/>
              <a:t>31/05/2025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7825598-FD9E-424E-62B5-701C631D6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956CF70-037E-D13F-E716-9BEC4F725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64C5B-09B9-7C43-A26F-AFFC6B49CF6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7222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7D1683-B1D7-1122-A7EF-4D4D5CD77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F35360C-D828-D02C-53B4-C983EDB2C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CAAC338-81D8-ED41-FBEC-BEA89B30C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46EB4-3198-594C-A2FB-14B5E60A7C36}" type="datetimeFigureOut">
              <a:rPr lang="fr-FR" smtClean="0"/>
              <a:t>31/05/2025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127914C-BCB2-7438-670E-FA8AD8201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D27A119-76FA-4502-2049-78A73C807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64C5B-09B9-7C43-A26F-AFFC6B49CF6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9260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7BB5E9-AD8F-73F4-DE5B-40A41D746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E1A19D2-0836-558B-7901-EF436258C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8B8383B-9054-8728-18A3-E62161B87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46EB4-3198-594C-A2FB-14B5E60A7C36}" type="datetimeFigureOut">
              <a:rPr lang="fr-FR" smtClean="0"/>
              <a:t>31/05/2025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3706250-2FA1-0C2C-DFFE-6441B29B9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42806B7-23F8-9024-FA8F-7B0561B1A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64C5B-09B9-7C43-A26F-AFFC6B49CF6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4094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4CE7A8-78EE-9BBA-9771-492DC9C9F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2D35841-E989-CF1A-91EE-3A1F3EC382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3C7EE64-5B3F-2FAD-7D34-B1B98C8762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A7940F5-288B-7D58-3017-5EA972D26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46EB4-3198-594C-A2FB-14B5E60A7C36}" type="datetimeFigureOut">
              <a:rPr lang="fr-FR" smtClean="0"/>
              <a:t>31/05/2025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9D00B82-5415-D141-66C3-5CC9CB0AA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A0741A3-ABA0-6C5E-4F56-433F84623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64C5B-09B9-7C43-A26F-AFFC6B49CF6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7145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B45375-23D9-C88E-60DF-57F801EE5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B12767E-B4FD-8B5C-3F5E-89591B4940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B6CF8CC-0A39-69E7-81B3-3494AAD8EA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73C7083-C5DD-95C9-BC02-45FD95034A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212B2FD-732F-2638-2BDC-4AE3982B02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5559684-0D40-8DBF-2285-1FED41499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46EB4-3198-594C-A2FB-14B5E60A7C36}" type="datetimeFigureOut">
              <a:rPr lang="fr-FR" smtClean="0"/>
              <a:t>31/05/2025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0215DF4-4AFF-258E-644F-8D19D21B7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8EFC9F6-BC05-DBA9-A758-A20C53890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64C5B-09B9-7C43-A26F-AFFC6B49CF6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9257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EA0D26-6412-5F39-8041-6D8BC5A2A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4BB4876-BB6C-17BC-79AA-C0682F4C8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46EB4-3198-594C-A2FB-14B5E60A7C36}" type="datetimeFigureOut">
              <a:rPr lang="fr-FR" smtClean="0"/>
              <a:t>31/05/2025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81573E8-11D6-50C4-21CA-4EC694FD1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DDDEA71-F610-8A24-ACAB-82BC11B8F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64C5B-09B9-7C43-A26F-AFFC6B49CF6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899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14F6025-BAF6-FB32-1328-C10DFECB5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46EB4-3198-594C-A2FB-14B5E60A7C36}" type="datetimeFigureOut">
              <a:rPr lang="fr-FR" smtClean="0"/>
              <a:t>31/05/2025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5A648CC-B853-1A27-E8CC-A86593460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8F39D4C-CE5A-9702-992A-F4AF6245A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64C5B-09B9-7C43-A26F-AFFC6B49CF6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2373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F9D7BE-C3BE-3DF7-9E93-0D37D1B2C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B8EA0CD-C170-B41A-60F6-F108AD98B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61C902B-8B84-9A71-8FCD-E167DA3169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73962F2-3223-96EB-6895-02809671C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46EB4-3198-594C-A2FB-14B5E60A7C36}" type="datetimeFigureOut">
              <a:rPr lang="fr-FR" smtClean="0"/>
              <a:t>31/05/2025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178AC5C-5078-4BAD-7726-45EA8379E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876A35E-6077-D7A0-9AC1-FFD40F3C1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64C5B-09B9-7C43-A26F-AFFC6B49CF6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8201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7A0F9A-E746-CC7B-071F-61B9C7619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1590962-63DD-192F-B4B2-A2A30B83FA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8B04B63-C8FA-7213-8858-E28548AC74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0FA53F3-7350-926E-15B0-DCCBA58F4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46EB4-3198-594C-A2FB-14B5E60A7C36}" type="datetimeFigureOut">
              <a:rPr lang="fr-FR" smtClean="0"/>
              <a:t>31/05/2025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6B21980-712F-4F26-B4BA-9DF628B4E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FB81DE1-6939-F135-EC56-F0EB62936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64C5B-09B9-7C43-A26F-AFFC6B49CF6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721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C7226B-B983-551A-1124-B4D56948A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64B4A4A-C913-22E4-60E2-B8D051A417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50310F-E7FC-1F53-9D21-A44782A0F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46EB4-3198-594C-A2FB-14B5E60A7C36}" type="datetimeFigureOut">
              <a:rPr lang="fr-FR" smtClean="0"/>
              <a:t>31/05/2025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AF1B859-C31F-A23E-106A-F62C1CE0E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FC9DA07-8BA1-72AC-1554-51A7195A9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64C5B-09B9-7C43-A26F-AFFC6B49CF6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9358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7467AE2-FC87-55F8-8971-B32A0DF4EC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C7CD0BF-12F9-FF73-430A-42F96DFC9F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BBB0B0C-583C-764C-85B5-EC3409ABD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46EB4-3198-594C-A2FB-14B5E60A7C36}" type="datetimeFigureOut">
              <a:rPr lang="fr-FR" smtClean="0"/>
              <a:t>31/05/2025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29CEF7C-0ADB-2986-CDF1-D64604FFC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0D75133-3A62-39CB-7B05-8FD53CD6E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64C5B-09B9-7C43-A26F-AFFC6B49CF6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8287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011CAF0-2E0E-78D0-AA64-A7B6C51B3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4D9C4A7-9CB8-D5EE-E235-497D87B30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E1FF851-9D32-242C-0FED-4AD2AC619D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946EB4-3198-594C-A2FB-14B5E60A7C36}" type="datetimeFigureOut">
              <a:rPr lang="fr-FR" smtClean="0"/>
              <a:t>31/05/2025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CA99705-9327-4B1A-3691-A40C6B6C19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12AADA5-3C42-7670-E108-FD34C53DAA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B64C5B-09B9-7C43-A26F-AFFC6B49CF6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1493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E9CFBB-69E4-954E-D348-2042C1AB61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Introduction to </a:t>
            </a:r>
            <a:r>
              <a:rPr lang="fr-FR" b="1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pathchwork</a:t>
            </a:r>
            <a:endParaRPr lang="fr-FR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6A558F4-7A6B-C230-C63A-1DF15AE8C1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Vincent Guillemot</a:t>
            </a:r>
          </a:p>
        </p:txBody>
      </p:sp>
    </p:spTree>
    <p:extLst>
      <p:ext uri="{BB962C8B-B14F-4D97-AF65-F5344CB8AC3E}">
        <p14:creationId xmlns:p14="http://schemas.microsoft.com/office/powerpoint/2010/main" val="870244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FDD29D-28C0-04D2-68D3-95F6F3D39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 </a:t>
            </a:r>
            <a:r>
              <a:rPr lang="fr-FR" dirty="0" err="1"/>
              <a:t>cheatsheet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EEA30D5-E856-6062-E35A-83681A55B5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:’(</a:t>
            </a:r>
          </a:p>
        </p:txBody>
      </p:sp>
    </p:spTree>
    <p:extLst>
      <p:ext uri="{BB962C8B-B14F-4D97-AF65-F5344CB8AC3E}">
        <p14:creationId xmlns:p14="http://schemas.microsoft.com/office/powerpoint/2010/main" val="2052453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43A1E3-547E-6F8E-05F3-09536446A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How </a:t>
            </a:r>
            <a:r>
              <a:rPr lang="fr-FR" dirty="0" err="1"/>
              <a:t>pathchwork</a:t>
            </a:r>
            <a:r>
              <a:rPr lang="fr-FR" dirty="0"/>
              <a:t> </a:t>
            </a:r>
            <a:r>
              <a:rPr lang="fr-FR" dirty="0" err="1"/>
              <a:t>works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249AC0E-DD6B-F040-72FA-BD5D56736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A set of operations to combine plots: imagine what adding, dividing, multiplying plots would mean! </a:t>
            </a:r>
          </a:p>
          <a:p>
            <a:pPr marL="0" indent="0">
              <a:buNone/>
            </a:pPr>
            <a:r>
              <a:rPr lang="en-US" noProof="0" dirty="0"/>
              <a:t>:</a:t>
            </a:r>
            <a:r>
              <a:rPr lang="en-US" noProof="0" dirty="0" err="1"/>
              <a:t>mind_blowing</a:t>
            </a:r>
            <a:r>
              <a:rPr lang="en-US" noProof="0" dirty="0"/>
              <a:t>:</a:t>
            </a:r>
          </a:p>
          <a:p>
            <a:r>
              <a:rPr lang="en-US" noProof="0" dirty="0"/>
              <a:t>In practice: </a:t>
            </a:r>
          </a:p>
          <a:p>
            <a:pPr lvl="1"/>
            <a:r>
              <a:rPr lang="en-US" noProof="0" dirty="0"/>
              <a:t>“+”   general operation (does a lot of stuff for you)</a:t>
            </a:r>
          </a:p>
          <a:p>
            <a:pPr lvl="1"/>
            <a:r>
              <a:rPr lang="en-US" dirty="0"/>
              <a:t>“/” </a:t>
            </a:r>
            <a:r>
              <a:rPr lang="en-US" noProof="0" dirty="0"/>
              <a:t> stack plots on one another</a:t>
            </a:r>
          </a:p>
          <a:p>
            <a:pPr lvl="1"/>
            <a:r>
              <a:rPr lang="en-US" dirty="0"/>
              <a:t>“|”  put plots next to each other</a:t>
            </a:r>
          </a:p>
          <a:p>
            <a:pPr lvl="1"/>
            <a:r>
              <a:rPr lang="en-US" noProof="0" dirty="0" err="1"/>
              <a:t>plot_layout</a:t>
            </a:r>
            <a:r>
              <a:rPr lang="en-US" noProof="0" dirty="0"/>
              <a:t>(…)  to control the layout</a:t>
            </a:r>
          </a:p>
          <a:p>
            <a:pPr lvl="1"/>
            <a:r>
              <a:rPr lang="en-US" dirty="0"/>
              <a:t>and more!!!! (e.g., “&amp;”, “</a:t>
            </a:r>
            <a:r>
              <a:rPr lang="en-US" dirty="0" err="1"/>
              <a:t>plot_annotation</a:t>
            </a:r>
            <a:r>
              <a:rPr lang="en-US" dirty="0"/>
              <a:t>”) </a:t>
            </a:r>
            <a:endParaRPr lang="en-US" noProof="0" dirty="0"/>
          </a:p>
          <a:p>
            <a:pPr lvl="1"/>
            <a:endParaRPr lang="en-US" noProof="0" dirty="0"/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87247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49"/>
            <a:ext cx="6038333" cy="1162051"/>
          </a:xfrm>
        </p:spPr>
        <p:txBody>
          <a:bodyPr/>
          <a:lstStyle/>
          <a:p>
            <a:r>
              <a:rPr lang="fr-FR" dirty="0"/>
              <a:t>Example: IL1A and IL1B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522147" cy="3811588"/>
          </a:xfrm>
        </p:spPr>
        <p:txBody>
          <a:bodyPr>
            <a:normAutofit fontScale="92500"/>
          </a:bodyPr>
          <a:lstStyle/>
          <a:p>
            <a:r>
              <a:rPr dirty="0">
                <a:solidFill>
                  <a:srgbClr val="003B4F"/>
                </a:solidFill>
                <a:latin typeface="Courier"/>
              </a:rPr>
              <a:t>il1a &lt;- covid </a:t>
            </a:r>
            <a:r>
              <a:rPr dirty="0">
                <a:solidFill>
                  <a:srgbClr val="5E5E5E"/>
                </a:solidFill>
                <a:latin typeface="Courier"/>
              </a:rPr>
              <a:t>|&gt;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>
                <a:solidFill>
                  <a:srgbClr val="4758AB"/>
                </a:solidFill>
                <a:latin typeface="Courier"/>
              </a:rPr>
              <a:t>filter</a:t>
            </a:r>
            <a:r>
              <a:rPr dirty="0">
                <a:solidFill>
                  <a:srgbClr val="003B4F"/>
                </a:solidFill>
                <a:latin typeface="Courier"/>
              </a:rPr>
              <a:t>(status </a:t>
            </a:r>
            <a:r>
              <a:rPr dirty="0">
                <a:solidFill>
                  <a:srgbClr val="5E5E5E"/>
                </a:solidFill>
                <a:latin typeface="Courier"/>
              </a:rPr>
              <a:t>==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"</a:t>
            </a:r>
            <a:r>
              <a:rPr dirty="0" err="1">
                <a:solidFill>
                  <a:srgbClr val="20794D"/>
                </a:solidFill>
                <a:latin typeface="Courier"/>
              </a:rPr>
              <a:t>nCOV</a:t>
            </a:r>
            <a:r>
              <a:rPr dirty="0">
                <a:solidFill>
                  <a:srgbClr val="20794D"/>
                </a:solidFill>
                <a:latin typeface="Courier"/>
              </a:rPr>
              <a:t>"</a:t>
            </a:r>
            <a:r>
              <a:rPr dirty="0">
                <a:solidFill>
                  <a:srgbClr val="003B4F"/>
                </a:solidFill>
                <a:latin typeface="Courier"/>
              </a:rPr>
              <a:t>) </a:t>
            </a:r>
            <a:r>
              <a:rPr dirty="0">
                <a:solidFill>
                  <a:srgbClr val="5E5E5E"/>
                </a:solidFill>
                <a:latin typeface="Courier"/>
              </a:rPr>
              <a:t>|&gt;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 err="1">
                <a:solidFill>
                  <a:srgbClr val="4758AB"/>
                </a:solidFill>
                <a:latin typeface="Courier"/>
              </a:rPr>
              <a:t>ggplot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 err="1">
                <a:solidFill>
                  <a:srgbClr val="4758AB"/>
                </a:solidFill>
                <a:latin typeface="Courier"/>
              </a:rPr>
              <a:t>aes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x =</a:t>
            </a:r>
            <a:r>
              <a:rPr dirty="0">
                <a:solidFill>
                  <a:srgbClr val="003B4F"/>
                </a:solidFill>
                <a:latin typeface="Courier"/>
              </a:rPr>
              <a:t> time, </a:t>
            </a:r>
            <a:r>
              <a:rPr dirty="0">
                <a:solidFill>
                  <a:srgbClr val="657422"/>
                </a:solidFill>
                <a:latin typeface="Courier"/>
              </a:rPr>
              <a:t>y =</a:t>
            </a:r>
            <a:r>
              <a:rPr dirty="0">
                <a:solidFill>
                  <a:srgbClr val="003B4F"/>
                </a:solidFill>
                <a:latin typeface="Courier"/>
              </a:rPr>
              <a:t> IL1A, </a:t>
            </a:r>
            <a:r>
              <a:rPr dirty="0">
                <a:solidFill>
                  <a:srgbClr val="657422"/>
                </a:solidFill>
                <a:latin typeface="Courier"/>
              </a:rPr>
              <a:t>color =</a:t>
            </a:r>
            <a:r>
              <a:rPr dirty="0">
                <a:solidFill>
                  <a:srgbClr val="003B4F"/>
                </a:solidFill>
                <a:latin typeface="Courier"/>
              </a:rPr>
              <a:t> id)) 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 err="1">
                <a:solidFill>
                  <a:srgbClr val="4758AB"/>
                </a:solidFill>
                <a:latin typeface="Courier"/>
              </a:rPr>
              <a:t>geom_point</a:t>
            </a:r>
            <a:r>
              <a:rPr dirty="0">
                <a:solidFill>
                  <a:srgbClr val="003B4F"/>
                </a:solidFill>
                <a:latin typeface="Courier"/>
              </a:rPr>
              <a:t>() 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 err="1">
                <a:solidFill>
                  <a:srgbClr val="4758AB"/>
                </a:solidFill>
                <a:latin typeface="Courier"/>
              </a:rPr>
              <a:t>geom_line</a:t>
            </a:r>
            <a:r>
              <a:rPr dirty="0">
                <a:solidFill>
                  <a:srgbClr val="003B4F"/>
                </a:solidFill>
                <a:latin typeface="Courier"/>
              </a:rPr>
              <a:t>()</a:t>
            </a:r>
            <a:br>
              <a:rPr dirty="0"/>
            </a:br>
            <a:br>
              <a:rPr dirty="0"/>
            </a:b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il1b &lt;- covid </a:t>
            </a:r>
            <a:r>
              <a:rPr dirty="0">
                <a:solidFill>
                  <a:srgbClr val="5E5E5E"/>
                </a:solidFill>
                <a:latin typeface="Courier"/>
              </a:rPr>
              <a:t>|&gt;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>
                <a:solidFill>
                  <a:srgbClr val="4758AB"/>
                </a:solidFill>
                <a:latin typeface="Courier"/>
              </a:rPr>
              <a:t>filter</a:t>
            </a:r>
            <a:r>
              <a:rPr dirty="0">
                <a:solidFill>
                  <a:srgbClr val="003B4F"/>
                </a:solidFill>
                <a:latin typeface="Courier"/>
              </a:rPr>
              <a:t>(status </a:t>
            </a:r>
            <a:r>
              <a:rPr dirty="0">
                <a:solidFill>
                  <a:srgbClr val="5E5E5E"/>
                </a:solidFill>
                <a:latin typeface="Courier"/>
              </a:rPr>
              <a:t>==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"</a:t>
            </a:r>
            <a:r>
              <a:rPr dirty="0" err="1">
                <a:solidFill>
                  <a:srgbClr val="20794D"/>
                </a:solidFill>
                <a:latin typeface="Courier"/>
              </a:rPr>
              <a:t>nCOV</a:t>
            </a:r>
            <a:r>
              <a:rPr dirty="0">
                <a:solidFill>
                  <a:srgbClr val="20794D"/>
                </a:solidFill>
                <a:latin typeface="Courier"/>
              </a:rPr>
              <a:t>"</a:t>
            </a:r>
            <a:r>
              <a:rPr dirty="0">
                <a:solidFill>
                  <a:srgbClr val="003B4F"/>
                </a:solidFill>
                <a:latin typeface="Courier"/>
              </a:rPr>
              <a:t>) </a:t>
            </a:r>
            <a:r>
              <a:rPr dirty="0">
                <a:solidFill>
                  <a:srgbClr val="5E5E5E"/>
                </a:solidFill>
                <a:latin typeface="Courier"/>
              </a:rPr>
              <a:t>|&gt;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 err="1">
                <a:solidFill>
                  <a:srgbClr val="4758AB"/>
                </a:solidFill>
                <a:latin typeface="Courier"/>
              </a:rPr>
              <a:t>ggplot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 err="1">
                <a:solidFill>
                  <a:srgbClr val="4758AB"/>
                </a:solidFill>
                <a:latin typeface="Courier"/>
              </a:rPr>
              <a:t>aes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x =</a:t>
            </a:r>
            <a:r>
              <a:rPr dirty="0">
                <a:solidFill>
                  <a:srgbClr val="003B4F"/>
                </a:solidFill>
                <a:latin typeface="Courier"/>
              </a:rPr>
              <a:t> time, </a:t>
            </a:r>
            <a:r>
              <a:rPr dirty="0">
                <a:solidFill>
                  <a:srgbClr val="657422"/>
                </a:solidFill>
                <a:latin typeface="Courier"/>
              </a:rPr>
              <a:t>y =</a:t>
            </a:r>
            <a:r>
              <a:rPr dirty="0">
                <a:solidFill>
                  <a:srgbClr val="003B4F"/>
                </a:solidFill>
                <a:latin typeface="Courier"/>
              </a:rPr>
              <a:t> IL1B, </a:t>
            </a:r>
            <a:r>
              <a:rPr dirty="0">
                <a:solidFill>
                  <a:srgbClr val="657422"/>
                </a:solidFill>
                <a:latin typeface="Courier"/>
              </a:rPr>
              <a:t>color =</a:t>
            </a:r>
            <a:r>
              <a:rPr dirty="0">
                <a:solidFill>
                  <a:srgbClr val="003B4F"/>
                </a:solidFill>
                <a:latin typeface="Courier"/>
              </a:rPr>
              <a:t> id)) 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 err="1">
                <a:solidFill>
                  <a:srgbClr val="4758AB"/>
                </a:solidFill>
                <a:latin typeface="Courier"/>
              </a:rPr>
              <a:t>geom_point</a:t>
            </a:r>
            <a:r>
              <a:rPr dirty="0">
                <a:solidFill>
                  <a:srgbClr val="003B4F"/>
                </a:solidFill>
                <a:latin typeface="Courier"/>
              </a:rPr>
              <a:t>() 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 err="1">
                <a:solidFill>
                  <a:srgbClr val="4758AB"/>
                </a:solidFill>
                <a:latin typeface="Courier"/>
              </a:rPr>
              <a:t>geom_line</a:t>
            </a:r>
            <a:r>
              <a:rPr dirty="0">
                <a:solidFill>
                  <a:srgbClr val="003B4F"/>
                </a:solidFill>
                <a:latin typeface="Courier"/>
              </a:rPr>
              <a:t>()</a:t>
            </a:r>
            <a:br>
              <a:rPr dirty="0"/>
            </a:b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(il1a </a:t>
            </a:r>
            <a:r>
              <a:rPr dirty="0">
                <a:solidFill>
                  <a:srgbClr val="5E5E5E"/>
                </a:solidFill>
                <a:latin typeface="Courier"/>
              </a:rPr>
              <a:t>|</a:t>
            </a:r>
            <a:r>
              <a:rPr dirty="0">
                <a:solidFill>
                  <a:srgbClr val="003B4F"/>
                </a:solidFill>
                <a:latin typeface="Courier"/>
              </a:rPr>
              <a:t> il1b ) 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 err="1">
                <a:solidFill>
                  <a:srgbClr val="4758AB"/>
                </a:solidFill>
                <a:latin typeface="Courier"/>
              </a:rPr>
              <a:t>plot_layout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guides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"collect"</a:t>
            </a:r>
            <a:r>
              <a:rPr dirty="0"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id="3" name="Picture 1" descr="99_slides_with_code_files/figure-pptx/pathchwork%20of%20plots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58267" y="1490133"/>
            <a:ext cx="6807200" cy="3403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1AE24D4A-7D1D-B314-17D7-A132DE5E8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Exercise</a:t>
            </a:r>
            <a:endParaRPr lang="fr-FR" dirty="0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570F601-23F0-18F2-68AB-BB07E3499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Compose the panel B and C of figure 2 </a:t>
            </a:r>
            <a:r>
              <a:rPr lang="fr-FR" dirty="0" err="1"/>
              <a:t>with</a:t>
            </a:r>
            <a:r>
              <a:rPr lang="fr-FR" dirty="0"/>
              <a:t> patchwork, and </a:t>
            </a:r>
            <a:r>
              <a:rPr lang="fr-FR" dirty="0" err="1"/>
              <a:t>then</a:t>
            </a:r>
            <a:r>
              <a:rPr lang="fr-FR" dirty="0"/>
              <a:t> combine </a:t>
            </a:r>
            <a:r>
              <a:rPr lang="fr-FR" dirty="0" err="1"/>
              <a:t>them</a:t>
            </a:r>
            <a:r>
              <a:rPr lang="fr-FR" dirty="0"/>
              <a:t> </a:t>
            </a:r>
            <a:r>
              <a:rPr lang="fr-FR" dirty="0" err="1"/>
              <a:t>together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20038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60A687-0340-EBE1-9183-6BEC3CD17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Group </a:t>
            </a:r>
            <a:r>
              <a:rPr lang="fr-FR" dirty="0" err="1"/>
              <a:t>exercise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A93461-2A5A-10C2-1D06-6AEF0ED4DE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/>
              <a:t>In groups, </a:t>
            </a:r>
            <a:r>
              <a:rPr lang="fr-FR" dirty="0" err="1"/>
              <a:t>create</a:t>
            </a:r>
            <a:r>
              <a:rPr lang="fr-FR" dirty="0"/>
              <a:t> a report </a:t>
            </a:r>
            <a:r>
              <a:rPr lang="fr-FR" dirty="0" err="1"/>
              <a:t>with</a:t>
            </a:r>
            <a:r>
              <a:rPr lang="fr-FR" dirty="0"/>
              <a:t> R </a:t>
            </a:r>
            <a:r>
              <a:rPr lang="fr-FR" dirty="0" err="1"/>
              <a:t>Markdown</a:t>
            </a:r>
            <a:r>
              <a:rPr lang="fr-FR" dirty="0"/>
              <a:t> </a:t>
            </a:r>
            <a:r>
              <a:rPr lang="fr-FR" dirty="0" err="1"/>
              <a:t>with</a:t>
            </a:r>
            <a:endParaRPr lang="fr-FR" dirty="0"/>
          </a:p>
          <a:p>
            <a:pPr lvl="1"/>
            <a:r>
              <a:rPr lang="fr-FR" dirty="0"/>
              <a:t>a </a:t>
            </a:r>
            <a:r>
              <a:rPr lang="fr-FR" dirty="0" err="1"/>
              <a:t>title</a:t>
            </a:r>
            <a:r>
              <a:rPr lang="fr-FR" dirty="0"/>
              <a:t>, the </a:t>
            </a:r>
            <a:r>
              <a:rPr lang="fr-FR" dirty="0" err="1"/>
              <a:t>authors</a:t>
            </a:r>
            <a:r>
              <a:rPr lang="fr-FR" dirty="0"/>
              <a:t> </a:t>
            </a:r>
            <a:r>
              <a:rPr lang="fr-FR" dirty="0" err="1"/>
              <a:t>names</a:t>
            </a:r>
            <a:r>
              <a:rPr lang="fr-FR" dirty="0"/>
              <a:t>, and </a:t>
            </a:r>
            <a:r>
              <a:rPr lang="fr-FR" dirty="0" err="1"/>
              <a:t>today’s</a:t>
            </a:r>
            <a:r>
              <a:rPr lang="fr-FR" dirty="0"/>
              <a:t> date</a:t>
            </a:r>
          </a:p>
          <a:p>
            <a:pPr lvl="1"/>
            <a:r>
              <a:rPr lang="fr-FR" dirty="0" err="1"/>
              <a:t>chunks</a:t>
            </a:r>
            <a:r>
              <a:rPr lang="fr-FR" dirty="0"/>
              <a:t> to </a:t>
            </a:r>
            <a:r>
              <a:rPr lang="fr-FR" dirty="0" err="1"/>
              <a:t>load</a:t>
            </a:r>
            <a:r>
              <a:rPr lang="fr-FR" dirty="0"/>
              <a:t> and </a:t>
            </a:r>
            <a:r>
              <a:rPr lang="fr-FR" dirty="0" err="1"/>
              <a:t>pre</a:t>
            </a:r>
            <a:r>
              <a:rPr lang="fr-FR" dirty="0"/>
              <a:t>-process the data</a:t>
            </a:r>
          </a:p>
          <a:p>
            <a:pPr lvl="1"/>
            <a:r>
              <a:rPr lang="fr-FR" dirty="0"/>
              <a:t>a </a:t>
            </a:r>
            <a:r>
              <a:rPr lang="fr-FR" dirty="0" err="1"/>
              <a:t>text</a:t>
            </a:r>
            <a:r>
              <a:rPr lang="fr-FR" dirty="0"/>
              <a:t> to </a:t>
            </a:r>
            <a:r>
              <a:rPr lang="fr-FR" dirty="0" err="1"/>
              <a:t>shortly</a:t>
            </a:r>
            <a:r>
              <a:rPr lang="fr-FR" dirty="0"/>
              <a:t> </a:t>
            </a:r>
            <a:r>
              <a:rPr lang="fr-FR" dirty="0" err="1"/>
              <a:t>explain</a:t>
            </a:r>
            <a:r>
              <a:rPr lang="fr-FR" dirty="0"/>
              <a:t> the data</a:t>
            </a:r>
          </a:p>
          <a:p>
            <a:pPr lvl="1"/>
            <a:r>
              <a:rPr lang="fr-FR" dirty="0"/>
              <a:t>a reproduction of Figure 2 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pheatmap</a:t>
            </a:r>
            <a:r>
              <a:rPr lang="fr-FR" dirty="0"/>
              <a:t>, ggplot2 and patchwork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 err="1"/>
              <a:t>During</a:t>
            </a:r>
            <a:r>
              <a:rPr lang="fr-FR" dirty="0"/>
              <a:t> the debrief, </a:t>
            </a:r>
            <a:r>
              <a:rPr lang="fr-FR" dirty="0" err="1"/>
              <a:t>prepare</a:t>
            </a:r>
            <a:r>
              <a:rPr lang="fr-FR" dirty="0"/>
              <a:t> an </a:t>
            </a:r>
            <a:r>
              <a:rPr lang="fr-FR" dirty="0" err="1"/>
              <a:t>answer</a:t>
            </a:r>
            <a:r>
              <a:rPr lang="fr-FR" dirty="0"/>
              <a:t> to the </a:t>
            </a:r>
            <a:r>
              <a:rPr lang="fr-FR" dirty="0" err="1"/>
              <a:t>following</a:t>
            </a:r>
            <a:r>
              <a:rPr lang="fr-FR" dirty="0"/>
              <a:t> questions:</a:t>
            </a:r>
          </a:p>
          <a:p>
            <a:pPr lvl="1"/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missing</a:t>
            </a:r>
            <a:r>
              <a:rPr lang="fr-FR" dirty="0"/>
              <a:t> </a:t>
            </a:r>
            <a:r>
              <a:rPr lang="fr-FR" dirty="0" err="1"/>
              <a:t>compared</a:t>
            </a:r>
            <a:r>
              <a:rPr lang="fr-FR" dirty="0"/>
              <a:t> to the original?</a:t>
            </a:r>
          </a:p>
          <a:p>
            <a:pPr lvl="1"/>
            <a:r>
              <a:rPr lang="fr-FR" dirty="0"/>
              <a:t>Are </a:t>
            </a:r>
            <a:r>
              <a:rPr lang="fr-FR" dirty="0" err="1"/>
              <a:t>there</a:t>
            </a:r>
            <a:r>
              <a:rPr lang="fr-FR" dirty="0"/>
              <a:t> </a:t>
            </a:r>
            <a:r>
              <a:rPr lang="fr-FR" dirty="0" err="1"/>
              <a:t>choices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were</a:t>
            </a:r>
            <a:r>
              <a:rPr lang="fr-FR" dirty="0"/>
              <a:t> made by the </a:t>
            </a:r>
            <a:r>
              <a:rPr lang="fr-FR" dirty="0" err="1"/>
              <a:t>authors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were</a:t>
            </a:r>
            <a:r>
              <a:rPr lang="fr-FR" dirty="0"/>
              <a:t> able to </a:t>
            </a:r>
            <a:r>
              <a:rPr lang="fr-FR" dirty="0" err="1"/>
              <a:t>understand</a:t>
            </a:r>
            <a:r>
              <a:rPr lang="fr-FR" dirty="0"/>
              <a:t> and </a:t>
            </a:r>
            <a:r>
              <a:rPr lang="fr-FR" dirty="0" err="1"/>
              <a:t>explain</a:t>
            </a:r>
            <a:r>
              <a:rPr lang="fr-FR" dirty="0"/>
              <a:t>?</a:t>
            </a:r>
          </a:p>
          <a:p>
            <a:pPr lvl="1"/>
            <a:r>
              <a:rPr lang="fr-FR" dirty="0" err="1"/>
              <a:t>Was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difficult</a:t>
            </a:r>
            <a:r>
              <a:rPr lang="fr-FR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77944105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312</Words>
  <Application>Microsoft Macintosh PowerPoint</Application>
  <PresentationFormat>Grand écran</PresentationFormat>
  <Paragraphs>28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Courier</vt:lpstr>
      <vt:lpstr>Thème Office</vt:lpstr>
      <vt:lpstr>Introduction to pathchwork</vt:lpstr>
      <vt:lpstr>No cheatsheet</vt:lpstr>
      <vt:lpstr>How pathchwork works</vt:lpstr>
      <vt:lpstr>Example: IL1A and IL1B</vt:lpstr>
      <vt:lpstr>Exercise</vt:lpstr>
      <vt:lpstr>Group exercise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Vincent  GUILLEMOT</dc:creator>
  <cp:lastModifiedBy>Vincent  GUILLEMOT</cp:lastModifiedBy>
  <cp:revision>2</cp:revision>
  <dcterms:created xsi:type="dcterms:W3CDTF">2025-05-31T09:43:40Z</dcterms:created>
  <dcterms:modified xsi:type="dcterms:W3CDTF">2025-05-31T12:55:11Z</dcterms:modified>
</cp:coreProperties>
</file>