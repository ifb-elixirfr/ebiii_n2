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1" r:id="rId7"/>
    <p:sldId id="279" r:id="rId8"/>
    <p:sldId id="264" r:id="rId9"/>
    <p:sldId id="265" r:id="rId10"/>
    <p:sldId id="266" r:id="rId11"/>
    <p:sldId id="260" r:id="rId12"/>
    <p:sldId id="267" r:id="rId13"/>
    <p:sldId id="280" r:id="rId14"/>
    <p:sldId id="281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h0vbCH+YZ6jXlJpSr3fpskhAG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E14449-0944-41C7-BB8F-4FD71BAF118B}">
  <a:tblStyle styleId="{ABE14449-0944-41C7-BB8F-4FD71BAF118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90"/>
  </p:normalViewPr>
  <p:slideViewPr>
    <p:cSldViewPr snapToGrid="0">
      <p:cViewPr varScale="1">
        <p:scale>
          <a:sx n="153" d="100"/>
          <a:sy n="153" d="100"/>
        </p:scale>
        <p:origin x="5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854b049af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4854b049af_1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4854b049af_1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24854b049af_1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854b049af_1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4854b049af_1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8751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6AD642FC-1267-8CF7-7480-7E35373A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4854b049af_1_5:notes">
            <a:extLst>
              <a:ext uri="{FF2B5EF4-FFF2-40B4-BE49-F238E27FC236}">
                <a16:creationId xmlns:a16="http://schemas.microsoft.com/office/drawing/2014/main" id="{FA5BAE9C-DF30-BB4E-FB55-994789F7D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4854b049af_1_5:notes">
            <a:extLst>
              <a:ext uri="{FF2B5EF4-FFF2-40B4-BE49-F238E27FC236}">
                <a16:creationId xmlns:a16="http://schemas.microsoft.com/office/drawing/2014/main" id="{7E53CC85-591F-A77C-4C54-D73804AAD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6796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4854b049af_1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24854b049af_1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854b049af_1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24854b049af_1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854b049af_1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24854b049af_1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si on travaille sur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4854b049af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4854b049af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854b049af_1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854b049af_1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C0715545-25D6-37EE-DD82-674FEC44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854b049af_1_195:notes">
            <a:extLst>
              <a:ext uri="{FF2B5EF4-FFF2-40B4-BE49-F238E27FC236}">
                <a16:creationId xmlns:a16="http://schemas.microsoft.com/office/drawing/2014/main" id="{D6688C08-DC16-3082-6518-2A2ADBEFF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854b049af_1_195:notes">
            <a:extLst>
              <a:ext uri="{FF2B5EF4-FFF2-40B4-BE49-F238E27FC236}">
                <a16:creationId xmlns:a16="http://schemas.microsoft.com/office/drawing/2014/main" id="{3319B259-6E24-D8D8-21CC-A777D1F94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223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CCAE00FB-E992-2A9F-6166-BF5128FE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854b049af_1_195:notes">
            <a:extLst>
              <a:ext uri="{FF2B5EF4-FFF2-40B4-BE49-F238E27FC236}">
                <a16:creationId xmlns:a16="http://schemas.microsoft.com/office/drawing/2014/main" id="{944AF272-4BE8-F2EF-3905-782B70800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854b049af_1_195:notes">
            <a:extLst>
              <a:ext uri="{FF2B5EF4-FFF2-40B4-BE49-F238E27FC236}">
                <a16:creationId xmlns:a16="http://schemas.microsoft.com/office/drawing/2014/main" id="{7068C795-F8E6-431B-733B-09C3EA45F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131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4854b049af_1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4854b049af_1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Pour illustrer tout ça on va continuer à travailler sur le même jeux de donnée utilisé dans le niv1 pour mieux illustrer les diff en terme de filtre par ex.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4854b049af_1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4854b049af_1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4854b049af_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4854b049af_1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4854b049af_1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4854b049af_1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      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4854b049af_1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24854b049af_1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Imaginons qu’il n’y ai aucun variants structuraux, dans ce cas là les reads seront normalement toujours pairés à la bonne distance, et la couverture stable tout le long du génome.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Les méthodes de detection des variants structuraux utilisent des variations par rapport à cette “normalité” pour faire des hypothèse sur la présence de SV.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read depth variation : variation de la profondeur du mapping le long du génome de ref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paired-end abnormalities : read pairés qui s’alignent de façon inattendue, cad qui ne sont pas orienté l’un vers l’autre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split reads: reads qui n’est que partiellement aligné où dont l’alignement est clivé en plusieurs partie distante sur lé génome de référence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4854b049af_1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24854b049af_1_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4854b049af_1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g24854b049af_1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4854b049af_1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4854b049af_1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bien pour les SV ; grande variabilité intra-specifique et haploïde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4854b049af_1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g24854b049af_1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4854b049af_1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24854b049af_1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Char char="●"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○"/>
              <a:def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■"/>
              <a:def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●"/>
              <a:def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○"/>
              <a:def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■"/>
              <a:def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●"/>
              <a:def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○"/>
              <a:def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Trebuchet MS"/>
              <a:buChar char="■"/>
              <a:def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1/gr.3806705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bioinformatics/bts378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nature.com/articles/s41592-018-0001-7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>
            <a:spLocks noGrp="1"/>
          </p:cNvSpPr>
          <p:nvPr>
            <p:ph type="ctrTitle"/>
          </p:nvPr>
        </p:nvSpPr>
        <p:spPr>
          <a:xfrm>
            <a:off x="311708" y="11333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Atelier Variant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niveau 2</a:t>
            </a:r>
            <a:endParaRPr/>
          </a:p>
        </p:txBody>
      </p:sp>
      <p:sp>
        <p:nvSpPr>
          <p:cNvPr id="100" name="Google Shape;100;p1"/>
          <p:cNvSpPr txBox="1">
            <a:spLocks noGrp="1"/>
          </p:cNvSpPr>
          <p:nvPr>
            <p:ph type="subTitle" idx="1"/>
          </p:nvPr>
        </p:nvSpPr>
        <p:spPr>
          <a:xfrm>
            <a:off x="165275" y="3129600"/>
            <a:ext cx="4179300" cy="10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 algn="l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fr" sz="1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Cathy PHILLIPE - CEA</a:t>
            </a:r>
            <a:endParaRPr lang="fr"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 dirty="0">
                <a:solidFill>
                  <a:schemeClr val="dk1"/>
                </a:solidFill>
              </a:rPr>
              <a:t>Nadia BESSOLTANE - </a:t>
            </a:r>
            <a:r>
              <a:rPr lang="fr" sz="1800" dirty="0" err="1">
                <a:solidFill>
                  <a:schemeClr val="dk1"/>
                </a:solidFill>
              </a:rPr>
              <a:t>INRAe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1800" dirty="0">
                <a:solidFill>
                  <a:schemeClr val="dk1"/>
                </a:solidFill>
              </a:rPr>
              <a:t>Pauline FRANCOIS - ANSES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01" name="Google Shape;101;p1" descr="ifb-logo_1.png"/>
          <p:cNvPicPr preferRelativeResize="0"/>
          <p:nvPr/>
        </p:nvPicPr>
        <p:blipFill rotWithShape="1">
          <a:blip r:embed="rId3">
            <a:alphaModFix/>
          </a:blip>
          <a:srcRect l="11867" r="15985"/>
          <a:stretch/>
        </p:blipFill>
        <p:spPr>
          <a:xfrm>
            <a:off x="311700" y="173675"/>
            <a:ext cx="16493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311700" y="4550100"/>
            <a:ext cx="51165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École de </a:t>
            </a:r>
            <a:r>
              <a:rPr lang="fr" sz="1400" b="0" i="0" u="none" strike="noStrike" cap="none" dirty="0" err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bioinformatique</a:t>
            </a:r>
            <a:r>
              <a:rPr lang="fr" sz="14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niveau 2 IFB-INSERM 2025</a:t>
            </a:r>
            <a:endParaRPr sz="14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2216" y="86837"/>
            <a:ext cx="2733420" cy="112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923875"/>
            <a:ext cx="5309900" cy="384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452250" y="4744375"/>
            <a:ext cx="4675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fr" sz="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https://www.genome.gov/Health/Genomics-and-Medicine/Polygenic-risk-scores#one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355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Définition</a:t>
            </a: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471225" y="2494925"/>
            <a:ext cx="31314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existe différents types de variations :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SNV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ingle 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ucleotide 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ariant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INDEL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sertion ou 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etion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tructural 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ariant)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CNV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opy 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umber </a:t>
            </a:r>
            <a:r>
              <a:rPr lang="fr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f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ariation)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4854b049af_1_141"/>
          <p:cNvSpPr/>
          <p:nvPr/>
        </p:nvSpPr>
        <p:spPr>
          <a:xfrm>
            <a:off x="289900" y="3867975"/>
            <a:ext cx="3296400" cy="1275600"/>
          </a:xfrm>
          <a:prstGeom prst="roundRect">
            <a:avLst>
              <a:gd name="adj" fmla="val 8441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24854b049af_1_141"/>
          <p:cNvSpPr txBox="1">
            <a:spLocks noGrp="1"/>
          </p:cNvSpPr>
          <p:nvPr>
            <p:ph type="title"/>
          </p:nvPr>
        </p:nvSpPr>
        <p:spPr>
          <a:xfrm>
            <a:off x="374200" y="64025"/>
            <a:ext cx="378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120"/>
              <a:t>du Fastq aux VCFs (ebaiin1)</a:t>
            </a:r>
            <a:endParaRPr sz="2120"/>
          </a:p>
        </p:txBody>
      </p:sp>
      <p:sp>
        <p:nvSpPr>
          <p:cNvPr id="120" name="Google Shape;120;g24854b049af_1_141"/>
          <p:cNvSpPr/>
          <p:nvPr/>
        </p:nvSpPr>
        <p:spPr>
          <a:xfrm>
            <a:off x="1909300" y="1234675"/>
            <a:ext cx="1604400" cy="73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Fastq Quality Control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FastQC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24854b049af_1_141"/>
          <p:cNvSpPr/>
          <p:nvPr/>
        </p:nvSpPr>
        <p:spPr>
          <a:xfrm>
            <a:off x="1909300" y="2151800"/>
            <a:ext cx="16044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Mapping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Bwa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24854b049af_1_141"/>
          <p:cNvSpPr/>
          <p:nvPr/>
        </p:nvSpPr>
        <p:spPr>
          <a:xfrm>
            <a:off x="1909300" y="665975"/>
            <a:ext cx="1604400" cy="34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 (Fastq)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24854b049af_1_141"/>
          <p:cNvSpPr/>
          <p:nvPr/>
        </p:nvSpPr>
        <p:spPr>
          <a:xfrm>
            <a:off x="513100" y="2304206"/>
            <a:ext cx="1103700" cy="858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 genome (Fasta)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24854b049af_1_141"/>
          <p:cNvSpPr/>
          <p:nvPr/>
        </p:nvSpPr>
        <p:spPr>
          <a:xfrm>
            <a:off x="1909300" y="2927175"/>
            <a:ext cx="1604400" cy="73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 Post Alignement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GATK/Picard --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24854b049af_1_141"/>
          <p:cNvSpPr/>
          <p:nvPr/>
        </p:nvSpPr>
        <p:spPr>
          <a:xfrm>
            <a:off x="1909350" y="3920775"/>
            <a:ext cx="1604400" cy="52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b="1"/>
              <a:t>small variants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GATK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g24854b049af_1_141"/>
          <p:cNvCxnSpPr>
            <a:stCxn id="124" idx="2"/>
            <a:endCxn id="125" idx="0"/>
          </p:cNvCxnSpPr>
          <p:nvPr/>
        </p:nvCxnSpPr>
        <p:spPr>
          <a:xfrm rot="-5400000" flipH="1">
            <a:off x="2583700" y="3792375"/>
            <a:ext cx="2562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g24854b049af_1_141"/>
          <p:cNvCxnSpPr>
            <a:stCxn id="121" idx="2"/>
            <a:endCxn id="124" idx="0"/>
          </p:cNvCxnSpPr>
          <p:nvPr/>
        </p:nvCxnSpPr>
        <p:spPr>
          <a:xfrm rot="-5400000" flipH="1">
            <a:off x="2610400" y="2825600"/>
            <a:ext cx="202800" cy="600"/>
          </a:xfrm>
          <a:prstGeom prst="bentConnector3">
            <a:avLst>
              <a:gd name="adj1" fmla="val 4996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g24854b049af_1_141"/>
          <p:cNvCxnSpPr>
            <a:stCxn id="120" idx="2"/>
            <a:endCxn id="121" idx="0"/>
          </p:cNvCxnSpPr>
          <p:nvPr/>
        </p:nvCxnSpPr>
        <p:spPr>
          <a:xfrm rot="-5400000" flipH="1">
            <a:off x="2621950" y="2061625"/>
            <a:ext cx="1797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g24854b049af_1_141"/>
          <p:cNvCxnSpPr>
            <a:stCxn id="122" idx="2"/>
            <a:endCxn id="120" idx="0"/>
          </p:cNvCxnSpPr>
          <p:nvPr/>
        </p:nvCxnSpPr>
        <p:spPr>
          <a:xfrm rot="-5400000" flipH="1">
            <a:off x="2601100" y="1123775"/>
            <a:ext cx="221400" cy="600"/>
          </a:xfrm>
          <a:prstGeom prst="bentConnector3">
            <a:avLst>
              <a:gd name="adj1" fmla="val 4997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g24854b049af_1_141"/>
          <p:cNvCxnSpPr>
            <a:stCxn id="123" idx="3"/>
            <a:endCxn id="121" idx="1"/>
          </p:cNvCxnSpPr>
          <p:nvPr/>
        </p:nvCxnSpPr>
        <p:spPr>
          <a:xfrm rot="10800000" flipH="1">
            <a:off x="1616800" y="2438156"/>
            <a:ext cx="292500" cy="295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g24854b049af_1_141"/>
          <p:cNvSpPr/>
          <p:nvPr/>
        </p:nvSpPr>
        <p:spPr>
          <a:xfrm>
            <a:off x="374200" y="3920775"/>
            <a:ext cx="1465500" cy="73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b="1"/>
              <a:t>Structural variants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</a:t>
            </a:r>
            <a:r>
              <a:rPr lang="fr" i="1"/>
              <a:t>Delly</a:t>
            </a: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4854b049af_1_141"/>
          <p:cNvSpPr/>
          <p:nvPr/>
        </p:nvSpPr>
        <p:spPr>
          <a:xfrm>
            <a:off x="1909000" y="4555450"/>
            <a:ext cx="1604700" cy="495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Annotation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SnpEff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g24854b049af_1_141"/>
          <p:cNvCxnSpPr>
            <a:stCxn id="124" idx="2"/>
            <a:endCxn id="131" idx="0"/>
          </p:cNvCxnSpPr>
          <p:nvPr/>
        </p:nvCxnSpPr>
        <p:spPr>
          <a:xfrm rot="5400000">
            <a:off x="1781050" y="2990325"/>
            <a:ext cx="256200" cy="1604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4" name="Google Shape;134;g24854b049af_1_141"/>
          <p:cNvSpPr txBox="1"/>
          <p:nvPr/>
        </p:nvSpPr>
        <p:spPr>
          <a:xfrm>
            <a:off x="426850" y="4702825"/>
            <a:ext cx="127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i="1">
                <a:solidFill>
                  <a:srgbClr val="575757"/>
                </a:solidFill>
              </a:rPr>
              <a:t>Variant Calling</a:t>
            </a:r>
            <a:endParaRPr sz="1200" b="1" i="1">
              <a:solidFill>
                <a:srgbClr val="575757"/>
              </a:solidFill>
            </a:endParaRPr>
          </a:p>
        </p:txBody>
      </p:sp>
      <p:grpSp>
        <p:nvGrpSpPr>
          <p:cNvPr id="135" name="Google Shape;135;g24854b049af_1_141"/>
          <p:cNvGrpSpPr/>
          <p:nvPr/>
        </p:nvGrpSpPr>
        <p:grpSpPr>
          <a:xfrm>
            <a:off x="3586300" y="165650"/>
            <a:ext cx="1272425" cy="4923300"/>
            <a:chOff x="3586300" y="-367750"/>
            <a:chExt cx="1272425" cy="4923300"/>
          </a:xfrm>
        </p:grpSpPr>
        <p:cxnSp>
          <p:nvCxnSpPr>
            <p:cNvPr id="136" name="Google Shape;136;g24854b049af_1_141"/>
            <p:cNvCxnSpPr>
              <a:stCxn id="118" idx="3"/>
              <a:endCxn id="137" idx="1"/>
            </p:cNvCxnSpPr>
            <p:nvPr/>
          </p:nvCxnSpPr>
          <p:spPr>
            <a:xfrm rot="10800000" flipH="1">
              <a:off x="3586300" y="2208975"/>
              <a:ext cx="454200" cy="1763400"/>
            </a:xfrm>
            <a:prstGeom prst="bentConnector3">
              <a:avLst>
                <a:gd name="adj1" fmla="val 49989"/>
              </a:avLst>
            </a:prstGeom>
            <a:noFill/>
            <a:ln w="9525" cap="flat" cmpd="sng">
              <a:solidFill>
                <a:schemeClr val="dk2"/>
              </a:solidFill>
              <a:prstDash val="lgDash"/>
              <a:round/>
              <a:headEnd type="none" w="sm" len="sm"/>
              <a:tailEnd type="triangle" w="med" len="med"/>
            </a:ln>
          </p:spPr>
        </p:cxnSp>
        <p:cxnSp>
          <p:nvCxnSpPr>
            <p:cNvPr id="138" name="Google Shape;138;g24854b049af_1_141"/>
            <p:cNvCxnSpPr/>
            <p:nvPr/>
          </p:nvCxnSpPr>
          <p:spPr>
            <a:xfrm>
              <a:off x="4406350" y="-367750"/>
              <a:ext cx="5700" cy="4923300"/>
            </a:xfrm>
            <a:prstGeom prst="straightConnector1">
              <a:avLst/>
            </a:prstGeom>
            <a:noFill/>
            <a:ln w="19050" cap="flat" cmpd="sng">
              <a:solidFill>
                <a:srgbClr val="C0504D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37" name="Google Shape;137;g24854b049af_1_141"/>
            <p:cNvSpPr/>
            <p:nvPr/>
          </p:nvSpPr>
          <p:spPr>
            <a:xfrm>
              <a:off x="4040400" y="1961375"/>
              <a:ext cx="760212" cy="495180"/>
            </a:xfrm>
            <a:prstGeom prst="flowChartDocumen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24854b049af_1_141"/>
            <p:cNvSpPr/>
            <p:nvPr/>
          </p:nvSpPr>
          <p:spPr>
            <a:xfrm>
              <a:off x="4098513" y="2022675"/>
              <a:ext cx="760212" cy="495180"/>
            </a:xfrm>
            <a:prstGeom prst="flowChartDocumen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0" name="Google Shape;140;g24854b049af_1_141"/>
          <p:cNvPicPr preferRelativeResize="0"/>
          <p:nvPr/>
        </p:nvPicPr>
        <p:blipFill rotWithShape="1">
          <a:blip r:embed="rId3">
            <a:alphaModFix/>
          </a:blip>
          <a:srcRect l="23602" r="23310"/>
          <a:stretch/>
        </p:blipFill>
        <p:spPr>
          <a:xfrm>
            <a:off x="540312" y="951000"/>
            <a:ext cx="871138" cy="9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4854b049af_1_141"/>
          <p:cNvSpPr txBox="1"/>
          <p:nvPr/>
        </p:nvSpPr>
        <p:spPr>
          <a:xfrm>
            <a:off x="631025" y="1664950"/>
            <a:ext cx="68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UNIX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24854b049af_1_1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400" y="1195400"/>
            <a:ext cx="8959925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24854b049af_1_185"/>
          <p:cNvSpPr txBox="1"/>
          <p:nvPr/>
        </p:nvSpPr>
        <p:spPr>
          <a:xfrm>
            <a:off x="3879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VCF (variant call format)</a:t>
            </a:r>
            <a:endParaRPr sz="2800" b="0" i="0" u="none" strike="noStrike" cap="none" dirty="0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4854b049af_1_2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195" name="Google Shape;195;g24854b049af_1_201"/>
          <p:cNvSpPr txBox="1"/>
          <p:nvPr/>
        </p:nvSpPr>
        <p:spPr>
          <a:xfrm>
            <a:off x="478275" y="1498475"/>
            <a:ext cx="8635500" cy="3123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1" i="0" u="none" strike="noStrike" cap="none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##</a:t>
            </a:r>
            <a:r>
              <a:rPr lang="fr" sz="900" b="1" i="0" u="none" strike="noStrike" cap="none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fileformat</a:t>
            </a:r>
            <a:r>
              <a:rPr lang="fr" sz="900" b="1" i="0" u="none" strike="noStrike" cap="none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=VCFv4.2</a:t>
            </a:r>
            <a:endParaRPr sz="900" b="1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##FILTER=&lt;ID=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LowQual,Description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="Low 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quality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##FORMAT=&lt;ID=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AD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,Number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R,Type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Integer,Description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Allelic</a:t>
            </a:r>
            <a:r>
              <a:rPr lang="fr" sz="900" b="1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depths</a:t>
            </a:r>
            <a:r>
              <a:rPr lang="fr" sz="900" b="1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for the 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ref</a:t>
            </a:r>
            <a:r>
              <a:rPr lang="fr" sz="900" b="1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and alt 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alleles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in the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listed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900" b="0" i="0" u="none" strike="noStrike" cap="none" dirty="0">
              <a:solidFill>
                <a:srgbClr val="1155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##FORMAT=&lt;ID=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DP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,Number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=1,Type=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Integer,Description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Approximate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fr" sz="900" b="1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depth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reads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MQ=255 or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bad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mates are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filtere</a:t>
            </a:r>
            <a:endParaRPr sz="900" b="0" i="0" u="none" strike="noStrike" cap="none" dirty="0">
              <a:solidFill>
                <a:srgbClr val="1155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##FORMAT=&lt;ID=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GQ,Number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=1,Type=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Integer,Description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Genotype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Quality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900" b="0" i="0" u="none" strike="noStrike" cap="none" dirty="0">
              <a:solidFill>
                <a:srgbClr val="1155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##FORMAT=&lt;ID=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GT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,Number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=1,Type=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String,Description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" sz="900" b="1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Genotype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900" b="0" i="0" u="none" strike="noStrike" cap="none" dirty="0">
              <a:solidFill>
                <a:srgbClr val="1155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##FORMAT=&lt;ID=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PL,Number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G,Type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Integer,Description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Normalized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Phred-scaled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likelihoods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for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genotypes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as </a:t>
            </a:r>
            <a:r>
              <a:rPr lang="fr" sz="900" b="0" i="0" u="none" strike="noStrike" cap="none" dirty="0" err="1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defined</a:t>
            </a:r>
            <a:r>
              <a:rPr lang="fr" sz="900" b="0" i="0" u="none" strike="noStrike" cap="none" dirty="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in the VC</a:t>
            </a:r>
            <a:endParaRPr sz="900" b="0" i="0" u="none" strike="noStrike" cap="none" dirty="0">
              <a:solidFill>
                <a:srgbClr val="1155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##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GATKCommandLine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=&lt;ID=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HaplotypeCaller,CommandLine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HaplotypeCaller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--min-base-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quality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-score 18 --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emit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ref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-confidence NONE 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##INFO=&lt;ID=</a:t>
            </a:r>
            <a:r>
              <a:rPr lang="fr" sz="900" b="1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AF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,Number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A,Type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Float,Description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" sz="900" b="1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Allele</a:t>
            </a:r>
            <a:r>
              <a:rPr lang="fr" sz="900" b="1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Frequency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, for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each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ALT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allele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, in the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same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as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listed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900" b="0" i="0" u="none" strike="noStrike" cap="none" dirty="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##INFO=&lt;ID=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AN,Number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=1,Type=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Integer,Description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="Total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of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alleles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in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called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genotypes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900" b="0" i="0" u="none" strike="noStrike" cap="none" dirty="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##INFO=&lt;ID=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BaseQRankSum,Number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=1,Type=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Float,Description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="Z-score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Wilcoxon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rank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test of Alt Vs.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Ref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base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qualities</a:t>
            </a:r>
            <a:endParaRPr sz="900" b="0" i="0" u="none" strike="noStrike" cap="none" dirty="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900" b="0" i="0" u="none" strike="noStrike" cap="none" dirty="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##INFO=&lt;ID=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ReadPosRankSum,Number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=1,Type=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Float,Description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="Z-score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Wilcoxon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rank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test of Alt vs.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Ref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positio</a:t>
            </a:r>
            <a:endParaRPr sz="900" b="0" i="0" u="none" strike="noStrike" cap="none" dirty="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##INFO=&lt;ID=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SOR,Number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=1,Type=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Float,Description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Symmetric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Odds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Ratio of 2x2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contingency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table to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detect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strand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 err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bias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900" b="0" i="0" u="none" strike="noStrike" cap="none" dirty="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##contig=&lt;ID=6,length=119458736&gt;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##source=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HaplotypeCaller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1" i="0" u="none" strike="noStrike" cap="none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#CHROM   POS  ID   REF  ALT   QUAL    FILTER   INFO               FORMAT           SRR1262731             SRR1262732</a:t>
            </a:r>
            <a:endParaRPr sz="900" b="1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6        2    .    </a:t>
            </a:r>
            <a:r>
              <a:rPr lang="fr" sz="9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A     67.64   .        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AC=1;AF=0.500;...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fr" sz="900" b="0" i="0" u="none" strike="noStrike" cap="none" dirty="0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GT:AD:DP:GQ:PL   0/1:3,2:5:75:75,0,105  0/1:3,2:5:75:75,</a:t>
            </a:r>
            <a:endParaRPr sz="900" b="0" i="0" u="none" strike="noStrike" cap="none" dirty="0">
              <a:solidFill>
                <a:srgbClr val="BF9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        4    .    GT   G     58.60   .        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AC=1;AF=0.500;...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fr" sz="900" b="0" i="0" u="none" strike="noStrike" cap="none" dirty="0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GT:AD:DP:GQ:PL   0/1:1,2:3:28:66,0,28   0/1:1,2:3:28:66,</a:t>
            </a:r>
            <a:endParaRPr sz="900" b="0" i="0" u="none" strike="noStrike" cap="none" dirty="0">
              <a:solidFill>
                <a:srgbClr val="BF9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        9    .    C    CA    55.60   .        </a:t>
            </a:r>
            <a:r>
              <a:rPr lang="fr" sz="900" b="0" i="0" u="none" strike="noStrike" cap="none" dirty="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AC=1;AF=0.500;... </a:t>
            </a:r>
            <a:r>
              <a:rPr lang="fr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900" b="0" i="0" u="none" strike="noStrike" cap="none" dirty="0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GT:AD:DP:GQ:PL   0/1:7,2:9:63:63,0,279  0/1:7,2:9:63:63,</a:t>
            </a:r>
            <a:endParaRPr sz="900" b="0" i="0" u="none" strike="noStrike" cap="none" dirty="0">
              <a:solidFill>
                <a:srgbClr val="BF9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g24854b049af_1_201"/>
          <p:cNvSpPr/>
          <p:nvPr/>
        </p:nvSpPr>
        <p:spPr>
          <a:xfrm>
            <a:off x="358375" y="1604500"/>
            <a:ext cx="112800" cy="2100000"/>
          </a:xfrm>
          <a:prstGeom prst="leftBrace">
            <a:avLst>
              <a:gd name="adj1" fmla="val 50000"/>
              <a:gd name="adj2" fmla="val 50538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24854b049af_1_201"/>
          <p:cNvSpPr/>
          <p:nvPr/>
        </p:nvSpPr>
        <p:spPr>
          <a:xfrm>
            <a:off x="358375" y="3774675"/>
            <a:ext cx="112800" cy="532800"/>
          </a:xfrm>
          <a:prstGeom prst="leftBrace">
            <a:avLst>
              <a:gd name="adj1" fmla="val 50000"/>
              <a:gd name="adj2" fmla="val 50538"/>
            </a:avLst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24854b049af_1_201"/>
          <p:cNvSpPr txBox="1"/>
          <p:nvPr/>
        </p:nvSpPr>
        <p:spPr>
          <a:xfrm rot="-5400000">
            <a:off x="-271200" y="2564950"/>
            <a:ext cx="944400" cy="1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1" i="0" u="none" strike="noStrike" cap="none">
                <a:solidFill>
                  <a:srgbClr val="3C78D8"/>
                </a:solidFill>
                <a:latin typeface="Trebuchet MS"/>
                <a:ea typeface="Trebuchet MS"/>
                <a:cs typeface="Trebuchet MS"/>
                <a:sym typeface="Trebuchet MS"/>
              </a:rPr>
              <a:t>VCF header</a:t>
            </a:r>
            <a:endParaRPr sz="1000" b="1" i="0" u="none" strike="noStrike" cap="none">
              <a:solidFill>
                <a:srgbClr val="3C78D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9" name="Google Shape;199;g24854b049af_1_201"/>
          <p:cNvSpPr txBox="1"/>
          <p:nvPr/>
        </p:nvSpPr>
        <p:spPr>
          <a:xfrm rot="-5400000">
            <a:off x="-55800" y="3943125"/>
            <a:ext cx="513600" cy="1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1" i="0" u="none" strike="noStrike" cap="none">
                <a:solidFill>
                  <a:srgbClr val="3C78D8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endParaRPr sz="1000" b="1" i="0" u="none" strike="noStrike" cap="none">
              <a:solidFill>
                <a:srgbClr val="3C78D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0" name="Google Shape;200;g24854b049af_1_201"/>
          <p:cNvSpPr txBox="1"/>
          <p:nvPr/>
        </p:nvSpPr>
        <p:spPr>
          <a:xfrm>
            <a:off x="3879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800"/>
            </a:pPr>
            <a:r>
              <a:rPr lang="fr-FR" sz="2800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VCF </a:t>
            </a:r>
            <a:r>
              <a:rPr lang="fr-FR" sz="2800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Wingdings" pitchFamily="2" charset="2"/>
              </a:rPr>
              <a:t></a:t>
            </a:r>
            <a:r>
              <a:rPr lang="fr-FR" sz="2800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 3 parties principales</a:t>
            </a:r>
          </a:p>
        </p:txBody>
      </p:sp>
      <p:sp>
        <p:nvSpPr>
          <p:cNvPr id="201" name="Google Shape;201;g24854b049af_1_201"/>
          <p:cNvSpPr/>
          <p:nvPr/>
        </p:nvSpPr>
        <p:spPr>
          <a:xfrm>
            <a:off x="530600" y="1604500"/>
            <a:ext cx="8520600" cy="2176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24854b049af_1_201"/>
          <p:cNvSpPr txBox="1"/>
          <p:nvPr/>
        </p:nvSpPr>
        <p:spPr>
          <a:xfrm>
            <a:off x="7657800" y="1246350"/>
            <a:ext cx="125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METADATA</a:t>
            </a:r>
            <a:endParaRPr sz="1400" b="0" i="0" u="none" strike="noStrike" cap="non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g24854b049af_1_201"/>
          <p:cNvSpPr/>
          <p:nvPr/>
        </p:nvSpPr>
        <p:spPr>
          <a:xfrm>
            <a:off x="530600" y="3818600"/>
            <a:ext cx="4479600" cy="607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24854b049af_1_201"/>
          <p:cNvSpPr txBox="1"/>
          <p:nvPr/>
        </p:nvSpPr>
        <p:spPr>
          <a:xfrm>
            <a:off x="2156725" y="4374075"/>
            <a:ext cx="99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INFO</a:t>
            </a:r>
            <a:endParaRPr sz="1400" b="0" i="0" u="none" strike="noStrike" cap="non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5" name="Google Shape;205;g24854b049af_1_201"/>
          <p:cNvSpPr/>
          <p:nvPr/>
        </p:nvSpPr>
        <p:spPr>
          <a:xfrm>
            <a:off x="5069625" y="3818600"/>
            <a:ext cx="3981900" cy="607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24854b049af_1_201"/>
          <p:cNvSpPr txBox="1"/>
          <p:nvPr/>
        </p:nvSpPr>
        <p:spPr>
          <a:xfrm>
            <a:off x="6517025" y="4374075"/>
            <a:ext cx="139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GENOTYPE</a:t>
            </a:r>
            <a:endParaRPr sz="1400" b="0" i="0" u="none" strike="noStrike" cap="non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38646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785C2899-0C80-8B90-E81B-069DB35B6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4854b049af_1_5">
            <a:extLst>
              <a:ext uri="{FF2B5EF4-FFF2-40B4-BE49-F238E27FC236}">
                <a16:creationId xmlns:a16="http://schemas.microsoft.com/office/drawing/2014/main" id="{E9B040B2-88AF-88E0-731F-2E284C5EED83}"/>
              </a:ext>
            </a:extLst>
          </p:cNvPr>
          <p:cNvSpPr/>
          <p:nvPr/>
        </p:nvSpPr>
        <p:spPr>
          <a:xfrm>
            <a:off x="289900" y="3867975"/>
            <a:ext cx="3296400" cy="1275600"/>
          </a:xfrm>
          <a:prstGeom prst="roundRect">
            <a:avLst>
              <a:gd name="adj" fmla="val 8441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24854b049af_1_5">
            <a:extLst>
              <a:ext uri="{FF2B5EF4-FFF2-40B4-BE49-F238E27FC236}">
                <a16:creationId xmlns:a16="http://schemas.microsoft.com/office/drawing/2014/main" id="{2337BA68-B014-2E2F-BA35-06EB4AA51AB0}"/>
              </a:ext>
            </a:extLst>
          </p:cNvPr>
          <p:cNvSpPr/>
          <p:nvPr/>
        </p:nvSpPr>
        <p:spPr>
          <a:xfrm>
            <a:off x="1909300" y="1234675"/>
            <a:ext cx="1604400" cy="73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Fastq Quality Control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FastQC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24854b049af_1_5">
            <a:extLst>
              <a:ext uri="{FF2B5EF4-FFF2-40B4-BE49-F238E27FC236}">
                <a16:creationId xmlns:a16="http://schemas.microsoft.com/office/drawing/2014/main" id="{08CF9093-0E1D-823B-25B6-72EA950FE5CC}"/>
              </a:ext>
            </a:extLst>
          </p:cNvPr>
          <p:cNvSpPr/>
          <p:nvPr/>
        </p:nvSpPr>
        <p:spPr>
          <a:xfrm>
            <a:off x="1909300" y="2151800"/>
            <a:ext cx="16044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Mapping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Bwa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4854b049af_1_5">
            <a:extLst>
              <a:ext uri="{FF2B5EF4-FFF2-40B4-BE49-F238E27FC236}">
                <a16:creationId xmlns:a16="http://schemas.microsoft.com/office/drawing/2014/main" id="{0D3A8A6E-F8E1-4A95-E9CD-8F8C26E7812C}"/>
              </a:ext>
            </a:extLst>
          </p:cNvPr>
          <p:cNvSpPr/>
          <p:nvPr/>
        </p:nvSpPr>
        <p:spPr>
          <a:xfrm>
            <a:off x="1909300" y="665975"/>
            <a:ext cx="1604400" cy="34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 (Fastq)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4854b049af_1_5">
            <a:extLst>
              <a:ext uri="{FF2B5EF4-FFF2-40B4-BE49-F238E27FC236}">
                <a16:creationId xmlns:a16="http://schemas.microsoft.com/office/drawing/2014/main" id="{45F45940-B3B4-4FDA-96FC-5331F13469E0}"/>
              </a:ext>
            </a:extLst>
          </p:cNvPr>
          <p:cNvSpPr/>
          <p:nvPr/>
        </p:nvSpPr>
        <p:spPr>
          <a:xfrm>
            <a:off x="513100" y="2304206"/>
            <a:ext cx="1103700" cy="858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 genome (Fasta)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4854b049af_1_5">
            <a:extLst>
              <a:ext uri="{FF2B5EF4-FFF2-40B4-BE49-F238E27FC236}">
                <a16:creationId xmlns:a16="http://schemas.microsoft.com/office/drawing/2014/main" id="{6423B698-9016-5EE6-DF88-1FF3B6E4568A}"/>
              </a:ext>
            </a:extLst>
          </p:cNvPr>
          <p:cNvSpPr/>
          <p:nvPr/>
        </p:nvSpPr>
        <p:spPr>
          <a:xfrm>
            <a:off x="1909300" y="2927175"/>
            <a:ext cx="1604400" cy="73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 Post Alignement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GATK/Picard --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24854b049af_1_5">
            <a:extLst>
              <a:ext uri="{FF2B5EF4-FFF2-40B4-BE49-F238E27FC236}">
                <a16:creationId xmlns:a16="http://schemas.microsoft.com/office/drawing/2014/main" id="{57C3AE07-DE52-75E2-D5A1-903316634198}"/>
              </a:ext>
            </a:extLst>
          </p:cNvPr>
          <p:cNvSpPr/>
          <p:nvPr/>
        </p:nvSpPr>
        <p:spPr>
          <a:xfrm>
            <a:off x="1909350" y="3920775"/>
            <a:ext cx="1604400" cy="52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b="1"/>
              <a:t>small variants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GATK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g24854b049af_1_5">
            <a:extLst>
              <a:ext uri="{FF2B5EF4-FFF2-40B4-BE49-F238E27FC236}">
                <a16:creationId xmlns:a16="http://schemas.microsoft.com/office/drawing/2014/main" id="{B105AAAB-144B-87A3-3C03-820894F1B34F}"/>
              </a:ext>
            </a:extLst>
          </p:cNvPr>
          <p:cNvCxnSpPr>
            <a:stCxn id="157" idx="2"/>
            <a:endCxn id="158" idx="0"/>
          </p:cNvCxnSpPr>
          <p:nvPr/>
        </p:nvCxnSpPr>
        <p:spPr>
          <a:xfrm rot="-5400000" flipH="1">
            <a:off x="2583700" y="3792375"/>
            <a:ext cx="2562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0" name="Google Shape;160;g24854b049af_1_5">
            <a:extLst>
              <a:ext uri="{FF2B5EF4-FFF2-40B4-BE49-F238E27FC236}">
                <a16:creationId xmlns:a16="http://schemas.microsoft.com/office/drawing/2014/main" id="{C4A19865-3EFF-7494-88D3-8698B09DC92E}"/>
              </a:ext>
            </a:extLst>
          </p:cNvPr>
          <p:cNvCxnSpPr>
            <a:stCxn id="154" idx="2"/>
            <a:endCxn id="157" idx="0"/>
          </p:cNvCxnSpPr>
          <p:nvPr/>
        </p:nvCxnSpPr>
        <p:spPr>
          <a:xfrm rot="-5400000" flipH="1">
            <a:off x="2610400" y="2825600"/>
            <a:ext cx="202800" cy="600"/>
          </a:xfrm>
          <a:prstGeom prst="bentConnector3">
            <a:avLst>
              <a:gd name="adj1" fmla="val 4996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" name="Google Shape;161;g24854b049af_1_5">
            <a:extLst>
              <a:ext uri="{FF2B5EF4-FFF2-40B4-BE49-F238E27FC236}">
                <a16:creationId xmlns:a16="http://schemas.microsoft.com/office/drawing/2014/main" id="{13A5AA83-E0F2-9763-8A0F-6E1471896EC1}"/>
              </a:ext>
            </a:extLst>
          </p:cNvPr>
          <p:cNvCxnSpPr>
            <a:stCxn id="153" idx="2"/>
            <a:endCxn id="154" idx="0"/>
          </p:cNvCxnSpPr>
          <p:nvPr/>
        </p:nvCxnSpPr>
        <p:spPr>
          <a:xfrm rot="-5400000" flipH="1">
            <a:off x="2621950" y="2061625"/>
            <a:ext cx="1797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2" name="Google Shape;162;g24854b049af_1_5">
            <a:extLst>
              <a:ext uri="{FF2B5EF4-FFF2-40B4-BE49-F238E27FC236}">
                <a16:creationId xmlns:a16="http://schemas.microsoft.com/office/drawing/2014/main" id="{29A1D9CC-78CB-B56E-1511-5A59F91F932E}"/>
              </a:ext>
            </a:extLst>
          </p:cNvPr>
          <p:cNvCxnSpPr>
            <a:stCxn id="155" idx="2"/>
            <a:endCxn id="153" idx="0"/>
          </p:cNvCxnSpPr>
          <p:nvPr/>
        </p:nvCxnSpPr>
        <p:spPr>
          <a:xfrm rot="-5400000" flipH="1">
            <a:off x="2601100" y="1123775"/>
            <a:ext cx="221400" cy="600"/>
          </a:xfrm>
          <a:prstGeom prst="bentConnector3">
            <a:avLst>
              <a:gd name="adj1" fmla="val 4997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3" name="Google Shape;163;g24854b049af_1_5">
            <a:extLst>
              <a:ext uri="{FF2B5EF4-FFF2-40B4-BE49-F238E27FC236}">
                <a16:creationId xmlns:a16="http://schemas.microsoft.com/office/drawing/2014/main" id="{CDEB09F1-8DE9-2B64-135C-6F7B120D4D70}"/>
              </a:ext>
            </a:extLst>
          </p:cNvPr>
          <p:cNvCxnSpPr>
            <a:stCxn id="156" idx="3"/>
            <a:endCxn id="154" idx="1"/>
          </p:cNvCxnSpPr>
          <p:nvPr/>
        </p:nvCxnSpPr>
        <p:spPr>
          <a:xfrm rot="10800000" flipH="1">
            <a:off x="1616800" y="2438156"/>
            <a:ext cx="292500" cy="295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4" name="Google Shape;164;g24854b049af_1_5">
            <a:extLst>
              <a:ext uri="{FF2B5EF4-FFF2-40B4-BE49-F238E27FC236}">
                <a16:creationId xmlns:a16="http://schemas.microsoft.com/office/drawing/2014/main" id="{48039AAD-239A-EEA4-18E3-0BC5A19EC6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sp>
        <p:nvSpPr>
          <p:cNvPr id="165" name="Google Shape;165;g24854b049af_1_5">
            <a:extLst>
              <a:ext uri="{FF2B5EF4-FFF2-40B4-BE49-F238E27FC236}">
                <a16:creationId xmlns:a16="http://schemas.microsoft.com/office/drawing/2014/main" id="{723EC55B-C4C2-09FE-6903-030F4DB6B263}"/>
              </a:ext>
            </a:extLst>
          </p:cNvPr>
          <p:cNvSpPr/>
          <p:nvPr/>
        </p:nvSpPr>
        <p:spPr>
          <a:xfrm>
            <a:off x="374200" y="3920775"/>
            <a:ext cx="1465500" cy="73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b="1"/>
              <a:t>Structural variants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</a:t>
            </a:r>
            <a:r>
              <a:rPr lang="fr" i="1"/>
              <a:t>Delly</a:t>
            </a: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4854b049af_1_5">
            <a:extLst>
              <a:ext uri="{FF2B5EF4-FFF2-40B4-BE49-F238E27FC236}">
                <a16:creationId xmlns:a16="http://schemas.microsoft.com/office/drawing/2014/main" id="{3D4DED9F-2702-4CA4-9511-3B7B9CE418A2}"/>
              </a:ext>
            </a:extLst>
          </p:cNvPr>
          <p:cNvSpPr/>
          <p:nvPr/>
        </p:nvSpPr>
        <p:spPr>
          <a:xfrm>
            <a:off x="1909000" y="4555450"/>
            <a:ext cx="1604700" cy="495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Annotation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SnpEff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g24854b049af_1_5">
            <a:extLst>
              <a:ext uri="{FF2B5EF4-FFF2-40B4-BE49-F238E27FC236}">
                <a16:creationId xmlns:a16="http://schemas.microsoft.com/office/drawing/2014/main" id="{52B51862-DB4E-2EAF-B585-E587FB57A03A}"/>
              </a:ext>
            </a:extLst>
          </p:cNvPr>
          <p:cNvCxnSpPr>
            <a:stCxn id="157" idx="2"/>
            <a:endCxn id="165" idx="0"/>
          </p:cNvCxnSpPr>
          <p:nvPr/>
        </p:nvCxnSpPr>
        <p:spPr>
          <a:xfrm rot="5400000">
            <a:off x="1781050" y="2990325"/>
            <a:ext cx="256200" cy="1604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g24854b049af_1_5">
            <a:extLst>
              <a:ext uri="{FF2B5EF4-FFF2-40B4-BE49-F238E27FC236}">
                <a16:creationId xmlns:a16="http://schemas.microsoft.com/office/drawing/2014/main" id="{D2C4DA46-DF16-BAE4-ED19-5E8E4570E6C2}"/>
              </a:ext>
            </a:extLst>
          </p:cNvPr>
          <p:cNvSpPr txBox="1"/>
          <p:nvPr/>
        </p:nvSpPr>
        <p:spPr>
          <a:xfrm>
            <a:off x="426850" y="4702825"/>
            <a:ext cx="127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i="1">
                <a:solidFill>
                  <a:srgbClr val="575757"/>
                </a:solidFill>
              </a:rPr>
              <a:t>Variant Calling</a:t>
            </a:r>
            <a:endParaRPr sz="1200" b="1" i="1">
              <a:solidFill>
                <a:srgbClr val="575757"/>
              </a:solidFill>
            </a:endParaRPr>
          </a:p>
        </p:txBody>
      </p:sp>
      <p:grpSp>
        <p:nvGrpSpPr>
          <p:cNvPr id="169" name="Google Shape;169;g24854b049af_1_5">
            <a:extLst>
              <a:ext uri="{FF2B5EF4-FFF2-40B4-BE49-F238E27FC236}">
                <a16:creationId xmlns:a16="http://schemas.microsoft.com/office/drawing/2014/main" id="{45E53202-31E4-027E-F369-FF3B60A7914E}"/>
              </a:ext>
            </a:extLst>
          </p:cNvPr>
          <p:cNvGrpSpPr/>
          <p:nvPr/>
        </p:nvGrpSpPr>
        <p:grpSpPr>
          <a:xfrm>
            <a:off x="3586300" y="140800"/>
            <a:ext cx="1272425" cy="4948200"/>
            <a:chOff x="3586300" y="-392600"/>
            <a:chExt cx="1272425" cy="4948200"/>
          </a:xfrm>
        </p:grpSpPr>
        <p:cxnSp>
          <p:nvCxnSpPr>
            <p:cNvPr id="170" name="Google Shape;170;g24854b049af_1_5">
              <a:extLst>
                <a:ext uri="{FF2B5EF4-FFF2-40B4-BE49-F238E27FC236}">
                  <a16:creationId xmlns:a16="http://schemas.microsoft.com/office/drawing/2014/main" id="{8FD6EA7D-F845-FD4F-CB61-1390BA52B63C}"/>
                </a:ext>
              </a:extLst>
            </p:cNvPr>
            <p:cNvCxnSpPr>
              <a:stCxn id="152" idx="3"/>
              <a:endCxn id="171" idx="1"/>
            </p:cNvCxnSpPr>
            <p:nvPr/>
          </p:nvCxnSpPr>
          <p:spPr>
            <a:xfrm rot="10800000" flipH="1">
              <a:off x="3586300" y="2208975"/>
              <a:ext cx="454200" cy="1763400"/>
            </a:xfrm>
            <a:prstGeom prst="bentConnector3">
              <a:avLst>
                <a:gd name="adj1" fmla="val 49989"/>
              </a:avLst>
            </a:prstGeom>
            <a:noFill/>
            <a:ln w="9525" cap="flat" cmpd="sng">
              <a:solidFill>
                <a:schemeClr val="dk2"/>
              </a:solidFill>
              <a:prstDash val="lgDash"/>
              <a:round/>
              <a:headEnd type="none" w="sm" len="sm"/>
              <a:tailEnd type="triangle" w="med" len="med"/>
            </a:ln>
          </p:spPr>
        </p:cxnSp>
        <p:cxnSp>
          <p:nvCxnSpPr>
            <p:cNvPr id="172" name="Google Shape;172;g24854b049af_1_5">
              <a:extLst>
                <a:ext uri="{FF2B5EF4-FFF2-40B4-BE49-F238E27FC236}">
                  <a16:creationId xmlns:a16="http://schemas.microsoft.com/office/drawing/2014/main" id="{DD5B0F12-F916-B994-973F-853FD04BAD6F}"/>
                </a:ext>
              </a:extLst>
            </p:cNvPr>
            <p:cNvCxnSpPr/>
            <p:nvPr/>
          </p:nvCxnSpPr>
          <p:spPr>
            <a:xfrm>
              <a:off x="4406350" y="-392600"/>
              <a:ext cx="5700" cy="4948200"/>
            </a:xfrm>
            <a:prstGeom prst="straightConnector1">
              <a:avLst/>
            </a:prstGeom>
            <a:noFill/>
            <a:ln w="19050" cap="flat" cmpd="sng">
              <a:solidFill>
                <a:srgbClr val="C0504D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71" name="Google Shape;171;g24854b049af_1_5">
              <a:extLst>
                <a:ext uri="{FF2B5EF4-FFF2-40B4-BE49-F238E27FC236}">
                  <a16:creationId xmlns:a16="http://schemas.microsoft.com/office/drawing/2014/main" id="{A4672FE6-05F3-F9E7-2573-1241654B1635}"/>
                </a:ext>
              </a:extLst>
            </p:cNvPr>
            <p:cNvSpPr/>
            <p:nvPr/>
          </p:nvSpPr>
          <p:spPr>
            <a:xfrm>
              <a:off x="4040400" y="1961375"/>
              <a:ext cx="760212" cy="495180"/>
            </a:xfrm>
            <a:prstGeom prst="flowChartDocumen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24854b049af_1_5">
              <a:extLst>
                <a:ext uri="{FF2B5EF4-FFF2-40B4-BE49-F238E27FC236}">
                  <a16:creationId xmlns:a16="http://schemas.microsoft.com/office/drawing/2014/main" id="{B36CBE5D-0FAB-7491-754A-D04AD2DC2F41}"/>
                </a:ext>
              </a:extLst>
            </p:cNvPr>
            <p:cNvSpPr/>
            <p:nvPr/>
          </p:nvSpPr>
          <p:spPr>
            <a:xfrm>
              <a:off x="4098513" y="2022675"/>
              <a:ext cx="760212" cy="495180"/>
            </a:xfrm>
            <a:prstGeom prst="flowChartDocumen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g24854b049af_1_5">
            <a:extLst>
              <a:ext uri="{FF2B5EF4-FFF2-40B4-BE49-F238E27FC236}">
                <a16:creationId xmlns:a16="http://schemas.microsoft.com/office/drawing/2014/main" id="{029356F2-0B7C-9141-1EEC-6EA573EA6DFD}"/>
              </a:ext>
            </a:extLst>
          </p:cNvPr>
          <p:cNvSpPr/>
          <p:nvPr/>
        </p:nvSpPr>
        <p:spPr>
          <a:xfrm>
            <a:off x="5100500" y="1187075"/>
            <a:ext cx="1768800" cy="6420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QC &amp; Filtres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stats descriptives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g24854b049af_1_5">
            <a:extLst>
              <a:ext uri="{FF2B5EF4-FFF2-40B4-BE49-F238E27FC236}">
                <a16:creationId xmlns:a16="http://schemas.microsoft.com/office/drawing/2014/main" id="{4425230A-B45E-B584-B247-50F75D022CC7}"/>
              </a:ext>
            </a:extLst>
          </p:cNvPr>
          <p:cNvCxnSpPr>
            <a:stCxn id="173" idx="3"/>
            <a:endCxn id="174" idx="1"/>
          </p:cNvCxnSpPr>
          <p:nvPr/>
        </p:nvCxnSpPr>
        <p:spPr>
          <a:xfrm rot="10800000" flipH="1">
            <a:off x="4858725" y="1507965"/>
            <a:ext cx="241800" cy="12957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85" name="Google Shape;185;g24854b049af_1_5">
            <a:extLst>
              <a:ext uri="{FF2B5EF4-FFF2-40B4-BE49-F238E27FC236}">
                <a16:creationId xmlns:a16="http://schemas.microsoft.com/office/drawing/2014/main" id="{30705CCE-4180-F0E4-572D-1E34A6B97D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3602" r="23310"/>
          <a:stretch/>
        </p:blipFill>
        <p:spPr>
          <a:xfrm>
            <a:off x="540312" y="951000"/>
            <a:ext cx="871138" cy="9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24854b049af_1_5">
            <a:extLst>
              <a:ext uri="{FF2B5EF4-FFF2-40B4-BE49-F238E27FC236}">
                <a16:creationId xmlns:a16="http://schemas.microsoft.com/office/drawing/2014/main" id="{A14A7BF0-A76A-23B9-B9CC-09C40E23F9A3}"/>
              </a:ext>
            </a:extLst>
          </p:cNvPr>
          <p:cNvSpPr txBox="1"/>
          <p:nvPr/>
        </p:nvSpPr>
        <p:spPr>
          <a:xfrm>
            <a:off x="631025" y="1664950"/>
            <a:ext cx="68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UNIX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24854b049af_1_5">
            <a:extLst>
              <a:ext uri="{FF2B5EF4-FFF2-40B4-BE49-F238E27FC236}">
                <a16:creationId xmlns:a16="http://schemas.microsoft.com/office/drawing/2014/main" id="{B8D3DBB3-0A8D-1C53-D066-2725E3C834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9275" y="596100"/>
            <a:ext cx="1176600" cy="91186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4854b049af_1_5">
            <a:extLst>
              <a:ext uri="{FF2B5EF4-FFF2-40B4-BE49-F238E27FC236}">
                <a16:creationId xmlns:a16="http://schemas.microsoft.com/office/drawing/2014/main" id="{730B7856-E84B-798F-6492-D57D1E456E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16225" y="64025"/>
            <a:ext cx="4003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2075"/>
              <a:buNone/>
            </a:pPr>
            <a:r>
              <a:rPr lang="fr" sz="2120"/>
              <a:t> du VCFs aux marqueurs (ebaiin2)</a:t>
            </a:r>
            <a:endParaRPr sz="2120"/>
          </a:p>
        </p:txBody>
      </p:sp>
      <p:sp>
        <p:nvSpPr>
          <p:cNvPr id="189" name="Google Shape;189;g24854b049af_1_5">
            <a:extLst>
              <a:ext uri="{FF2B5EF4-FFF2-40B4-BE49-F238E27FC236}">
                <a16:creationId xmlns:a16="http://schemas.microsoft.com/office/drawing/2014/main" id="{7F0BD510-21D9-05B2-A98B-A16194D4E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4200" y="64025"/>
            <a:ext cx="378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120"/>
              <a:t>du Fastq aux VCFs (ebaiin1)</a:t>
            </a:r>
            <a:endParaRPr sz="2120"/>
          </a:p>
        </p:txBody>
      </p:sp>
    </p:spTree>
    <p:extLst>
      <p:ext uri="{BB962C8B-B14F-4D97-AF65-F5344CB8AC3E}">
        <p14:creationId xmlns:p14="http://schemas.microsoft.com/office/powerpoint/2010/main" val="4064416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4854b049af_1_422"/>
          <p:cNvSpPr txBox="1">
            <a:spLocks noGrp="1"/>
          </p:cNvSpPr>
          <p:nvPr>
            <p:ph type="body" idx="1"/>
          </p:nvPr>
        </p:nvSpPr>
        <p:spPr>
          <a:xfrm>
            <a:off x="235500" y="846851"/>
            <a:ext cx="8520600" cy="39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De </a:t>
            </a:r>
            <a:r>
              <a:rPr lang="fr" sz="1600" b="1"/>
              <a:t>nombreux filtres</a:t>
            </a:r>
            <a:r>
              <a:rPr lang="fr" sz="1600"/>
              <a:t> peuvent être appliqués sur le VCF</a:t>
            </a:r>
            <a:endParaRPr sz="1600"/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/>
              <a:t>→  type de variants à garder (SNVs seulement, Indels...)</a:t>
            </a:r>
            <a:endParaRPr sz="1600"/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/>
              <a:t>→  </a:t>
            </a:r>
            <a:r>
              <a:rPr lang="fr" sz="1600">
                <a:solidFill>
                  <a:schemeClr val="dk1"/>
                </a:solidFill>
              </a:rPr>
              <a:t>région d’intérêt</a:t>
            </a:r>
            <a:endParaRPr sz="1600"/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/>
              <a:t>→ filtres sur la qualité (seuils arbitraires : profondeur, génotype (0/1, 1/1), ratio allélique…)</a:t>
            </a:r>
            <a:endParaRPr sz="1600"/>
          </a:p>
          <a:p>
            <a:pPr marL="91440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457200" lvl="0" indent="-33020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fr" sz="1600">
                <a:solidFill>
                  <a:schemeClr val="dk1"/>
                </a:solidFill>
              </a:rPr>
              <a:t>Filtres difficilement transposables entre analyse :</a:t>
            </a:r>
            <a:endParaRPr sz="1600">
              <a:solidFill>
                <a:schemeClr val="dk1"/>
              </a:solidFill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" sz="1600">
                <a:solidFill>
                  <a:schemeClr val="dk1"/>
                </a:solidFill>
              </a:rPr>
              <a:t>→ dépendent de la </a:t>
            </a:r>
            <a:r>
              <a:rPr lang="fr" sz="1600" b="1">
                <a:solidFill>
                  <a:schemeClr val="dk1"/>
                </a:solidFill>
              </a:rPr>
              <a:t>question biologique</a:t>
            </a:r>
            <a:endParaRPr sz="1600" b="1">
              <a:solidFill>
                <a:schemeClr val="dk1"/>
              </a:solidFill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>
                <a:solidFill>
                  <a:schemeClr val="dk1"/>
                </a:solidFill>
              </a:rPr>
              <a:t>→ dépendent des outils utilisés</a:t>
            </a:r>
            <a:endParaRPr sz="1400"/>
          </a:p>
          <a:p>
            <a:pPr marL="91440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600"/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/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SzPts val="1800"/>
              <a:buNone/>
            </a:pPr>
            <a:endParaRPr sz="1600"/>
          </a:p>
        </p:txBody>
      </p:sp>
      <p:sp>
        <p:nvSpPr>
          <p:cNvPr id="240" name="Google Shape;240;g24854b049af_1_4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sp>
        <p:nvSpPr>
          <p:cNvPr id="241" name="Google Shape;241;g24854b049af_1_42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9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300">
                <a:solidFill>
                  <a:srgbClr val="308DCB"/>
                </a:solidFill>
              </a:rPr>
              <a:t>Rappel : Filtre des variants</a:t>
            </a:r>
            <a:endParaRPr sz="2300">
              <a:solidFill>
                <a:srgbClr val="308DCB"/>
              </a:solidFill>
            </a:endParaRPr>
          </a:p>
        </p:txBody>
      </p:sp>
      <p:sp>
        <p:nvSpPr>
          <p:cNvPr id="242" name="Google Shape;242;g24854b049af_1_422"/>
          <p:cNvSpPr/>
          <p:nvPr/>
        </p:nvSpPr>
        <p:spPr>
          <a:xfrm>
            <a:off x="695325" y="3181350"/>
            <a:ext cx="4849200" cy="9939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4854b049af_1_422"/>
          <p:cNvSpPr txBox="1"/>
          <p:nvPr/>
        </p:nvSpPr>
        <p:spPr>
          <a:xfrm>
            <a:off x="5578575" y="3301700"/>
            <a:ext cx="3253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A61C00"/>
                </a:solidFill>
                <a:latin typeface="Trebuchet MS"/>
                <a:ea typeface="Trebuchet MS"/>
                <a:cs typeface="Trebuchet MS"/>
                <a:sym typeface="Trebuchet MS"/>
              </a:rPr>
              <a:t>→ d’où l'intérêt de faire ses propres scripts </a:t>
            </a:r>
            <a:endParaRPr sz="1400" b="0" i="0" u="none" strike="noStrike" cap="none">
              <a:solidFill>
                <a:srgbClr val="A61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4854b049af_1_43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9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300">
                <a:solidFill>
                  <a:srgbClr val="308DCB"/>
                </a:solidFill>
              </a:rPr>
              <a:t>Rappel : Faux positif</a:t>
            </a:r>
            <a:endParaRPr sz="2300">
              <a:solidFill>
                <a:srgbClr val="308DCB"/>
              </a:solidFill>
            </a:endParaRPr>
          </a:p>
        </p:txBody>
      </p:sp>
      <p:sp>
        <p:nvSpPr>
          <p:cNvPr id="249" name="Google Shape;249;g24854b049af_1_431"/>
          <p:cNvSpPr txBox="1">
            <a:spLocks noGrp="1"/>
          </p:cNvSpPr>
          <p:nvPr>
            <p:ph type="body" idx="1"/>
          </p:nvPr>
        </p:nvSpPr>
        <p:spPr>
          <a:xfrm>
            <a:off x="146700" y="1064650"/>
            <a:ext cx="894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De nombreux variants </a:t>
            </a:r>
            <a:r>
              <a:rPr lang="fr" sz="1600">
                <a:solidFill>
                  <a:srgbClr val="CC0000"/>
                </a:solidFill>
              </a:rPr>
              <a:t>Faux Positifs</a:t>
            </a:r>
            <a:r>
              <a:rPr lang="fr" sz="1600"/>
              <a:t> peuvent survenir des étapes précédentes :</a:t>
            </a:r>
            <a:endParaRPr sz="1600"/>
          </a:p>
          <a:p>
            <a:pPr marL="914400" lvl="1" indent="-330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Artéfacts issus des </a:t>
            </a:r>
            <a:r>
              <a:rPr lang="fr" sz="1600" b="1"/>
              <a:t>cycle PCR</a:t>
            </a:r>
            <a:r>
              <a:rPr lang="fr" sz="1600"/>
              <a:t> pendant la préparation des échantillons</a:t>
            </a:r>
            <a:endParaRPr sz="1600"/>
          </a:p>
          <a:p>
            <a:pPr marL="914400" lvl="1" indent="-330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Artéfacts liés à </a:t>
            </a:r>
            <a:r>
              <a:rPr lang="fr" sz="1600" b="1"/>
              <a:t>la technologie de séquençage</a:t>
            </a:r>
            <a:r>
              <a:rPr lang="fr" sz="1600"/>
              <a:t> (PacBio, HiSeq, NextSeq, … )</a:t>
            </a:r>
            <a:endParaRPr sz="1600"/>
          </a:p>
          <a:p>
            <a:pPr marL="914400" lvl="1" indent="-330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fr" sz="1600">
                <a:solidFill>
                  <a:schemeClr val="dk1"/>
                </a:solidFill>
              </a:rPr>
              <a:t>Difficultées d’</a:t>
            </a:r>
            <a:r>
              <a:rPr lang="fr" sz="1600" b="1">
                <a:solidFill>
                  <a:schemeClr val="dk1"/>
                </a:solidFill>
              </a:rPr>
              <a:t>alignement</a:t>
            </a:r>
            <a:r>
              <a:rPr lang="fr" sz="1600">
                <a:solidFill>
                  <a:schemeClr val="dk1"/>
                </a:solidFill>
              </a:rPr>
              <a:t> (régions d’ADN répétées)</a:t>
            </a:r>
            <a:endParaRPr sz="1600"/>
          </a:p>
          <a:p>
            <a:pPr marL="914400" lvl="1" indent="-330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fr" sz="1600" b="1"/>
              <a:t>Erreurs de lecture</a:t>
            </a:r>
            <a:r>
              <a:rPr lang="fr" sz="1600"/>
              <a:t> lors du “BaseCalling”</a:t>
            </a:r>
            <a:endParaRPr sz="1600"/>
          </a:p>
          <a:p>
            <a:pPr marL="91440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600"/>
          </a:p>
          <a:p>
            <a:pPr marL="457200" lvl="0" indent="-22860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None/>
            </a:pP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4854b049af_1_43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9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300">
                <a:solidFill>
                  <a:srgbClr val="308DCB"/>
                </a:solidFill>
              </a:rPr>
              <a:t>Rappel : </a:t>
            </a:r>
            <a:endParaRPr sz="2300">
              <a:solidFill>
                <a:srgbClr val="308DCB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300" i="1">
                <a:solidFill>
                  <a:srgbClr val="308DCB"/>
                </a:solidFill>
              </a:rPr>
              <a:t>Faux positifs vs Filtres qualité</a:t>
            </a:r>
            <a:endParaRPr sz="2300" i="1">
              <a:solidFill>
                <a:srgbClr val="308DCB"/>
              </a:solidFill>
            </a:endParaRPr>
          </a:p>
        </p:txBody>
      </p:sp>
      <p:sp>
        <p:nvSpPr>
          <p:cNvPr id="255" name="Google Shape;255;g24854b049af_1_436"/>
          <p:cNvSpPr/>
          <p:nvPr/>
        </p:nvSpPr>
        <p:spPr>
          <a:xfrm rot="10800000" flipH="1">
            <a:off x="456412" y="1638340"/>
            <a:ext cx="1742100" cy="3087600"/>
          </a:xfrm>
          <a:prstGeom prst="trapezoid">
            <a:avLst>
              <a:gd name="adj" fmla="val 28343"/>
            </a:avLst>
          </a:prstGeom>
          <a:solidFill>
            <a:srgbClr val="4A86E8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24854b049af_1_436"/>
          <p:cNvSpPr/>
          <p:nvPr/>
        </p:nvSpPr>
        <p:spPr>
          <a:xfrm rot="10800000" flipH="1">
            <a:off x="1713437" y="1636090"/>
            <a:ext cx="730800" cy="3092400"/>
          </a:xfrm>
          <a:prstGeom prst="rtTriangle">
            <a:avLst/>
          </a:prstGeom>
          <a:solidFill>
            <a:srgbClr val="E06666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4854b049af_1_436"/>
          <p:cNvSpPr txBox="1"/>
          <p:nvPr/>
        </p:nvSpPr>
        <p:spPr>
          <a:xfrm rot="-783" flipH="1">
            <a:off x="444538" y="1859750"/>
            <a:ext cx="1317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True Positive </a:t>
            </a:r>
            <a:r>
              <a:rPr lang="fr" sz="11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(polymorphisms,mutations)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4854b049af_1_436"/>
          <p:cNvSpPr txBox="1"/>
          <p:nvPr/>
        </p:nvSpPr>
        <p:spPr>
          <a:xfrm flipH="1">
            <a:off x="1689280" y="1626750"/>
            <a:ext cx="869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False </a:t>
            </a:r>
            <a:endParaRPr sz="12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Positive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24854b049af_1_436"/>
          <p:cNvSpPr/>
          <p:nvPr/>
        </p:nvSpPr>
        <p:spPr>
          <a:xfrm>
            <a:off x="456412" y="1635962"/>
            <a:ext cx="495000" cy="3092400"/>
          </a:xfrm>
          <a:prstGeom prst="rtTriangle">
            <a:avLst/>
          </a:prstGeom>
          <a:solidFill>
            <a:srgbClr val="C9DAF8"/>
          </a:solidFill>
          <a:ln w="9525" cap="flat" cmpd="sng">
            <a:solidFill>
              <a:srgbClr val="33333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24854b049af_1_436"/>
          <p:cNvSpPr txBox="1"/>
          <p:nvPr/>
        </p:nvSpPr>
        <p:spPr>
          <a:xfrm rot="5400000" flipH="1">
            <a:off x="-70713" y="3847562"/>
            <a:ext cx="1443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False</a:t>
            </a:r>
            <a:r>
              <a:rPr lang="fr" sz="1300" b="0" i="0" u="none" strike="noStrike" cap="none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 N</a:t>
            </a:r>
            <a:r>
              <a:rPr lang="fr" sz="1300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e</a:t>
            </a:r>
            <a:r>
              <a:rPr lang="fr" sz="1300" b="0" i="0" u="none" strike="noStrike" cap="none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gati</a:t>
            </a:r>
            <a:r>
              <a:rPr lang="fr" sz="1300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ve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4854b049af_1_436"/>
          <p:cNvSpPr/>
          <p:nvPr/>
        </p:nvSpPr>
        <p:spPr>
          <a:xfrm flipH="1">
            <a:off x="1713437" y="1635962"/>
            <a:ext cx="730800" cy="3087600"/>
          </a:xfrm>
          <a:prstGeom prst="rtTriangle">
            <a:avLst/>
          </a:prstGeom>
          <a:solidFill>
            <a:srgbClr val="EAD1DC"/>
          </a:solidFill>
          <a:ln w="9525" cap="flat" cmpd="sng">
            <a:solidFill>
              <a:srgbClr val="33333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24854b049af_1_436"/>
          <p:cNvSpPr txBox="1"/>
          <p:nvPr/>
        </p:nvSpPr>
        <p:spPr>
          <a:xfrm rot="5400000" flipH="1">
            <a:off x="1513962" y="3847562"/>
            <a:ext cx="1443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True N</a:t>
            </a:r>
            <a:r>
              <a:rPr lang="fr" sz="1300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e</a:t>
            </a:r>
            <a:r>
              <a:rPr lang="fr" sz="1300" b="0" i="0" u="none" strike="noStrike" cap="none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gati</a:t>
            </a:r>
            <a:r>
              <a:rPr lang="fr" sz="1300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ve</a:t>
            </a:r>
            <a:endParaRPr sz="14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4854b049af_1_436"/>
          <p:cNvSpPr/>
          <p:nvPr/>
        </p:nvSpPr>
        <p:spPr>
          <a:xfrm rot="5400000">
            <a:off x="1162562" y="3085063"/>
            <a:ext cx="3092400" cy="258600"/>
          </a:xfrm>
          <a:prstGeom prst="leftRightArrow">
            <a:avLst>
              <a:gd name="adj1" fmla="val 50011"/>
              <a:gd name="adj2" fmla="val 30891"/>
            </a:avLst>
          </a:prstGeom>
          <a:solidFill>
            <a:srgbClr val="D5A6BD"/>
          </a:solidFill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24854b049af_1_436"/>
          <p:cNvSpPr txBox="1"/>
          <p:nvPr/>
        </p:nvSpPr>
        <p:spPr>
          <a:xfrm rot="5400000">
            <a:off x="2241650" y="2176250"/>
            <a:ext cx="129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4C1130"/>
                </a:solidFill>
                <a:latin typeface="Arial"/>
                <a:ea typeface="Arial"/>
                <a:cs typeface="Arial"/>
                <a:sym typeface="Arial"/>
              </a:rPr>
              <a:t>Filtres/seuils</a:t>
            </a:r>
            <a:endParaRPr sz="1100" b="1" i="0" u="none" strike="noStrike" cap="none">
              <a:solidFill>
                <a:srgbClr val="4C11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24854b049af_1_436"/>
          <p:cNvSpPr txBox="1"/>
          <p:nvPr/>
        </p:nvSpPr>
        <p:spPr>
          <a:xfrm>
            <a:off x="2961025" y="3064410"/>
            <a:ext cx="1057200" cy="35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résultat final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g24854b049af_1_436"/>
          <p:cNvCxnSpPr/>
          <p:nvPr/>
        </p:nvCxnSpPr>
        <p:spPr>
          <a:xfrm flipH="1">
            <a:off x="370850" y="3235850"/>
            <a:ext cx="2595000" cy="11100"/>
          </a:xfrm>
          <a:prstGeom prst="straightConnector1">
            <a:avLst/>
          </a:prstGeom>
          <a:noFill/>
          <a:ln w="19050" cap="flat" cmpd="sng">
            <a:solidFill>
              <a:srgbClr val="741B47"/>
            </a:solidFill>
            <a:prstDash val="dash"/>
            <a:round/>
            <a:headEnd type="stealth" w="med" len="med"/>
            <a:tailEnd type="none" w="sm" len="sm"/>
          </a:ln>
        </p:spPr>
      </p:cxnSp>
      <p:sp>
        <p:nvSpPr>
          <p:cNvPr id="267" name="Google Shape;267;g24854b049af_1_436"/>
          <p:cNvSpPr/>
          <p:nvPr/>
        </p:nvSpPr>
        <p:spPr>
          <a:xfrm rot="5400000">
            <a:off x="1273837" y="422663"/>
            <a:ext cx="354000" cy="2061900"/>
          </a:xfrm>
          <a:prstGeom prst="rect">
            <a:avLst/>
          </a:prstGeom>
          <a:solidFill>
            <a:srgbClr val="57575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24854b049af_1_436"/>
          <p:cNvSpPr txBox="1"/>
          <p:nvPr/>
        </p:nvSpPr>
        <p:spPr>
          <a:xfrm>
            <a:off x="520687" y="1314163"/>
            <a:ext cx="1961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Variant calling results</a:t>
            </a:r>
            <a:endParaRPr sz="11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24854b049af_1_436"/>
          <p:cNvSpPr txBox="1"/>
          <p:nvPr/>
        </p:nvSpPr>
        <p:spPr>
          <a:xfrm>
            <a:off x="5148775" y="2350525"/>
            <a:ext cx="34803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Plus on est stringent plus on va éliminer les </a:t>
            </a:r>
            <a:r>
              <a:rPr lang="fr" sz="13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faux positifs</a:t>
            </a:r>
            <a:r>
              <a:rPr lang="fr" sz="13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mais avec le risque de perdre de </a:t>
            </a:r>
            <a:r>
              <a:rPr lang="fr" sz="1300" b="0" i="0" u="none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vrais variants</a:t>
            </a:r>
            <a:endParaRPr sz="1300" b="0" i="0" u="none" strike="noStrike" cap="non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0" name="Google Shape;270;g24854b049af_1_4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0475" y="368825"/>
            <a:ext cx="2321523" cy="16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24854b049af_1_436"/>
          <p:cNvSpPr txBox="1"/>
          <p:nvPr/>
        </p:nvSpPr>
        <p:spPr>
          <a:xfrm>
            <a:off x="5527675" y="1184850"/>
            <a:ext cx="133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max de vrais variants</a:t>
            </a:r>
            <a:endParaRPr sz="1200" b="0" i="0" u="none" strike="noStrike" cap="non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Google Shape;272;g24854b049af_1_436"/>
          <p:cNvSpPr txBox="1"/>
          <p:nvPr/>
        </p:nvSpPr>
        <p:spPr>
          <a:xfrm>
            <a:off x="6969400" y="1436025"/>
            <a:ext cx="97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min de faux positifs</a:t>
            </a:r>
            <a:endParaRPr sz="12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4854b049af_1_5"/>
          <p:cNvSpPr/>
          <p:nvPr/>
        </p:nvSpPr>
        <p:spPr>
          <a:xfrm>
            <a:off x="289900" y="3867975"/>
            <a:ext cx="3296400" cy="1275600"/>
          </a:xfrm>
          <a:prstGeom prst="roundRect">
            <a:avLst>
              <a:gd name="adj" fmla="val 8441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24854b049af_1_5"/>
          <p:cNvSpPr/>
          <p:nvPr/>
        </p:nvSpPr>
        <p:spPr>
          <a:xfrm>
            <a:off x="1909300" y="1234675"/>
            <a:ext cx="1604400" cy="73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Fastq Quality Control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FastQC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24854b049af_1_5"/>
          <p:cNvSpPr/>
          <p:nvPr/>
        </p:nvSpPr>
        <p:spPr>
          <a:xfrm>
            <a:off x="1909300" y="2151800"/>
            <a:ext cx="16044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Mapping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Bwa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4854b049af_1_5"/>
          <p:cNvSpPr/>
          <p:nvPr/>
        </p:nvSpPr>
        <p:spPr>
          <a:xfrm>
            <a:off x="1909300" y="665975"/>
            <a:ext cx="1604400" cy="34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 (Fastq)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4854b049af_1_5"/>
          <p:cNvSpPr/>
          <p:nvPr/>
        </p:nvSpPr>
        <p:spPr>
          <a:xfrm>
            <a:off x="513100" y="2304206"/>
            <a:ext cx="1103700" cy="858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 genome (Fasta)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4854b049af_1_5"/>
          <p:cNvSpPr/>
          <p:nvPr/>
        </p:nvSpPr>
        <p:spPr>
          <a:xfrm>
            <a:off x="1909300" y="2927175"/>
            <a:ext cx="1604400" cy="73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 Post Alignement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GATK/Picard --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24854b049af_1_5"/>
          <p:cNvSpPr/>
          <p:nvPr/>
        </p:nvSpPr>
        <p:spPr>
          <a:xfrm>
            <a:off x="1909350" y="3920775"/>
            <a:ext cx="1604400" cy="52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b="1"/>
              <a:t>small variants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GATK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g24854b049af_1_5"/>
          <p:cNvCxnSpPr>
            <a:stCxn id="157" idx="2"/>
            <a:endCxn id="158" idx="0"/>
          </p:cNvCxnSpPr>
          <p:nvPr/>
        </p:nvCxnSpPr>
        <p:spPr>
          <a:xfrm rot="-5400000" flipH="1">
            <a:off x="2583700" y="3792375"/>
            <a:ext cx="2562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0" name="Google Shape;160;g24854b049af_1_5"/>
          <p:cNvCxnSpPr>
            <a:stCxn id="154" idx="2"/>
            <a:endCxn id="157" idx="0"/>
          </p:cNvCxnSpPr>
          <p:nvPr/>
        </p:nvCxnSpPr>
        <p:spPr>
          <a:xfrm rot="-5400000" flipH="1">
            <a:off x="2610400" y="2825600"/>
            <a:ext cx="202800" cy="600"/>
          </a:xfrm>
          <a:prstGeom prst="bentConnector3">
            <a:avLst>
              <a:gd name="adj1" fmla="val 4996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" name="Google Shape;161;g24854b049af_1_5"/>
          <p:cNvCxnSpPr>
            <a:stCxn id="153" idx="2"/>
            <a:endCxn id="154" idx="0"/>
          </p:cNvCxnSpPr>
          <p:nvPr/>
        </p:nvCxnSpPr>
        <p:spPr>
          <a:xfrm rot="-5400000" flipH="1">
            <a:off x="2621950" y="2061625"/>
            <a:ext cx="1797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2" name="Google Shape;162;g24854b049af_1_5"/>
          <p:cNvCxnSpPr>
            <a:stCxn id="155" idx="2"/>
            <a:endCxn id="153" idx="0"/>
          </p:cNvCxnSpPr>
          <p:nvPr/>
        </p:nvCxnSpPr>
        <p:spPr>
          <a:xfrm rot="-5400000" flipH="1">
            <a:off x="2601100" y="1123775"/>
            <a:ext cx="221400" cy="600"/>
          </a:xfrm>
          <a:prstGeom prst="bentConnector3">
            <a:avLst>
              <a:gd name="adj1" fmla="val 49977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3" name="Google Shape;163;g24854b049af_1_5"/>
          <p:cNvCxnSpPr>
            <a:stCxn id="156" idx="3"/>
            <a:endCxn id="154" idx="1"/>
          </p:cNvCxnSpPr>
          <p:nvPr/>
        </p:nvCxnSpPr>
        <p:spPr>
          <a:xfrm rot="10800000" flipH="1">
            <a:off x="1616800" y="2438156"/>
            <a:ext cx="292500" cy="295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4" name="Google Shape;164;g24854b049af_1_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165" name="Google Shape;165;g24854b049af_1_5"/>
          <p:cNvSpPr/>
          <p:nvPr/>
        </p:nvSpPr>
        <p:spPr>
          <a:xfrm>
            <a:off x="374200" y="3920775"/>
            <a:ext cx="1465500" cy="73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b="1"/>
              <a:t>Structural variants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</a:t>
            </a:r>
            <a:r>
              <a:rPr lang="fr" i="1"/>
              <a:t>Delly</a:t>
            </a: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4854b049af_1_5"/>
          <p:cNvSpPr/>
          <p:nvPr/>
        </p:nvSpPr>
        <p:spPr>
          <a:xfrm>
            <a:off x="1909000" y="4555450"/>
            <a:ext cx="1604700" cy="495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Annotation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SnpEff --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g24854b049af_1_5"/>
          <p:cNvCxnSpPr>
            <a:stCxn id="157" idx="2"/>
            <a:endCxn id="165" idx="0"/>
          </p:cNvCxnSpPr>
          <p:nvPr/>
        </p:nvCxnSpPr>
        <p:spPr>
          <a:xfrm rot="5400000">
            <a:off x="1781050" y="2990325"/>
            <a:ext cx="256200" cy="1604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g24854b049af_1_5"/>
          <p:cNvSpPr txBox="1"/>
          <p:nvPr/>
        </p:nvSpPr>
        <p:spPr>
          <a:xfrm>
            <a:off x="426850" y="4702825"/>
            <a:ext cx="127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i="1">
                <a:solidFill>
                  <a:srgbClr val="575757"/>
                </a:solidFill>
              </a:rPr>
              <a:t>Variant Calling</a:t>
            </a:r>
            <a:endParaRPr sz="1200" b="1" i="1">
              <a:solidFill>
                <a:srgbClr val="575757"/>
              </a:solidFill>
            </a:endParaRPr>
          </a:p>
        </p:txBody>
      </p:sp>
      <p:grpSp>
        <p:nvGrpSpPr>
          <p:cNvPr id="169" name="Google Shape;169;g24854b049af_1_5"/>
          <p:cNvGrpSpPr/>
          <p:nvPr/>
        </p:nvGrpSpPr>
        <p:grpSpPr>
          <a:xfrm>
            <a:off x="3586300" y="140800"/>
            <a:ext cx="1272425" cy="4948200"/>
            <a:chOff x="3586300" y="-392600"/>
            <a:chExt cx="1272425" cy="4948200"/>
          </a:xfrm>
        </p:grpSpPr>
        <p:cxnSp>
          <p:nvCxnSpPr>
            <p:cNvPr id="170" name="Google Shape;170;g24854b049af_1_5"/>
            <p:cNvCxnSpPr>
              <a:stCxn id="152" idx="3"/>
              <a:endCxn id="171" idx="1"/>
            </p:cNvCxnSpPr>
            <p:nvPr/>
          </p:nvCxnSpPr>
          <p:spPr>
            <a:xfrm rot="10800000" flipH="1">
              <a:off x="3586300" y="2208975"/>
              <a:ext cx="454200" cy="1763400"/>
            </a:xfrm>
            <a:prstGeom prst="bentConnector3">
              <a:avLst>
                <a:gd name="adj1" fmla="val 49989"/>
              </a:avLst>
            </a:prstGeom>
            <a:noFill/>
            <a:ln w="9525" cap="flat" cmpd="sng">
              <a:solidFill>
                <a:schemeClr val="dk2"/>
              </a:solidFill>
              <a:prstDash val="lgDash"/>
              <a:round/>
              <a:headEnd type="none" w="sm" len="sm"/>
              <a:tailEnd type="triangle" w="med" len="med"/>
            </a:ln>
          </p:spPr>
        </p:cxnSp>
        <p:cxnSp>
          <p:nvCxnSpPr>
            <p:cNvPr id="172" name="Google Shape;172;g24854b049af_1_5"/>
            <p:cNvCxnSpPr/>
            <p:nvPr/>
          </p:nvCxnSpPr>
          <p:spPr>
            <a:xfrm>
              <a:off x="4406350" y="-392600"/>
              <a:ext cx="5700" cy="4948200"/>
            </a:xfrm>
            <a:prstGeom prst="straightConnector1">
              <a:avLst/>
            </a:prstGeom>
            <a:noFill/>
            <a:ln w="19050" cap="flat" cmpd="sng">
              <a:solidFill>
                <a:srgbClr val="C0504D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71" name="Google Shape;171;g24854b049af_1_5"/>
            <p:cNvSpPr/>
            <p:nvPr/>
          </p:nvSpPr>
          <p:spPr>
            <a:xfrm>
              <a:off x="4040400" y="1961375"/>
              <a:ext cx="760212" cy="495180"/>
            </a:xfrm>
            <a:prstGeom prst="flowChartDocumen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24854b049af_1_5"/>
            <p:cNvSpPr/>
            <p:nvPr/>
          </p:nvSpPr>
          <p:spPr>
            <a:xfrm>
              <a:off x="4098513" y="2022675"/>
              <a:ext cx="760212" cy="495180"/>
            </a:xfrm>
            <a:prstGeom prst="flowChartDocumen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g24854b049af_1_5"/>
          <p:cNvSpPr/>
          <p:nvPr/>
        </p:nvSpPr>
        <p:spPr>
          <a:xfrm>
            <a:off x="5100500" y="1187075"/>
            <a:ext cx="1768800" cy="6420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QC &amp; Filtres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stats descriptives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24854b049af_1_5"/>
          <p:cNvSpPr/>
          <p:nvPr/>
        </p:nvSpPr>
        <p:spPr>
          <a:xfrm>
            <a:off x="6319700" y="2067200"/>
            <a:ext cx="1768800" cy="6420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674EA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Recherche de marqueurs/QTL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24854b049af_1_5"/>
          <p:cNvCxnSpPr>
            <a:stCxn id="174" idx="2"/>
            <a:endCxn id="175" idx="1"/>
          </p:cNvCxnSpPr>
          <p:nvPr/>
        </p:nvCxnSpPr>
        <p:spPr>
          <a:xfrm rot="-5400000" flipH="1">
            <a:off x="5872700" y="1941275"/>
            <a:ext cx="559200" cy="334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triangle" w="med" len="med"/>
          </a:ln>
        </p:spPr>
      </p:cxnSp>
      <p:sp>
        <p:nvSpPr>
          <p:cNvPr id="177" name="Google Shape;177;g24854b049af_1_5"/>
          <p:cNvSpPr/>
          <p:nvPr/>
        </p:nvSpPr>
        <p:spPr>
          <a:xfrm>
            <a:off x="6319700" y="2947325"/>
            <a:ext cx="1768800" cy="6420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674EA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Genome Wide Association Study (GWAS)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24854b049af_1_5"/>
          <p:cNvSpPr/>
          <p:nvPr/>
        </p:nvSpPr>
        <p:spPr>
          <a:xfrm>
            <a:off x="6319700" y="3794575"/>
            <a:ext cx="1768800" cy="6420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674EA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analyse phylogénétique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g24854b049af_1_5"/>
          <p:cNvCxnSpPr>
            <a:stCxn id="174" idx="2"/>
            <a:endCxn id="177" idx="1"/>
          </p:cNvCxnSpPr>
          <p:nvPr/>
        </p:nvCxnSpPr>
        <p:spPr>
          <a:xfrm rot="-5400000" flipH="1">
            <a:off x="5432600" y="2381375"/>
            <a:ext cx="1439400" cy="334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g24854b049af_1_5"/>
          <p:cNvCxnSpPr>
            <a:stCxn id="174" idx="2"/>
            <a:endCxn id="178" idx="1"/>
          </p:cNvCxnSpPr>
          <p:nvPr/>
        </p:nvCxnSpPr>
        <p:spPr>
          <a:xfrm rot="-5400000" flipH="1">
            <a:off x="5009000" y="2804975"/>
            <a:ext cx="2286600" cy="334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triangle" w="med" len="med"/>
          </a:ln>
        </p:spPr>
      </p:cxnSp>
      <p:sp>
        <p:nvSpPr>
          <p:cNvPr id="181" name="Google Shape;181;g24854b049af_1_5"/>
          <p:cNvSpPr/>
          <p:nvPr/>
        </p:nvSpPr>
        <p:spPr>
          <a:xfrm>
            <a:off x="6319700" y="4536425"/>
            <a:ext cx="1768800" cy="295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674EA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g24854b049af_1_5"/>
          <p:cNvCxnSpPr>
            <a:stCxn id="173" idx="3"/>
            <a:endCxn id="174" idx="1"/>
          </p:cNvCxnSpPr>
          <p:nvPr/>
        </p:nvCxnSpPr>
        <p:spPr>
          <a:xfrm rot="10800000" flipH="1">
            <a:off x="4858725" y="1507965"/>
            <a:ext cx="241800" cy="12957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3" name="Google Shape;183;g24854b049af_1_5"/>
          <p:cNvSpPr/>
          <p:nvPr/>
        </p:nvSpPr>
        <p:spPr>
          <a:xfrm>
            <a:off x="8231375" y="2020650"/>
            <a:ext cx="203400" cy="2884500"/>
          </a:xfrm>
          <a:prstGeom prst="rightBrace">
            <a:avLst>
              <a:gd name="adj1" fmla="val 17464"/>
              <a:gd name="adj2" fmla="val 50000"/>
            </a:avLst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24854b049af_1_5"/>
          <p:cNvSpPr txBox="1"/>
          <p:nvPr/>
        </p:nvSpPr>
        <p:spPr>
          <a:xfrm rot="5400000">
            <a:off x="6909425" y="3220625"/>
            <a:ext cx="339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Dépend de la question biologique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g24854b049af_1_5"/>
          <p:cNvPicPr preferRelativeResize="0"/>
          <p:nvPr/>
        </p:nvPicPr>
        <p:blipFill rotWithShape="1">
          <a:blip r:embed="rId3">
            <a:alphaModFix/>
          </a:blip>
          <a:srcRect l="23602" r="23310"/>
          <a:stretch/>
        </p:blipFill>
        <p:spPr>
          <a:xfrm>
            <a:off x="540312" y="951000"/>
            <a:ext cx="871138" cy="9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24854b049af_1_5"/>
          <p:cNvSpPr txBox="1"/>
          <p:nvPr/>
        </p:nvSpPr>
        <p:spPr>
          <a:xfrm>
            <a:off x="631025" y="1664950"/>
            <a:ext cx="68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UNIX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24854b049af_1_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9275" y="596100"/>
            <a:ext cx="1176600" cy="91186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4854b049af_1_5"/>
          <p:cNvSpPr txBox="1">
            <a:spLocks noGrp="1"/>
          </p:cNvSpPr>
          <p:nvPr>
            <p:ph type="title"/>
          </p:nvPr>
        </p:nvSpPr>
        <p:spPr>
          <a:xfrm>
            <a:off x="5016225" y="64025"/>
            <a:ext cx="4003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2075"/>
              <a:buNone/>
            </a:pPr>
            <a:r>
              <a:rPr lang="fr" sz="2120"/>
              <a:t> du VCFs aux marqueurs (ebaiin2)</a:t>
            </a:r>
            <a:endParaRPr sz="2120"/>
          </a:p>
        </p:txBody>
      </p:sp>
      <p:sp>
        <p:nvSpPr>
          <p:cNvPr id="189" name="Google Shape;189;g24854b049af_1_5"/>
          <p:cNvSpPr txBox="1">
            <a:spLocks noGrp="1"/>
          </p:cNvSpPr>
          <p:nvPr>
            <p:ph type="title"/>
          </p:nvPr>
        </p:nvSpPr>
        <p:spPr>
          <a:xfrm>
            <a:off x="374200" y="64025"/>
            <a:ext cx="378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120"/>
              <a:t>du Fastq aux VCFs (ebaiin1)</a:t>
            </a:r>
            <a:endParaRPr sz="212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EEFB15-CFAD-4CEB-3E23-55F2732CE9C5}"/>
              </a:ext>
            </a:extLst>
          </p:cNvPr>
          <p:cNvSpPr/>
          <p:nvPr/>
        </p:nvSpPr>
        <p:spPr>
          <a:xfrm>
            <a:off x="6142800" y="1972075"/>
            <a:ext cx="2088575" cy="169250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854b049af_1_195"/>
          <p:cNvSpPr txBox="1">
            <a:spLocks noGrp="1"/>
          </p:cNvSpPr>
          <p:nvPr>
            <p:ph type="body" idx="1"/>
          </p:nvPr>
        </p:nvSpPr>
        <p:spPr>
          <a:xfrm>
            <a:off x="188858" y="787517"/>
            <a:ext cx="8832300" cy="3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95300" indent="-400050">
              <a:spcBef>
                <a:spcPts val="1200"/>
              </a:spcBef>
              <a:buSzPts val="2100"/>
              <a:buFont typeface="+mj-lt"/>
              <a:buAutoNum type="romanUcPeriod"/>
            </a:pPr>
            <a:r>
              <a:rPr lang="fr" dirty="0">
                <a:solidFill>
                  <a:srgbClr val="0070C0"/>
                </a:solidFill>
                <a:latin typeface="+mn-lt"/>
                <a:ea typeface="Trebuchet MS"/>
                <a:cs typeface="Trebuchet MS"/>
                <a:sym typeface="Trebuchet MS"/>
              </a:rPr>
              <a:t>Analyse post-VCF des petits variants (SNV &amp; </a:t>
            </a:r>
            <a:r>
              <a:rPr lang="fr" dirty="0" err="1">
                <a:solidFill>
                  <a:srgbClr val="0070C0"/>
                </a:solidFill>
                <a:latin typeface="+mn-lt"/>
                <a:ea typeface="Trebuchet MS"/>
                <a:cs typeface="Trebuchet MS"/>
                <a:sym typeface="Trebuchet MS"/>
              </a:rPr>
              <a:t>InDel</a:t>
            </a:r>
            <a:r>
              <a:rPr lang="fr" dirty="0">
                <a:solidFill>
                  <a:srgbClr val="0070C0"/>
                </a:solidFill>
                <a:latin typeface="+mn-lt"/>
                <a:ea typeface="Trebuchet MS"/>
                <a:cs typeface="Trebuchet MS"/>
                <a:sym typeface="Trebuchet MS"/>
              </a:rPr>
              <a:t>) → 2</a:t>
            </a:r>
            <a:r>
              <a:rPr lang="fr" dirty="0">
                <a:solidFill>
                  <a:srgbClr val="0070C0"/>
                </a:solidFill>
                <a:latin typeface="+mn-lt"/>
              </a:rPr>
              <a:t>h (Nadia)</a:t>
            </a:r>
          </a:p>
          <a:p>
            <a:pPr marL="495300" lvl="0" indent="-400050">
              <a:spcBef>
                <a:spcPts val="1200"/>
              </a:spcBef>
              <a:buSzPts val="2100"/>
              <a:buFont typeface="+mj-lt"/>
              <a:buAutoNum type="romanUcPeriod"/>
            </a:pPr>
            <a:r>
              <a:rPr lang="fr" dirty="0">
                <a:solidFill>
                  <a:srgbClr val="0070C0"/>
                </a:solidFill>
                <a:latin typeface="+mn-lt"/>
                <a:sym typeface="Trebuchet MS"/>
              </a:rPr>
              <a:t>E</a:t>
            </a:r>
            <a:r>
              <a:rPr lang="fr-FR" dirty="0" err="1">
                <a:solidFill>
                  <a:srgbClr val="0070C0"/>
                </a:solidFill>
                <a:latin typeface="+mn-lt"/>
              </a:rPr>
              <a:t>tudes</a:t>
            </a:r>
            <a:r>
              <a:rPr lang="fr-FR" dirty="0">
                <a:solidFill>
                  <a:srgbClr val="0070C0"/>
                </a:solidFill>
                <a:latin typeface="+mn-lt"/>
              </a:rPr>
              <a:t> d'association génétique à grande échelle</a:t>
            </a:r>
            <a:r>
              <a:rPr lang="fr" dirty="0">
                <a:solidFill>
                  <a:srgbClr val="0070C0"/>
                </a:solidFill>
                <a:latin typeface="+mn-lt"/>
                <a:sym typeface="Trebuchet MS"/>
              </a:rPr>
              <a:t> (GWAS) → 4h (Cathy)</a:t>
            </a:r>
            <a:endParaRPr dirty="0">
              <a:solidFill>
                <a:srgbClr val="0070C0"/>
              </a:solidFill>
              <a:latin typeface="+mn-lt"/>
              <a:sym typeface="Trebuchet MS"/>
            </a:endParaRPr>
          </a:p>
        </p:txBody>
      </p:sp>
      <p:sp>
        <p:nvSpPr>
          <p:cNvPr id="278" name="Google Shape;278;g24854b049af_1_195"/>
          <p:cNvSpPr txBox="1"/>
          <p:nvPr/>
        </p:nvSpPr>
        <p:spPr>
          <a:xfrm>
            <a:off x="3117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Objectifs de l’atelier variants</a:t>
            </a:r>
            <a:br>
              <a:rPr lang="fr" sz="2800" b="0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800" b="0" i="0" u="none" strike="noStrike" cap="none" dirty="0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9" name="Google Shape;279;g24854b049af_1_1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6AF097C6-8538-10D9-B05B-CBE19D620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854b049af_1_195">
            <a:extLst>
              <a:ext uri="{FF2B5EF4-FFF2-40B4-BE49-F238E27FC236}">
                <a16:creationId xmlns:a16="http://schemas.microsoft.com/office/drawing/2014/main" id="{0B115E61-96EE-0BED-7409-5FCDE041E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8858" y="787517"/>
            <a:ext cx="8832300" cy="3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95300" indent="-400050">
              <a:spcBef>
                <a:spcPts val="1200"/>
              </a:spcBef>
              <a:buSzPts val="2100"/>
              <a:buFont typeface="+mj-lt"/>
              <a:buAutoNum type="romanUcPeriod"/>
            </a:pPr>
            <a:r>
              <a:rPr lang="fr" dirty="0">
                <a:solidFill>
                  <a:srgbClr val="0070C0"/>
                </a:solidFill>
                <a:latin typeface="+mn-lt"/>
                <a:ea typeface="Trebuchet MS"/>
                <a:cs typeface="Trebuchet MS"/>
                <a:sym typeface="Trebuchet MS"/>
              </a:rPr>
              <a:t>Analyse post-VCF des petits variants (SNV &amp; </a:t>
            </a:r>
            <a:r>
              <a:rPr lang="fr" dirty="0" err="1">
                <a:solidFill>
                  <a:srgbClr val="0070C0"/>
                </a:solidFill>
                <a:latin typeface="+mn-lt"/>
                <a:ea typeface="Trebuchet MS"/>
                <a:cs typeface="Trebuchet MS"/>
                <a:sym typeface="Trebuchet MS"/>
              </a:rPr>
              <a:t>InDel</a:t>
            </a:r>
            <a:r>
              <a:rPr lang="fr" dirty="0">
                <a:solidFill>
                  <a:srgbClr val="0070C0"/>
                </a:solidFill>
                <a:latin typeface="+mn-lt"/>
                <a:ea typeface="Trebuchet MS"/>
                <a:cs typeface="Trebuchet MS"/>
                <a:sym typeface="Trebuchet MS"/>
              </a:rPr>
              <a:t>) → 2</a:t>
            </a:r>
            <a:r>
              <a:rPr lang="fr" dirty="0">
                <a:solidFill>
                  <a:srgbClr val="0070C0"/>
                </a:solidFill>
                <a:latin typeface="+mn-lt"/>
              </a:rPr>
              <a:t>h (Nadia)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1- Se connecter sur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Rstudio</a:t>
            </a: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via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OnDemand</a:t>
            </a: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	(1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; 8G ram)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2- Aller sur votre espace projet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&gt; 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setwd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("/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shared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projects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fr-FR" sz="1200" dirty="0" err="1">
                <a:solidFill>
                  <a:srgbClr val="FFFF00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olala_olala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")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3- Copier le matériel de TP dans le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dir</a:t>
            </a: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TP_variants</a:t>
            </a: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&gt; 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file.copy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(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from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 = "/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shared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projects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/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</a:rPr>
              <a:t>2514_ebiii_n2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dnaseq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TP_small_variants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",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            to   = "./", 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recursive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=TRUE)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4- Positionner l’espace du travail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&gt; 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setwd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("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TP_small_variants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/")</a:t>
            </a:r>
          </a:p>
        </p:txBody>
      </p:sp>
      <p:sp>
        <p:nvSpPr>
          <p:cNvPr id="278" name="Google Shape;278;g24854b049af_1_195">
            <a:extLst>
              <a:ext uri="{FF2B5EF4-FFF2-40B4-BE49-F238E27FC236}">
                <a16:creationId xmlns:a16="http://schemas.microsoft.com/office/drawing/2014/main" id="{A5B5AC55-CD6C-A8CA-07D4-511D8D4F2536}"/>
              </a:ext>
            </a:extLst>
          </p:cNvPr>
          <p:cNvSpPr txBox="1"/>
          <p:nvPr/>
        </p:nvSpPr>
        <p:spPr>
          <a:xfrm>
            <a:off x="3117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800"/>
            </a:pPr>
            <a:r>
              <a:rPr lang="fr-FR" sz="2800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Objectifs de l’atelier variants</a:t>
            </a:r>
          </a:p>
        </p:txBody>
      </p:sp>
      <p:sp>
        <p:nvSpPr>
          <p:cNvPr id="279" name="Google Shape;279;g24854b049af_1_195">
            <a:extLst>
              <a:ext uri="{FF2B5EF4-FFF2-40B4-BE49-F238E27FC236}">
                <a16:creationId xmlns:a16="http://schemas.microsoft.com/office/drawing/2014/main" id="{3FFB101D-C4A4-703A-DAE4-8D785D9A0A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386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4409BCA9-83A1-B68C-97CA-7E58A0FB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854b049af_1_195">
            <a:extLst>
              <a:ext uri="{FF2B5EF4-FFF2-40B4-BE49-F238E27FC236}">
                <a16:creationId xmlns:a16="http://schemas.microsoft.com/office/drawing/2014/main" id="{52A583CA-0E0A-77BC-44B8-FFB310CA3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8858" y="787517"/>
            <a:ext cx="8832300" cy="3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95300" indent="-400050">
              <a:spcBef>
                <a:spcPts val="1200"/>
              </a:spcBef>
              <a:buSzPts val="2100"/>
              <a:buFont typeface="+mj-lt"/>
              <a:buAutoNum type="romanUcPeriod"/>
            </a:pPr>
            <a:r>
              <a:rPr lang="fr" dirty="0">
                <a:solidFill>
                  <a:srgbClr val="0070C0"/>
                </a:solidFill>
                <a:latin typeface="+mn-lt"/>
                <a:ea typeface="Trebuchet MS"/>
                <a:cs typeface="Trebuchet MS"/>
                <a:sym typeface="Trebuchet MS"/>
              </a:rPr>
              <a:t>Analyse post-VCF des petits variants (SNV &amp; </a:t>
            </a:r>
            <a:r>
              <a:rPr lang="fr" dirty="0" err="1">
                <a:solidFill>
                  <a:srgbClr val="0070C0"/>
                </a:solidFill>
                <a:latin typeface="+mn-lt"/>
                <a:ea typeface="Trebuchet MS"/>
                <a:cs typeface="Trebuchet MS"/>
                <a:sym typeface="Trebuchet MS"/>
              </a:rPr>
              <a:t>InDel</a:t>
            </a:r>
            <a:r>
              <a:rPr lang="fr" dirty="0">
                <a:solidFill>
                  <a:srgbClr val="0070C0"/>
                </a:solidFill>
                <a:latin typeface="+mn-lt"/>
                <a:ea typeface="Trebuchet MS"/>
                <a:cs typeface="Trebuchet MS"/>
                <a:sym typeface="Trebuchet MS"/>
              </a:rPr>
              <a:t>) → 2</a:t>
            </a:r>
            <a:r>
              <a:rPr lang="fr" dirty="0">
                <a:solidFill>
                  <a:srgbClr val="0070C0"/>
                </a:solidFill>
                <a:latin typeface="+mn-lt"/>
              </a:rPr>
              <a:t>h (Nadia)</a:t>
            </a:r>
          </a:p>
          <a:p>
            <a:pPr marL="495300" lvl="0" indent="-400050">
              <a:spcBef>
                <a:spcPts val="1200"/>
              </a:spcBef>
              <a:buSzPts val="2100"/>
              <a:buFont typeface="+mj-lt"/>
              <a:buAutoNum type="romanUcPeriod"/>
            </a:pPr>
            <a:r>
              <a:rPr lang="fr" dirty="0">
                <a:solidFill>
                  <a:srgbClr val="0070C0"/>
                </a:solidFill>
                <a:latin typeface="+mn-lt"/>
                <a:sym typeface="Trebuchet MS"/>
              </a:rPr>
              <a:t>E</a:t>
            </a:r>
            <a:r>
              <a:rPr lang="fr-FR" dirty="0" err="1">
                <a:solidFill>
                  <a:srgbClr val="0070C0"/>
                </a:solidFill>
                <a:latin typeface="+mn-lt"/>
              </a:rPr>
              <a:t>tudes</a:t>
            </a:r>
            <a:r>
              <a:rPr lang="fr-FR" dirty="0">
                <a:solidFill>
                  <a:srgbClr val="0070C0"/>
                </a:solidFill>
                <a:latin typeface="+mn-lt"/>
              </a:rPr>
              <a:t> d'association génétique à grande échelle</a:t>
            </a:r>
            <a:r>
              <a:rPr lang="fr" dirty="0">
                <a:solidFill>
                  <a:srgbClr val="0070C0"/>
                </a:solidFill>
                <a:latin typeface="+mn-lt"/>
                <a:sym typeface="Trebuchet MS"/>
              </a:rPr>
              <a:t> (GWAS) → 4h (Cathy)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1- Se connecter sur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Rstudio</a:t>
            </a: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via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OnDemand</a:t>
            </a: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	(4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; 16G ram)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2- Aller sur votre espace projet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&gt; 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setwd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("/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shared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projects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fr-FR" sz="1200" dirty="0" err="1">
                <a:solidFill>
                  <a:srgbClr val="FFFF00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olala_olala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")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3- Copier le matériel de TP dans le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dir</a:t>
            </a: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fr-FR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TP_variants</a:t>
            </a: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&gt; 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file.copy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(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from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 = "/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shared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projects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/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</a:rPr>
              <a:t>2514_ebiii_n2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/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dnaseq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/GWAS",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            to   = "./", 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recursive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=TRUE)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4- Positionner l’espace du travail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&gt; </a:t>
            </a:r>
            <a:r>
              <a:rPr lang="fr-FR" sz="1200" dirty="0" err="1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setwd</a:t>
            </a:r>
            <a:r>
              <a:rPr lang="fr-FR" sz="1200" dirty="0">
                <a:solidFill>
                  <a:schemeClr val="lt1"/>
                </a:solidFill>
                <a:highlight>
                  <a:srgbClr val="808080"/>
                </a:highlight>
                <a:latin typeface="Consolas"/>
                <a:cs typeface="Consolas"/>
                <a:sym typeface="Consolas"/>
              </a:rPr>
              <a:t>("GWAS")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8" name="Google Shape;278;g24854b049af_1_195">
            <a:extLst>
              <a:ext uri="{FF2B5EF4-FFF2-40B4-BE49-F238E27FC236}">
                <a16:creationId xmlns:a16="http://schemas.microsoft.com/office/drawing/2014/main" id="{C2DFF234-7AF4-5436-9D0D-10887E7BF257}"/>
              </a:ext>
            </a:extLst>
          </p:cNvPr>
          <p:cNvSpPr txBox="1"/>
          <p:nvPr/>
        </p:nvSpPr>
        <p:spPr>
          <a:xfrm>
            <a:off x="3117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800"/>
            </a:pPr>
            <a:r>
              <a:rPr lang="fr-FR" sz="2800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Objectifs de l’atelier variants</a:t>
            </a:r>
          </a:p>
        </p:txBody>
      </p:sp>
      <p:sp>
        <p:nvSpPr>
          <p:cNvPr id="279" name="Google Shape;279;g24854b049af_1_195">
            <a:extLst>
              <a:ext uri="{FF2B5EF4-FFF2-40B4-BE49-F238E27FC236}">
                <a16:creationId xmlns:a16="http://schemas.microsoft.com/office/drawing/2014/main" id="{02C16BD7-8E90-E6BE-FD57-48D05338F1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400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4854b049af_1_19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Petites Variations Génomiques</a:t>
            </a:r>
            <a:endParaRPr/>
          </a:p>
        </p:txBody>
      </p:sp>
      <p:sp>
        <p:nvSpPr>
          <p:cNvPr id="285" name="Google Shape;285;g24854b049af_1_19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SNV and InDels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4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500" u="sng">
                <a:solidFill>
                  <a:schemeClr val="dk1"/>
                </a:solidFill>
              </a:rPr>
              <a:t>Jeux de données #1: </a:t>
            </a:r>
            <a:endParaRPr sz="1500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chemeClr val="dk1"/>
                </a:solidFill>
              </a:rPr>
              <a:t>  Chez le bovin, il existe un locus de caractères quantitatifs (</a:t>
            </a:r>
            <a:r>
              <a:rPr lang="fr" sz="1500" b="1">
                <a:solidFill>
                  <a:schemeClr val="dk1"/>
                </a:solidFill>
              </a:rPr>
              <a:t>QTL</a:t>
            </a:r>
            <a:r>
              <a:rPr lang="fr" sz="1500">
                <a:solidFill>
                  <a:schemeClr val="dk1"/>
                </a:solidFill>
              </a:rPr>
              <a:t>) lié à la production de lait, situé sur le chromosome 6, et  plus exactement sur une région de 700 kb, composée de  7 gènes.</a:t>
            </a:r>
            <a:endParaRPr sz="15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fr" sz="1500">
                <a:solidFill>
                  <a:schemeClr val="dk1"/>
                </a:solidFill>
              </a:rPr>
              <a:t>  Les échantillons QTL+ sont caractérisés par une diminution de la production en lait et une augmentation des concentrations en protéine et lipide. </a:t>
            </a:r>
            <a:endParaRPr sz="15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Quelle mutation est responsable de ce QTL ?</a:t>
            </a:r>
            <a:endParaRPr sz="15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500">
                <a:solidFill>
                  <a:schemeClr val="dk1"/>
                </a:solidFill>
              </a:rPr>
              <a:t>   </a:t>
            </a:r>
            <a:endParaRPr sz="15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500">
                <a:solidFill>
                  <a:schemeClr val="dk1"/>
                </a:solidFill>
              </a:rPr>
              <a:t>Pour le TP nous disposons des résultats du variant calling de 3 échantillons (en</a:t>
            </a:r>
            <a:r>
              <a:rPr lang="fr" sz="1400">
                <a:solidFill>
                  <a:schemeClr val="dk1"/>
                </a:solidFill>
              </a:rPr>
              <a:t> Multi-VCF annoté).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2355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TP 1 : recherche de mutation dans un QTL  </a:t>
            </a: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412800" y="4880700"/>
            <a:ext cx="37818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 b="0" i="0" u="none" strike="noStrike" cap="none">
                <a:solidFill>
                  <a:srgbClr val="575757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Miri Cohen-Zinder et al, Genome Research 2005, DOI:</a:t>
            </a:r>
            <a:r>
              <a:rPr lang="fr" sz="800" b="0" i="0" u="sng" strike="noStrike" cap="non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10.1101/gr.3806705</a:t>
            </a:r>
            <a:endParaRPr sz="800" b="0" i="0" u="none" strike="noStrike" cap="none">
              <a:solidFill>
                <a:srgbClr val="575757"/>
              </a:solidFill>
              <a:highlight>
                <a:schemeClr val="lt1"/>
              </a:highlight>
              <a:uFill>
                <a:noFill/>
              </a:u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293" name="Google Shape;293;p13"/>
          <p:cNvGraphicFramePr/>
          <p:nvPr/>
        </p:nvGraphicFramePr>
        <p:xfrm>
          <a:off x="412800" y="3648725"/>
          <a:ext cx="6302925" cy="1111200"/>
        </p:xfrm>
        <a:graphic>
          <a:graphicData uri="http://schemas.openxmlformats.org/drawingml/2006/table">
            <a:tbl>
              <a:tblPr>
                <a:noFill/>
                <a:tableStyleId>{ABE14449-0944-41C7-BB8F-4FD71BAF118B}</a:tableStyleId>
              </a:tblPr>
              <a:tblGrid>
                <a:gridCol w="210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strike="noStrike" cap="none"/>
                        <a:t>Echantillons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strike="noStrike" cap="none"/>
                        <a:t>Phénotype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strike="noStrike" cap="none"/>
                        <a:t>Source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SRR1262731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strike="noStrike" cap="none"/>
                        <a:t>QTL-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projet 1000 génomes bovins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SRR1205992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strike="noStrike" cap="none"/>
                        <a:t>QTL+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SRR1205973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strike="noStrike" cap="none"/>
                        <a:t>QTL+</a:t>
                      </a:r>
                      <a:endParaRPr sz="1000" u="none" strike="noStrike" cap="none"/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4854b049af_1_29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26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1- Se connecter sur </a:t>
            </a:r>
            <a:r>
              <a:rPr lang="fr" sz="1600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Rstudio</a:t>
            </a:r>
            <a:r>
              <a:rPr lang="fr" sz="16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via </a:t>
            </a:r>
            <a:r>
              <a:rPr lang="fr" sz="1600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JupyterLab</a:t>
            </a:r>
            <a:r>
              <a:rPr lang="fr" sz="16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2- Copier le matériel de TP dans le </a:t>
            </a:r>
            <a:r>
              <a:rPr lang="fr" sz="1600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dir</a:t>
            </a:r>
            <a:r>
              <a:rPr lang="fr" sz="16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fr" sz="1600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TP_variants</a:t>
            </a:r>
            <a:endParaRPr sz="16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fr" sz="1400" dirty="0" err="1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file.copy</a:t>
            </a: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fr" sz="1400" dirty="0" err="1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= “/</a:t>
            </a:r>
            <a:r>
              <a:rPr lang="fr" sz="1400" dirty="0" err="1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shared</a:t>
            </a: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fr" sz="1400" dirty="0" err="1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projects</a:t>
            </a: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/2315_ebaii_2/</a:t>
            </a:r>
            <a:r>
              <a:rPr lang="fr" sz="1400" dirty="0" err="1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DNAseq</a:t>
            </a: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fr" sz="1400" dirty="0" err="1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TP_small_variants</a:t>
            </a: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”, </a:t>
            </a:r>
            <a:endParaRPr sz="1400" dirty="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    to   = “~/”, </a:t>
            </a:r>
            <a:r>
              <a:rPr lang="fr" sz="1400" dirty="0" err="1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recursive</a:t>
            </a: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=TRUE)</a:t>
            </a:r>
            <a:endParaRPr sz="1400" dirty="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2- Positionner l’espace du travail</a:t>
            </a:r>
            <a:endParaRPr sz="16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fr" sz="1400" dirty="0" err="1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setwd</a:t>
            </a: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(“~/</a:t>
            </a:r>
            <a:r>
              <a:rPr lang="fr" sz="1400" dirty="0" err="1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TP_small_variants</a:t>
            </a:r>
            <a:r>
              <a:rPr lang="fr" sz="1400" dirty="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”)</a:t>
            </a:r>
            <a:endParaRPr sz="1400" dirty="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5- Changer le </a:t>
            </a:r>
            <a:r>
              <a:rPr lang="fr" sz="1600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workspace</a:t>
            </a:r>
            <a:r>
              <a:rPr lang="fr" sz="16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sur l’interface </a:t>
            </a:r>
            <a:r>
              <a:rPr lang="fr" sz="1600" dirty="0" err="1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RStudio</a:t>
            </a:r>
            <a:r>
              <a:rPr lang="fr" sz="16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9" name="Google Shape;299;g24854b049af_1_298"/>
          <p:cNvSpPr txBox="1"/>
          <p:nvPr/>
        </p:nvSpPr>
        <p:spPr>
          <a:xfrm>
            <a:off x="2355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Préparation des données </a:t>
            </a: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0" name="Google Shape;300;g24854b049af_1_298"/>
          <p:cNvSpPr/>
          <p:nvPr/>
        </p:nvSpPr>
        <p:spPr>
          <a:xfrm flipH="1">
            <a:off x="8154825" y="4152825"/>
            <a:ext cx="798600" cy="552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A86E8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RMD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4854b049af_1_4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Variations Structurales</a:t>
            </a:r>
            <a:endParaRPr/>
          </a:p>
        </p:txBody>
      </p:sp>
      <p:sp>
        <p:nvSpPr>
          <p:cNvPr id="306" name="Google Shape;306;g24854b049af_1_4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24854b049af_1_4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0921" y="4523799"/>
            <a:ext cx="26420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24854b049af_1_478"/>
          <p:cNvPicPr preferRelativeResize="0"/>
          <p:nvPr/>
        </p:nvPicPr>
        <p:blipFill rotWithShape="1">
          <a:blip r:embed="rId4">
            <a:alphaModFix/>
          </a:blip>
          <a:srcRect r="64988" b="66485"/>
          <a:stretch/>
        </p:blipFill>
        <p:spPr>
          <a:xfrm>
            <a:off x="143426" y="82300"/>
            <a:ext cx="2945924" cy="17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24854b049af_1_478"/>
          <p:cNvPicPr preferRelativeResize="0"/>
          <p:nvPr/>
        </p:nvPicPr>
        <p:blipFill rotWithShape="1">
          <a:blip r:embed="rId4">
            <a:alphaModFix/>
          </a:blip>
          <a:srcRect l="35009" r="32682" b="66485"/>
          <a:stretch/>
        </p:blipFill>
        <p:spPr>
          <a:xfrm>
            <a:off x="257213" y="1707800"/>
            <a:ext cx="2718351" cy="17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24854b049af_1_478"/>
          <p:cNvPicPr preferRelativeResize="0"/>
          <p:nvPr/>
        </p:nvPicPr>
        <p:blipFill rotWithShape="1">
          <a:blip r:embed="rId4">
            <a:alphaModFix/>
          </a:blip>
          <a:srcRect l="66801" b="59290"/>
          <a:stretch/>
        </p:blipFill>
        <p:spPr>
          <a:xfrm>
            <a:off x="3216044" y="1707788"/>
            <a:ext cx="2793300" cy="20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24854b049af_1_478"/>
          <p:cNvPicPr preferRelativeResize="0"/>
          <p:nvPr/>
        </p:nvPicPr>
        <p:blipFill rotWithShape="1">
          <a:blip r:embed="rId4">
            <a:alphaModFix/>
          </a:blip>
          <a:srcRect t="37404" r="64507" b="31810"/>
          <a:stretch/>
        </p:blipFill>
        <p:spPr>
          <a:xfrm>
            <a:off x="3119531" y="228675"/>
            <a:ext cx="2986326" cy="158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24854b049af_1_478"/>
          <p:cNvPicPr preferRelativeResize="0"/>
          <p:nvPr/>
        </p:nvPicPr>
        <p:blipFill rotWithShape="1">
          <a:blip r:embed="rId4">
            <a:alphaModFix/>
          </a:blip>
          <a:srcRect l="35012" t="33578" r="32679" b="30873"/>
          <a:stretch/>
        </p:blipFill>
        <p:spPr>
          <a:xfrm>
            <a:off x="6246587" y="106250"/>
            <a:ext cx="2718351" cy="182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24854b049af_1_478"/>
          <p:cNvPicPr preferRelativeResize="0"/>
          <p:nvPr/>
        </p:nvPicPr>
        <p:blipFill rotWithShape="1">
          <a:blip r:embed="rId4">
            <a:alphaModFix/>
          </a:blip>
          <a:srcRect t="71150" r="64507"/>
          <a:stretch/>
        </p:blipFill>
        <p:spPr>
          <a:xfrm>
            <a:off x="6112600" y="1936638"/>
            <a:ext cx="2986326" cy="14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24854b049af_1_4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4125" y="3639429"/>
            <a:ext cx="2136962" cy="139524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24854b049af_1_4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4854b049af_1_490"/>
          <p:cNvSpPr txBox="1"/>
          <p:nvPr/>
        </p:nvSpPr>
        <p:spPr>
          <a:xfrm>
            <a:off x="2355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Principe de détection des SVs</a:t>
            </a: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5" name="Google Shape;325;g24854b049af_1_4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pic>
        <p:nvPicPr>
          <p:cNvPr id="326" name="Google Shape;326;g24854b049af_1_490"/>
          <p:cNvPicPr preferRelativeResize="0"/>
          <p:nvPr/>
        </p:nvPicPr>
        <p:blipFill rotWithShape="1">
          <a:blip r:embed="rId3">
            <a:alphaModFix/>
          </a:blip>
          <a:srcRect t="60916" r="41314"/>
          <a:stretch/>
        </p:blipFill>
        <p:spPr>
          <a:xfrm>
            <a:off x="565275" y="3288150"/>
            <a:ext cx="3583725" cy="17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24854b049af_1_490"/>
          <p:cNvPicPr preferRelativeResize="0"/>
          <p:nvPr/>
        </p:nvPicPr>
        <p:blipFill rotWithShape="1">
          <a:blip r:embed="rId3">
            <a:alphaModFix/>
          </a:blip>
          <a:srcRect b="71693"/>
          <a:stretch/>
        </p:blipFill>
        <p:spPr>
          <a:xfrm>
            <a:off x="604225" y="776675"/>
            <a:ext cx="6106750" cy="123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24854b049af_1_490"/>
          <p:cNvPicPr preferRelativeResize="0"/>
          <p:nvPr/>
        </p:nvPicPr>
        <p:blipFill rotWithShape="1">
          <a:blip r:embed="rId3">
            <a:alphaModFix/>
          </a:blip>
          <a:srcRect t="28305" b="41764"/>
          <a:stretch/>
        </p:blipFill>
        <p:spPr>
          <a:xfrm>
            <a:off x="604225" y="2009800"/>
            <a:ext cx="6106750" cy="13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24854b049af_1_490"/>
          <p:cNvPicPr preferRelativeResize="0"/>
          <p:nvPr/>
        </p:nvPicPr>
        <p:blipFill rotWithShape="1">
          <a:blip r:embed="rId3">
            <a:alphaModFix/>
          </a:blip>
          <a:srcRect l="58129" t="60916"/>
          <a:stretch/>
        </p:blipFill>
        <p:spPr>
          <a:xfrm>
            <a:off x="4077875" y="3288150"/>
            <a:ext cx="2556901" cy="17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24854b049af_1_4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0967" y="4100217"/>
            <a:ext cx="2301224" cy="63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4854b049af_1_500"/>
          <p:cNvSpPr txBox="1"/>
          <p:nvPr/>
        </p:nvSpPr>
        <p:spPr>
          <a:xfrm>
            <a:off x="2355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Short reads ou long reads?</a:t>
            </a: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6" name="Google Shape;336;g24854b049af_1_500"/>
          <p:cNvSpPr txBox="1">
            <a:spLocks noGrp="1"/>
          </p:cNvSpPr>
          <p:nvPr>
            <p:ph type="body" idx="1"/>
          </p:nvPr>
        </p:nvSpPr>
        <p:spPr>
          <a:xfrm>
            <a:off x="379500" y="873550"/>
            <a:ext cx="8376600" cy="25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>
                <a:solidFill>
                  <a:srgbClr val="CC0000"/>
                </a:solidFill>
              </a:rPr>
              <a:t>Short reads (Illumina) : </a:t>
            </a:r>
            <a:r>
              <a:rPr lang="fr"/>
              <a:t>selon l’outil et la qualité des données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fr">
                <a:solidFill>
                  <a:schemeClr val="dk1"/>
                </a:solidFill>
              </a:rPr>
              <a:t>→ </a:t>
            </a:r>
            <a:r>
              <a:rPr lang="fr" b="1">
                <a:solidFill>
                  <a:schemeClr val="dk1"/>
                </a:solidFill>
              </a:rPr>
              <a:t>faible sensibilité</a:t>
            </a:r>
            <a:r>
              <a:rPr lang="fr">
                <a:solidFill>
                  <a:schemeClr val="dk1"/>
                </a:solidFill>
              </a:rPr>
              <a:t> : 10 à 70% des SVs détectés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>
                <a:solidFill>
                  <a:schemeClr val="dk1"/>
                </a:solidFill>
              </a:rPr>
              <a:t>→ </a:t>
            </a:r>
            <a:r>
              <a:rPr lang="fr" b="1">
                <a:solidFill>
                  <a:schemeClr val="dk1"/>
                </a:solidFill>
              </a:rPr>
              <a:t>faible précision</a:t>
            </a:r>
            <a:r>
              <a:rPr lang="fr">
                <a:solidFill>
                  <a:schemeClr val="dk1"/>
                </a:solidFill>
              </a:rPr>
              <a:t> : jusqu’à 90% de Faux Positifs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>
                <a:solidFill>
                  <a:schemeClr val="dk1"/>
                </a:solidFill>
              </a:rPr>
              <a:t>→ Difficulté à caractériser des SVs complexes (alignement imprécis dans les régions répétées et faible résolution)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">
                <a:solidFill>
                  <a:schemeClr val="dk2"/>
                </a:solidFill>
                <a:highlight>
                  <a:srgbClr val="F4CCCC"/>
                </a:highlight>
              </a:rPr>
              <a:t>/!\ Un calling consensus avec plusieurs outils de détection peut être utile avec des données short reads /!\ </a:t>
            </a:r>
            <a:endParaRPr>
              <a:solidFill>
                <a:schemeClr val="dk2"/>
              </a:solidFill>
              <a:highlight>
                <a:srgbClr val="F4CCCC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/>
          </a:p>
          <a:p>
            <a:pPr marL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"/>
              <a:t>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337" name="Google Shape;337;g24854b049af_1_500"/>
          <p:cNvSpPr txBox="1"/>
          <p:nvPr/>
        </p:nvSpPr>
        <p:spPr>
          <a:xfrm>
            <a:off x="379500" y="3402550"/>
            <a:ext cx="8376600" cy="18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Long reads (PacBio / </a:t>
            </a:r>
            <a:r>
              <a:rPr lang="fr" sz="18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Nanopore</a:t>
            </a:r>
            <a:r>
              <a:rPr lang="fr" sz="1800" b="0" i="0" u="none" strike="noStrike" cap="non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) : </a:t>
            </a: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	→ Meilleure caractérisation des altérations des régions répétées</a:t>
            </a: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→ Une faible profondeur de couverture suffit (15-30x)	</a:t>
            </a: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Sedlazeck, F. J. et al.Nat. Methods 15, 461–468 (2018).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24854b049af_1_5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4854b049af_1_611"/>
          <p:cNvSpPr txBox="1">
            <a:spLocks noGrp="1"/>
          </p:cNvSpPr>
          <p:nvPr>
            <p:ph type="body" idx="1"/>
          </p:nvPr>
        </p:nvSpPr>
        <p:spPr>
          <a:xfrm>
            <a:off x="235500" y="959200"/>
            <a:ext cx="8704800" cy="3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La détection des SVs </a:t>
            </a:r>
            <a:r>
              <a:rPr lang="fr">
                <a:solidFill>
                  <a:srgbClr val="CC0000"/>
                </a:solidFill>
              </a:rPr>
              <a:t>manque de précision</a:t>
            </a:r>
            <a:r>
              <a:rPr lang="fr"/>
              <a:t> et engendre des faux  négatifs </a:t>
            </a:r>
            <a:endParaRPr/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" b="1"/>
              <a:t>→ Nécessité de croiser différents outils / technologies</a:t>
            </a:r>
            <a:endParaRPr b="1"/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" b="1">
                <a:solidFill>
                  <a:schemeClr val="dk1"/>
                </a:solidFill>
              </a:rPr>
              <a:t>→ Nécessité de bien utiliser les métriques des outils</a:t>
            </a:r>
            <a:endParaRPr b="1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b="1">
                <a:solidFill>
                  <a:schemeClr val="dk1"/>
                </a:solidFill>
              </a:rPr>
              <a:t>→ Nécessité d’une bonne profondeur (variant hétérozygote)</a:t>
            </a:r>
            <a:endParaRPr b="1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900" b="1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fr"/>
              <a:t>Vérifier </a:t>
            </a:r>
            <a:r>
              <a:rPr lang="fr">
                <a:solidFill>
                  <a:srgbClr val="CC0000"/>
                </a:solidFill>
              </a:rPr>
              <a:t>visuellement les résultats sur IGV</a:t>
            </a:r>
            <a:r>
              <a:rPr lang="fr"/>
              <a:t> permet d’augmenter la confiance dans les SVs détectés</a:t>
            </a:r>
            <a:endParaRPr/>
          </a:p>
        </p:txBody>
      </p:sp>
      <p:sp>
        <p:nvSpPr>
          <p:cNvPr id="344" name="Google Shape;344;g24854b049af_1_611"/>
          <p:cNvSpPr txBox="1"/>
          <p:nvPr/>
        </p:nvSpPr>
        <p:spPr>
          <a:xfrm>
            <a:off x="311700" y="12777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5" name="Google Shape;345;g24854b049af_1_6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4854b049af_1_558"/>
          <p:cNvSpPr txBox="1">
            <a:spLocks noGrp="1"/>
          </p:cNvSpPr>
          <p:nvPr>
            <p:ph type="body" idx="1"/>
          </p:nvPr>
        </p:nvSpPr>
        <p:spPr>
          <a:xfrm>
            <a:off x="371625" y="905575"/>
            <a:ext cx="8460600" cy="27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b="1">
                <a:solidFill>
                  <a:srgbClr val="4A86E8"/>
                </a:solidFill>
              </a:rPr>
              <a:t>Zymoseptoria tritici </a:t>
            </a:r>
            <a:r>
              <a:rPr lang="fr"/>
              <a:t>: Champignon ascomycète, pathogène du blé tendre, responsable d’une maladie foliaire (septoriose).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Principale maladie du blé (jusqu’à 50% de perte de rendement).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Haploïde, génome de 40 Mb séquencé en 2011 : 13 chromosomes essentiels + 8 chromosomes accessoires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Souche séquencée avec </a:t>
            </a:r>
            <a:r>
              <a:rPr lang="fr" b="1"/>
              <a:t>deux technologies : Illumina et Nanopore 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351" name="Google Shape;351;g24854b049af_1_5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7200" y="3532650"/>
            <a:ext cx="2176800" cy="161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24854b049af_1_558"/>
          <p:cNvSpPr txBox="1"/>
          <p:nvPr/>
        </p:nvSpPr>
        <p:spPr>
          <a:xfrm>
            <a:off x="140775" y="3746700"/>
            <a:ext cx="7097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1" i="0" u="none" strike="noStrike" cap="none">
                <a:solidFill>
                  <a:srgbClr val="4A86E8"/>
                </a:solidFill>
                <a:latin typeface="Trebuchet MS"/>
                <a:ea typeface="Trebuchet MS"/>
                <a:cs typeface="Trebuchet MS"/>
                <a:sym typeface="Trebuchet MS"/>
              </a:rPr>
              <a:t>Your turn ! </a:t>
            </a:r>
            <a:endParaRPr sz="1800" b="1" i="0" u="none" strike="noStrike" cap="none">
              <a:solidFill>
                <a:srgbClr val="4A86E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1" i="0" u="none" strike="noStrike" cap="none">
                <a:solidFill>
                  <a:srgbClr val="4A86E8"/>
                </a:solidFill>
                <a:latin typeface="Trebuchet MS"/>
                <a:ea typeface="Trebuchet MS"/>
                <a:cs typeface="Trebuchet MS"/>
                <a:sym typeface="Trebuchet MS"/>
              </a:rPr>
              <a:t>Retrouvez les délétions de grande taille </a:t>
            </a:r>
            <a:endParaRPr sz="1800" b="1" i="0" u="none" strike="noStrike" cap="none">
              <a:solidFill>
                <a:srgbClr val="4A86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3" name="Google Shape;353;g24854b049af_1_558"/>
          <p:cNvSpPr txBox="1"/>
          <p:nvPr/>
        </p:nvSpPr>
        <p:spPr>
          <a:xfrm>
            <a:off x="3117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Jeux de données #2 : SVs</a:t>
            </a: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4" name="Google Shape;354;g24854b049af_1_5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4854b049af_1_552"/>
          <p:cNvSpPr txBox="1">
            <a:spLocks noGrp="1"/>
          </p:cNvSpPr>
          <p:nvPr>
            <p:ph type="body" idx="1"/>
          </p:nvPr>
        </p:nvSpPr>
        <p:spPr>
          <a:xfrm>
            <a:off x="280350" y="950575"/>
            <a:ext cx="8735700" cy="3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b="1" u="sng"/>
              <a:t>Data</a:t>
            </a:r>
            <a:r>
              <a:rPr lang="fr"/>
              <a:t> : souche de  </a:t>
            </a:r>
            <a:r>
              <a:rPr lang="fr" i="1"/>
              <a:t>Zymoseptoria tritici</a:t>
            </a:r>
            <a:r>
              <a:rPr lang="fr"/>
              <a:t> séquencées</a:t>
            </a:r>
            <a:r>
              <a:rPr lang="fr">
                <a:solidFill>
                  <a:srgbClr val="CC0000"/>
                </a:solidFill>
              </a:rPr>
              <a:t> à la fois en Illumina et en Nanopore.</a:t>
            </a:r>
            <a:endParaRPr>
              <a:solidFill>
                <a:srgbClr val="CC0000"/>
              </a:solidFill>
            </a:endParaRPr>
          </a:p>
          <a:p>
            <a:pPr marL="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→ chaque set de reads a été aligné sur le génome de référence avec les outils dédiés </a:t>
            </a:r>
            <a:endParaRPr/>
          </a:p>
          <a:p>
            <a:pPr marL="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→ les données ont été réduites aux premiers 500kb du chr10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fr" b="1" u="sng"/>
              <a:t>Tools</a:t>
            </a:r>
            <a:r>
              <a:rPr lang="fr"/>
              <a:t> :</a:t>
            </a:r>
            <a:endParaRPr sz="1200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fr" b="1"/>
              <a:t>Delly</a:t>
            </a:r>
            <a:r>
              <a:rPr lang="fr"/>
              <a:t> </a:t>
            </a:r>
            <a:r>
              <a:rPr lang="fr" sz="1200" i="1"/>
              <a:t>(Bioinformatics, Volume 28, Issue 18, 15 September 2012, Pages i333–i339, </a:t>
            </a:r>
            <a:r>
              <a:rPr lang="fr" sz="1200" i="1" u="sng">
                <a:solidFill>
                  <a:schemeClr val="hlink"/>
                </a:solidFill>
                <a:hlinkClick r:id="rId3"/>
              </a:rPr>
              <a:t>https://doi.org/10.1093/bioinformatics/bts378</a:t>
            </a:r>
            <a:r>
              <a:rPr lang="fr" sz="1200" i="1"/>
              <a:t>)</a:t>
            </a:r>
            <a:endParaRPr sz="1200" i="1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fr" b="1"/>
              <a:t>Sniffles</a:t>
            </a:r>
            <a:r>
              <a:rPr lang="fr"/>
              <a:t> </a:t>
            </a:r>
            <a:r>
              <a:rPr lang="fr" sz="1200" i="1">
                <a:solidFill>
                  <a:schemeClr val="dk1"/>
                </a:solidFill>
              </a:rPr>
              <a:t>(Nature Methods volume 15, pages 461–468 (2018) , </a:t>
            </a:r>
            <a:r>
              <a:rPr lang="fr" sz="1200" i="1" u="sng">
                <a:solidFill>
                  <a:schemeClr val="hlink"/>
                </a:solidFill>
                <a:hlinkClick r:id="rId4"/>
              </a:rPr>
              <a:t>https://www.nature.com/articles/s41592-018-0001-7</a:t>
            </a:r>
            <a:r>
              <a:rPr lang="fr" sz="1200" i="1">
                <a:solidFill>
                  <a:schemeClr val="dk1"/>
                </a:solidFill>
              </a:rPr>
              <a:t>) </a:t>
            </a:r>
            <a:r>
              <a:rPr lang="fr" sz="1200">
                <a:solidFill>
                  <a:schemeClr val="dk1"/>
                </a:solidFill>
              </a:rPr>
              <a:t>with </a:t>
            </a:r>
            <a:r>
              <a:rPr lang="fr" sz="1200" b="1">
                <a:solidFill>
                  <a:schemeClr val="dk1"/>
                </a:solidFill>
              </a:rPr>
              <a:t>NGMLR</a:t>
            </a:r>
            <a:r>
              <a:rPr lang="fr" sz="1200">
                <a:solidFill>
                  <a:schemeClr val="dk1"/>
                </a:solidFill>
              </a:rPr>
              <a:t> mapping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200" i="1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br>
              <a:rPr lang="fr" sz="1200"/>
            </a:b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</p:txBody>
      </p:sp>
      <p:sp>
        <p:nvSpPr>
          <p:cNvPr id="360" name="Google Shape;360;g24854b049af_1_552"/>
          <p:cNvSpPr txBox="1"/>
          <p:nvPr/>
        </p:nvSpPr>
        <p:spPr>
          <a:xfrm>
            <a:off x="2355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Partie TP</a:t>
            </a: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1" name="Google Shape;361;g24854b049af_1_5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4854b049af_1_66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26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1- Se connecter sur Rstudio via JupyterLab </a:t>
            </a:r>
            <a:endParaRPr sz="16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2- Copier le matériel de TP dans le dir TP_variants</a:t>
            </a:r>
            <a:endParaRPr sz="16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4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&gt; file.copy(from = “/shared/projects/2315_ebaii_2/DNAseq/TP_structural_variants”, </a:t>
            </a:r>
            <a:endParaRPr sz="14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4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    to   = “~/”, recursive=TRUE)</a:t>
            </a:r>
            <a:endParaRPr sz="14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6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2- Positionner l’espace du travail</a:t>
            </a:r>
            <a:endParaRPr sz="16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4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&gt; setwd(“~/TP_R”)</a:t>
            </a:r>
            <a:endParaRPr sz="14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5- Changer le workspace sur l’interface RStudio.</a:t>
            </a:r>
            <a:endParaRPr sz="16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g24854b049af_1_662"/>
          <p:cNvSpPr txBox="1"/>
          <p:nvPr/>
        </p:nvSpPr>
        <p:spPr>
          <a:xfrm>
            <a:off x="235500" y="12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2800" b="0" i="0" u="none" strike="noStrike" cap="non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Préparation des données </a:t>
            </a:r>
            <a:endParaRPr sz="2800" b="0" i="0" u="none" strike="noStrike" cap="none">
              <a:solidFill>
                <a:srgbClr val="3D85C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8" name="Google Shape;368;g24854b049af_1_662"/>
          <p:cNvSpPr/>
          <p:nvPr/>
        </p:nvSpPr>
        <p:spPr>
          <a:xfrm flipH="1">
            <a:off x="8154825" y="4152825"/>
            <a:ext cx="798600" cy="552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A86E8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RMD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2002</Words>
  <Application>Microsoft Macintosh PowerPoint</Application>
  <PresentationFormat>Affichage à l'écran (16:9)</PresentationFormat>
  <Paragraphs>282</Paragraphs>
  <Slides>24</Slides>
  <Notes>24</Notes>
  <HiddenSlides>11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Consolas</vt:lpstr>
      <vt:lpstr>Courier New</vt:lpstr>
      <vt:lpstr>Trebuchet MS</vt:lpstr>
      <vt:lpstr>Simple Light</vt:lpstr>
      <vt:lpstr>Simple Light</vt:lpstr>
      <vt:lpstr>Atelier Variant niveau 2</vt:lpstr>
      <vt:lpstr>Présentation PowerPoint</vt:lpstr>
      <vt:lpstr>du Fastq aux VCFs (ebaiin1)</vt:lpstr>
      <vt:lpstr>Présentation PowerPoint</vt:lpstr>
      <vt:lpstr>Présentation PowerPoint</vt:lpstr>
      <vt:lpstr> du VCFs aux marqueurs (ebaiin2)</vt:lpstr>
      <vt:lpstr>Rappel : Filtre des variants</vt:lpstr>
      <vt:lpstr>Rappel : Faux positif</vt:lpstr>
      <vt:lpstr>Rappel :  Faux positifs vs Filtres qualité</vt:lpstr>
      <vt:lpstr> du VCFs aux marqueurs (ebaiin2)</vt:lpstr>
      <vt:lpstr>Présentation PowerPoint</vt:lpstr>
      <vt:lpstr>Présentation PowerPoint</vt:lpstr>
      <vt:lpstr>Présentation PowerPoint</vt:lpstr>
      <vt:lpstr>Petites Variations Génomiques</vt:lpstr>
      <vt:lpstr>Présentation PowerPoint</vt:lpstr>
      <vt:lpstr>Présentation PowerPoint</vt:lpstr>
      <vt:lpstr>Variations Structurales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nbentahar</cp:lastModifiedBy>
  <cp:revision>9</cp:revision>
  <dcterms:modified xsi:type="dcterms:W3CDTF">2025-06-02T16:07:42Z</dcterms:modified>
</cp:coreProperties>
</file>